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284ba8c-b078-e9ae-e283-814a4075789b}">
          <p14:sldIdLst>
            <p14:sldId id="256"/>
            <p14:sldId id="257"/>
          </p14:sldIdLst>
        </p14:section>
        <p14:section name="SIWES &amp; HiiT Plc" id="{ca97e450-6963-4216-4497-bff391be4371}">
          <p14:sldIdLst>
            <p14:sldId id="258"/>
            <p14:sldId id="259"/>
          </p14:sldIdLst>
        </p14:section>
        <p14:section name="Mini Project" id="{a557f914-6925-e540-d73c-45e92a1c286b}">
          <p14:sldIdLst>
            <p14:sldId id="260"/>
            <p14:sldId id="261"/>
            <p14:sldId id="262"/>
            <p14:sldId id="263"/>
            <p14:sldId id="264"/>
          </p14:sldIdLst>
        </p14:section>
        <p14:section name="Testing &amp; Evidence" id="{f1a8ce13-d3d2-ab76-4929-49a095df8926}">
          <p14:sldIdLst>
            <p14:sldId id="265"/>
            <p14:sldId id="266"/>
            <p14:sldId id="267"/>
            <p14:sldId id="268"/>
          </p14:sldIdLst>
        </p14:section>
        <p14:section name="Conclusion" id="{55b6c9a6-e62c-251f-3a81-aa7222238d30}">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SIWES, and the host organisation, HiiT Plc. One sentence on the mini project: a system that spots a Trojan Horse on IoT devices such as cameras by watching their network traffic,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compressed into fifteen slides: the scheme, company and skills together; the project itself; a live demo; test evidence with real screenshots; results;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SIWES began in 1973 so graduates meet real working conditions before leaving university. HiiT Plc, the host, is an indigenous Nigerian IT company: CPN-registered, centres in four cities, over 60,000 graduates, working in training, software, consultancy and publishing. Confirm the founding year and head office from the company profile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highlighted placement details. Six skill areas were built while making the mini project: flow analysis, IoT security concepts, containers plus a Windows fallback, Python and Flask, testing with version control, and technical documentation generated straight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problems drove the design: cameras cannot host security software, signatures lag behind new malware, legitimate camera traffic is itself periodic so naive rules misfire, and testing must be safe. The aim, and four key objectives, answer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flow CSV is parsed, compared with an optional per-device baseline, then scored -- findings carry severity and MITRE ATT&amp;CK, each device gets a 0-100 score. Everything runs in containers on an internal network with no route out; the lab is harmless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newest addition: a camera called cam-vault that starts already infected. Instead of just a score on a dashboard, its video feed itself glitches and overlays the virus's real fake activity. Also recently added: the whole lab now runs on Windows with one command, the cameras stream real-looking live video, and the detector is ready to be hosted online for a demo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eight rule families shown, each tied to a MITRE ATT&amp;CK technique. Each finding adds a weight toward a 0-100 score: under 10 clean, 10-49 suspicious, 50+ compromised. Beaconing only counts for peers outside the device baseline, which is why the clean capture scores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if possible: load the infected sample. Point to the summary tiles, status pill, risk score and the Quarantine button. Every finding also carries its evidence and ATT&amp;CK technique, and the same page works on a phone for on-call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just-captured pytest run, not a mock-up -- every one of the 24 tests is listed here, not a sample, and all 24 pass. It covers the detection engine's rules, the web API, the Windows-compatible flow logger, and the live camera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positive cases, each a real screenshot of the running app: the infected sample is caught and scored; the Quarantine button actually removes the simulator's persistence files; and the live lab capture is read correctly while the lab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negative cases: a malformed CSV is rejected with a readable error instead of crashing, and the clean traffic sample -- which is just as regular as the infected one -- produces zero false alarms, because of the baseline logic shown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tests pass. The infected capture produces 22 findings, all on cam-garage, which scores 100. The clean capture is just as regular but produces no findings -- evidence that the baseline avoids false positives.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system works on the samples, the lab makes it demonstrable and now visible, and I gained real practical skills -- alongside honest limits (heuristic rules, no login screen yet, Docker layer untested end to end). Recommendations: HiiT should give interns written task schedules and reviewers; the university should bring security and DevOps content earlier; the ITF should pay allowances promptly and monitor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Likely ones: why not signatures, how false positives are avoided (the baseline), and whether the trojan is real (no -- it is a harmless simulator on an isolated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640080" y="1005840"/>
            <a:ext cx="539496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ph idx="102" type="body" hasCustomPrompt="1"/>
          </p:nvPr>
        </p:nvSpPr>
        <p:spPr>
          <a:xfrm>
            <a:off x="640080" y="2880360"/>
            <a:ext cx="5394960" cy="822960"/>
          </a:xfrm>
          <a:prstGeom prst="rect">
            <a:avLst/>
          </a:prstGeom>
          <a:noFill/>
          <a:ln/>
        </p:spPr>
        <p:txBody>
          <a:bodyPr wrap="square" rtlCol="0"/>
          <a:lstStyle>
            <a:lvl1pPr algn="l" indent="0" marL="0">
              <a:buNone/>
              <a:defRPr lang="en-US" sz="1700" dirty="0">
                <a:solidFill>
                  <a:schemeClr val="bg2"/>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50" dirty="0">
                <a:solidFill>
                  <a:schemeClr val="accent6"/>
                </a:solidFill>
              </a:rPr>
              <a:t>SIWES Report  |  HiiT Plc  |  IoT Trojan Detector</a:t>
            </a:r>
            <a:endParaRPr lang="en-US" sz="9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chemeClr val="tx1"/>
          </a:solidFill>
          <a:ln/>
        </p:spPr>
      </p:sp>
      <p:sp>
        <p:nvSpPr>
          <p:cNvPr id="3" name="Text 1"/>
          <p:cNvSpPr/>
          <p:nvPr>
            <p:ph idx="101"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1"/>
          <p:cNvSpPr/>
          <p:nvPr/>
        </p:nvSpPr>
        <p:spPr>
          <a:xfrm>
            <a:off x="457200" y="4754880"/>
            <a:ext cx="5486400" cy="228600"/>
          </a:xfrm>
          <a:prstGeom prst="rect">
            <a:avLst/>
          </a:prstGeom>
          <a:noFill/>
          <a:ln/>
        </p:spPr>
        <p:txBody>
          <a:bodyPr wrap="square" lIns="0" tIns="0" rIns="0" bIns="0" rtlCol="0" anchor="ctr"/>
          <a:lstStyle/>
          <a:p>
            <a:pPr indent="0" marL="0">
              <a:buNone/>
            </a:pPr>
            <a:r>
              <a:rPr lang="en-US" sz="950" dirty="0">
                <a:solidFill>
                  <a:schemeClr val="accent6"/>
                </a:solidFill>
              </a:rPr>
              <a:t>SIWES Report  |  HiiT Plc  |  IoT Trojan Detector</a:t>
            </a:r>
            <a:endParaRPr lang="en-US" sz="9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40080" y="1005840"/>
            <a:ext cx="5394960" cy="1737360"/>
          </a:xfrm>
          <a:prstGeom prst="rect">
            <a:avLst/>
          </a:prstGeom>
          <a:noFill/>
          <a:ln/>
        </p:spPr>
        <p:txBody>
          <a:bodyPr wrap="square" lIns="0" tIns="0" rIns="0" bIns="0" rtlCol="0" anchor="b"/>
          <a:lstStyle/>
          <a:p>
            <a:pPr algn="l" indent="0" marL="0">
              <a:buNone/>
            </a:pPr>
            <a:r>
              <a:rPr lang="en-US" sz="3600" b="1" dirty="0">
                <a:solidFill>
                  <a:schemeClr val="bg1"/>
                </a:solidFill>
              </a:rPr>
              <a:t>SIWES Report: Experience at HiiT Plc</a:t>
            </a:r>
            <a:endParaRPr lang="en-US" sz="3600" dirty="0"/>
          </a:p>
        </p:txBody>
      </p:sp>
      <p:sp>
        <p:nvSpPr>
          <p:cNvPr id="3" name="Text 1"/>
          <p:cNvSpPr/>
          <p:nvPr>
            <p:ph idx="102" type="body" hasCustomPrompt="1"/>
          </p:nvPr>
        </p:nvSpPr>
        <p:spPr>
          <a:xfrm>
            <a:off x="640080" y="2880360"/>
            <a:ext cx="5394960" cy="822960"/>
          </a:xfrm>
          <a:prstGeom prst="rect">
            <a:avLst/>
          </a:prstGeom>
          <a:noFill/>
          <a:ln/>
        </p:spPr>
        <p:txBody>
          <a:bodyPr wrap="square" lIns="0" tIns="0" rIns="0" bIns="0" rtlCol="0" anchor="t"/>
          <a:lstStyle/>
          <a:p>
            <a:pPr algn="l" indent="0" marL="0">
              <a:buNone/>
            </a:pPr>
            <a:r>
              <a:rPr lang="en-US" sz="1700" dirty="0">
                <a:solidFill>
                  <a:schemeClr val="bg2"/>
                </a:solidFill>
              </a:rPr>
              <a:t>Mini project: a network-flow-based Trojan Horse detection system for IoT devices</a:t>
            </a:r>
            <a:endParaRPr lang="en-US" sz="1700" dirty="0"/>
          </a:p>
        </p:txBody>
      </p:sp>
      <p:sp>
        <p:nvSpPr>
          <p:cNvPr id="4" name="Presenter details"/>
          <p:cNvSpPr txBox="1"/>
          <p:nvPr/>
        </p:nvSpPr>
        <p:spPr>
          <a:xfrm>
            <a:off x="640080" y="3977640"/>
            <a:ext cx="6858000" cy="731520"/>
          </a:xfrm>
          <a:prstGeom prst="rect">
            <a:avLst/>
          </a:prstGeom>
          <a:noFill/>
          <a:ln/>
        </p:spPr>
        <p:txBody>
          <a:bodyPr wrap="square" lIns="0" tIns="0" rIns="0" bIns="0" rtlCol="0" anchor="t"/>
          <a:lstStyle/>
          <a:p>
            <a:pPr indent="0" marL="0">
              <a:buNone/>
            </a:pPr>
            <a:r>
              <a:rPr lang="en-US" sz="1300" dirty="0">
                <a:solidFill>
                  <a:srgbClr val="0B1F33"/>
                </a:solidFill>
                <a:highlight>
                  <a:srgbClr val="FFFF00"/>
                </a:highlight>
              </a:rPr>
              <a:t>[Your name]</a:t>
            </a:r>
            <a:pPr indent="0" marL="0">
              <a:buNone/>
            </a:pPr>
            <a:r>
              <a:rPr lang="en-US" sz="1300" dirty="0">
                <a:solidFill>
                  <a:schemeClr val="bg2"/>
                </a:solidFill>
              </a:rPr>
              <a:t>   </a:t>
            </a:r>
            <a:pPr indent="0" marL="0">
              <a:buNone/>
            </a:pPr>
            <a:r>
              <a:rPr lang="en-US" sz="1300" dirty="0">
                <a:solidFill>
                  <a:srgbClr val="0B1F33"/>
                </a:solidFill>
                <a:highlight>
                  <a:srgbClr val="FFFF00"/>
                </a:highlight>
              </a:rPr>
              <a:t>[Reg. No.]</a:t>
            </a:r>
            <a:pPr indent="0" marL="0">
              <a:buNone/>
            </a:pPr>
            <a:endParaRPr lang="en-US" sz="1300" dirty="0"/>
          </a:p>
          <a:p>
            <a:pPr indent="0" marL="0">
              <a:buNone/>
            </a:pPr>
            <a:r>
              <a:rPr lang="en-US" sz="1300" dirty="0">
                <a:solidFill>
                  <a:schemeClr val="bg2"/>
                </a:solidFill>
              </a:rPr>
              <a:t>Department of Computer Science, University of Uyo</a:t>
            </a:r>
            <a:endParaRPr lang="en-US" sz="1300" dirty="0"/>
          </a:p>
          <a:p>
            <a:pPr indent="0" marL="0">
              <a:buNone/>
            </a:pPr>
            <a:r>
              <a:rPr lang="en-US" sz="1300" dirty="0">
                <a:solidFill>
                  <a:srgbClr val="0B1F33"/>
                </a:solidFill>
                <a:highlight>
                  <a:srgbClr val="FFFF00"/>
                </a:highlight>
              </a:rPr>
              <a:t>[Month, Year]</a:t>
            </a:r>
            <a:endParaRPr lang="en-US" sz="1300" dirty="0"/>
          </a:p>
        </p:txBody>
      </p:sp>
      <p:sp>
        <p:nvSpPr>
          <p:cNvPr id="5" name="Shape 3"/>
          <p:cNvSpPr/>
          <p:nvPr/>
        </p:nvSpPr>
        <p:spPr>
          <a:xfrm>
            <a:off x="6400800" y="1280160"/>
            <a:ext cx="2103120" cy="2103120"/>
          </a:xfrm>
          <a:prstGeom prst="ellipse">
            <a:avLst/>
          </a:prstGeom>
          <a:solidFill>
            <a:schemeClr val="accent1"/>
          </a:solidFill>
          <a:ln w="12700">
            <a:solidFill>
              <a:schemeClr val="accent1"/>
            </a:solidFill>
            <a:prstDash val="solid"/>
          </a:ln>
        </p:spPr>
      </p:sp>
      <p:pic>
        <p:nvPicPr>
          <p:cNvPr id="6" name="Image 0" descr="Shield icon">    </p:cNvPr>
          <p:cNvPicPr>
            <a:picLocks noChangeAspect="1"/>
          </p:cNvPicPr>
          <p:nvPr/>
        </p:nvPicPr>
        <p:blipFill>
          <a:blip r:embed="rId1"/>
          <a:stretch>
            <a:fillRect/>
          </a:stretch>
        </p:blipFill>
        <p:spPr>
          <a:xfrm>
            <a:off x="6949440" y="1828800"/>
            <a:ext cx="1005840" cy="1005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What this presentation covers</a:t>
            </a:r>
            <a:endParaRPr lang="en-US" sz="2800" dirty="0"/>
          </a:p>
        </p:txBody>
      </p:sp>
      <p:sp>
        <p:nvSpPr>
          <p:cNvPr id="3" name="Agenda card 1"/>
          <p:cNvSpPr/>
          <p:nvPr/>
        </p:nvSpPr>
        <p:spPr>
          <a:xfrm>
            <a:off x="457200" y="1371600"/>
            <a:ext cx="2560320" cy="1371600"/>
          </a:xfrm>
          <a:prstGeom prst="rect">
            <a:avLst/>
          </a:prstGeom>
          <a:solidFill>
            <a:schemeClr val="bg2"/>
          </a:solidFill>
          <a:ln w="12700">
            <a:solidFill>
              <a:schemeClr val="bg2"/>
            </a:solidFill>
            <a:prstDash val="solid"/>
          </a:ln>
        </p:spPr>
      </p:sp>
      <p:sp>
        <p:nvSpPr>
          <p:cNvPr id="4" name="Shape 2"/>
          <p:cNvSpPr/>
          <p:nvPr/>
        </p:nvSpPr>
        <p:spPr>
          <a:xfrm>
            <a:off x="640080" y="155448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5544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SIWES, HiiT &amp; my placement</a:t>
            </a:r>
            <a:endParaRPr lang="en-US" sz="1500" dirty="0"/>
          </a:p>
        </p:txBody>
      </p:sp>
      <p:sp>
        <p:nvSpPr>
          <p:cNvPr id="7" name="Text 5"/>
          <p:cNvSpPr txBox="1"/>
          <p:nvPr/>
        </p:nvSpPr>
        <p:spPr>
          <a:xfrm>
            <a:off x="640080" y="2148840"/>
            <a:ext cx="2194560" cy="502920"/>
          </a:xfrm>
          <a:prstGeom prst="rect">
            <a:avLst/>
          </a:prstGeom>
          <a:noFill/>
          <a:ln/>
        </p:spPr>
        <p:txBody>
          <a:bodyPr wrap="square" lIns="0" tIns="0" rIns="0" bIns="0" rtlCol="0" anchor="t"/>
          <a:lstStyle/>
          <a:p>
            <a:pPr indent="0" marL="0">
              <a:buNone/>
            </a:pPr>
            <a:r>
              <a:rPr lang="en-US" sz="1300" dirty="0">
                <a:solidFill>
                  <a:schemeClr val="tx2"/>
                </a:solidFill>
              </a:rPr>
              <a:t>The scheme, the company, skills acquired</a:t>
            </a:r>
            <a:endParaRPr lang="en-US" sz="1300" dirty="0"/>
          </a:p>
        </p:txBody>
      </p:sp>
      <p:sp>
        <p:nvSpPr>
          <p:cNvPr id="8" name="Agenda card 2"/>
          <p:cNvSpPr/>
          <p:nvPr/>
        </p:nvSpPr>
        <p:spPr>
          <a:xfrm>
            <a:off x="3291840" y="1371600"/>
            <a:ext cx="2560320" cy="1371600"/>
          </a:xfrm>
          <a:prstGeom prst="rect">
            <a:avLst/>
          </a:prstGeom>
          <a:solidFill>
            <a:schemeClr val="bg2"/>
          </a:solidFill>
          <a:ln w="12700">
            <a:solidFill>
              <a:schemeClr val="bg2"/>
            </a:solidFill>
            <a:prstDash val="solid"/>
          </a:ln>
        </p:spPr>
      </p:sp>
      <p:sp>
        <p:nvSpPr>
          <p:cNvPr id="9" name="Shape 7"/>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4069080" y="15544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The mini project</a:t>
            </a:r>
            <a:endParaRPr lang="en-US" sz="1500" dirty="0"/>
          </a:p>
        </p:txBody>
      </p:sp>
      <p:sp>
        <p:nvSpPr>
          <p:cNvPr id="12" name="Text 10"/>
          <p:cNvSpPr txBox="1"/>
          <p:nvPr/>
        </p:nvSpPr>
        <p:spPr>
          <a:xfrm>
            <a:off x="3474720" y="2148840"/>
            <a:ext cx="2194560" cy="502920"/>
          </a:xfrm>
          <a:prstGeom prst="rect">
            <a:avLst/>
          </a:prstGeom>
          <a:noFill/>
          <a:ln/>
        </p:spPr>
        <p:txBody>
          <a:bodyPr wrap="square" lIns="0" tIns="0" rIns="0" bIns="0" rtlCol="0" anchor="t"/>
          <a:lstStyle/>
          <a:p>
            <a:pPr indent="0" marL="0">
              <a:buNone/>
            </a:pPr>
            <a:r>
              <a:rPr lang="en-US" sz="1300" dirty="0">
                <a:solidFill>
                  <a:schemeClr val="tx2"/>
                </a:solidFill>
              </a:rPr>
              <a:t>Problem, aim and how it works</a:t>
            </a:r>
            <a:endParaRPr lang="en-US" sz="1300" dirty="0"/>
          </a:p>
        </p:txBody>
      </p:sp>
      <p:sp>
        <p:nvSpPr>
          <p:cNvPr id="13" name="Agenda card 3"/>
          <p:cNvSpPr/>
          <p:nvPr/>
        </p:nvSpPr>
        <p:spPr>
          <a:xfrm>
            <a:off x="6126480" y="1371600"/>
            <a:ext cx="2560320" cy="1371600"/>
          </a:xfrm>
          <a:prstGeom prst="rect">
            <a:avLst/>
          </a:prstGeom>
          <a:solidFill>
            <a:schemeClr val="bg2"/>
          </a:solidFill>
          <a:ln w="12700">
            <a:solidFill>
              <a:schemeClr val="bg2"/>
            </a:solidFill>
            <a:prstDash val="solid"/>
          </a:ln>
        </p:spPr>
      </p:sp>
      <p:sp>
        <p:nvSpPr>
          <p:cNvPr id="14" name="Shape 12"/>
          <p:cNvSpPr/>
          <p:nvPr/>
        </p:nvSpPr>
        <p:spPr>
          <a:xfrm>
            <a:off x="6309360" y="15544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6903720" y="15544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Live demonstration</a:t>
            </a:r>
            <a:endParaRPr lang="en-US" sz="1500" dirty="0"/>
          </a:p>
        </p:txBody>
      </p:sp>
      <p:sp>
        <p:nvSpPr>
          <p:cNvPr id="17" name="Text 15"/>
          <p:cNvSpPr txBox="1"/>
          <p:nvPr/>
        </p:nvSpPr>
        <p:spPr>
          <a:xfrm>
            <a:off x="6309360" y="2148840"/>
            <a:ext cx="2194560" cy="502920"/>
          </a:xfrm>
          <a:prstGeom prst="rect">
            <a:avLst/>
          </a:prstGeom>
          <a:noFill/>
          <a:ln/>
        </p:spPr>
        <p:txBody>
          <a:bodyPr wrap="square" lIns="0" tIns="0" rIns="0" bIns="0" rtlCol="0" anchor="t"/>
          <a:lstStyle/>
          <a:p>
            <a:pPr indent="0" marL="0">
              <a:buNone/>
            </a:pPr>
            <a:r>
              <a:rPr lang="en-US" sz="1300" dirty="0">
                <a:solidFill>
                  <a:schemeClr val="tx2"/>
                </a:solidFill>
              </a:rPr>
              <a:t>The lab and an infection you can watch</a:t>
            </a:r>
            <a:endParaRPr lang="en-US" sz="1300" dirty="0"/>
          </a:p>
        </p:txBody>
      </p:sp>
      <p:sp>
        <p:nvSpPr>
          <p:cNvPr id="18" name="Agenda card 4"/>
          <p:cNvSpPr/>
          <p:nvPr/>
        </p:nvSpPr>
        <p:spPr>
          <a:xfrm>
            <a:off x="457200" y="2971800"/>
            <a:ext cx="2560320" cy="1371600"/>
          </a:xfrm>
          <a:prstGeom prst="rect">
            <a:avLst/>
          </a:prstGeom>
          <a:solidFill>
            <a:schemeClr val="bg2"/>
          </a:solidFill>
          <a:ln w="12700">
            <a:solidFill>
              <a:schemeClr val="bg2"/>
            </a:solidFill>
            <a:prstDash val="solid"/>
          </a:ln>
        </p:spPr>
      </p:sp>
      <p:sp>
        <p:nvSpPr>
          <p:cNvPr id="19" name="Shape 17"/>
          <p:cNvSpPr/>
          <p:nvPr/>
        </p:nvSpPr>
        <p:spPr>
          <a:xfrm>
            <a:off x="640080" y="31546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234440" y="31546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Testing and evidence</a:t>
            </a:r>
            <a:endParaRPr lang="en-US" sz="1500" dirty="0"/>
          </a:p>
        </p:txBody>
      </p:sp>
      <p:sp>
        <p:nvSpPr>
          <p:cNvPr id="22" name="Text 20"/>
          <p:cNvSpPr txBox="1"/>
          <p:nvPr/>
        </p:nvSpPr>
        <p:spPr>
          <a:xfrm>
            <a:off x="640080" y="3749040"/>
            <a:ext cx="2194560" cy="502920"/>
          </a:xfrm>
          <a:prstGeom prst="rect">
            <a:avLst/>
          </a:prstGeom>
          <a:noFill/>
          <a:ln/>
        </p:spPr>
        <p:txBody>
          <a:bodyPr wrap="square" lIns="0" tIns="0" rIns="0" bIns="0" rtlCol="0" anchor="t"/>
          <a:lstStyle/>
          <a:p>
            <a:pPr indent="0" marL="0">
              <a:buNone/>
            </a:pPr>
            <a:r>
              <a:rPr lang="en-US" sz="1300" dirty="0">
                <a:solidFill>
                  <a:schemeClr val="tx2"/>
                </a:solidFill>
              </a:rPr>
              <a:t>Automated, positive and negative test results</a:t>
            </a:r>
            <a:endParaRPr lang="en-US" sz="1300" dirty="0"/>
          </a:p>
        </p:txBody>
      </p:sp>
      <p:sp>
        <p:nvSpPr>
          <p:cNvPr id="23" name="Agenda card 5"/>
          <p:cNvSpPr/>
          <p:nvPr/>
        </p:nvSpPr>
        <p:spPr>
          <a:xfrm>
            <a:off x="3291840" y="2971800"/>
            <a:ext cx="2560320" cy="1371600"/>
          </a:xfrm>
          <a:prstGeom prst="rect">
            <a:avLst/>
          </a:prstGeom>
          <a:solidFill>
            <a:schemeClr val="bg2"/>
          </a:solidFill>
          <a:ln w="12700">
            <a:solidFill>
              <a:schemeClr val="bg2"/>
            </a:solidFill>
            <a:prstDash val="solid"/>
          </a:ln>
        </p:spPr>
      </p:sp>
      <p:sp>
        <p:nvSpPr>
          <p:cNvPr id="24" name="Shape 22"/>
          <p:cNvSpPr/>
          <p:nvPr/>
        </p:nvSpPr>
        <p:spPr>
          <a:xfrm>
            <a:off x="3474720" y="3154680"/>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347472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4069080" y="31546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Results</a:t>
            </a:r>
            <a:endParaRPr lang="en-US" sz="1500" dirty="0"/>
          </a:p>
        </p:txBody>
      </p:sp>
      <p:sp>
        <p:nvSpPr>
          <p:cNvPr id="27" name="Text 25"/>
          <p:cNvSpPr txBox="1"/>
          <p:nvPr/>
        </p:nvSpPr>
        <p:spPr>
          <a:xfrm>
            <a:off x="3474720" y="3749040"/>
            <a:ext cx="2194560" cy="502920"/>
          </a:xfrm>
          <a:prstGeom prst="rect">
            <a:avLst/>
          </a:prstGeom>
          <a:noFill/>
          <a:ln/>
        </p:spPr>
        <p:txBody>
          <a:bodyPr wrap="square" lIns="0" tIns="0" rIns="0" bIns="0" rtlCol="0" anchor="t"/>
          <a:lstStyle/>
          <a:p>
            <a:pPr indent="0" marL="0">
              <a:buNone/>
            </a:pPr>
            <a:r>
              <a:rPr lang="en-US" sz="1300" dirty="0">
                <a:solidFill>
                  <a:schemeClr val="tx2"/>
                </a:solidFill>
              </a:rPr>
              <a:t>What the samples showed</a:t>
            </a:r>
            <a:endParaRPr lang="en-US" sz="1300" dirty="0"/>
          </a:p>
        </p:txBody>
      </p:sp>
      <p:sp>
        <p:nvSpPr>
          <p:cNvPr id="28" name="Agenda card 6"/>
          <p:cNvSpPr/>
          <p:nvPr/>
        </p:nvSpPr>
        <p:spPr>
          <a:xfrm>
            <a:off x="6126480" y="2971800"/>
            <a:ext cx="2560320" cy="1371600"/>
          </a:xfrm>
          <a:prstGeom prst="rect">
            <a:avLst/>
          </a:prstGeom>
          <a:solidFill>
            <a:schemeClr val="bg2"/>
          </a:solidFill>
          <a:ln w="12700">
            <a:solidFill>
              <a:schemeClr val="bg2"/>
            </a:solidFill>
            <a:prstDash val="solid"/>
          </a:ln>
        </p:spPr>
      </p:sp>
      <p:sp>
        <p:nvSpPr>
          <p:cNvPr id="29" name="Shape 27"/>
          <p:cNvSpPr/>
          <p:nvPr/>
        </p:nvSpPr>
        <p:spPr>
          <a:xfrm>
            <a:off x="6309360" y="3154680"/>
            <a:ext cx="457200" cy="457200"/>
          </a:xfrm>
          <a:prstGeom prst="ellipse">
            <a:avLst/>
          </a:prstGeom>
          <a:solidFill>
            <a:schemeClr val="accent1"/>
          </a:solidFill>
          <a:ln w="12700">
            <a:solidFill>
              <a:schemeClr val="accent1"/>
            </a:solidFill>
            <a:prstDash val="solid"/>
          </a:ln>
        </p:spPr>
      </p:sp>
      <p:sp>
        <p:nvSpPr>
          <p:cNvPr id="30" name="Text 28"/>
          <p:cNvSpPr txBox="1"/>
          <p:nvPr/>
        </p:nvSpPr>
        <p:spPr>
          <a:xfrm>
            <a:off x="6309360" y="3154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6903720" y="3154680"/>
            <a:ext cx="1645920" cy="457200"/>
          </a:xfrm>
          <a:prstGeom prst="rect">
            <a:avLst/>
          </a:prstGeom>
          <a:noFill/>
          <a:ln/>
        </p:spPr>
        <p:txBody>
          <a:bodyPr wrap="square" lIns="0" tIns="0" rIns="0" bIns="0" rtlCol="0" anchor="ctr"/>
          <a:lstStyle/>
          <a:p>
            <a:pPr indent="0" marL="0">
              <a:buNone/>
            </a:pPr>
            <a:r>
              <a:rPr lang="en-US" sz="1500" b="1" dirty="0">
                <a:solidFill>
                  <a:schemeClr val="tx1"/>
                </a:solidFill>
              </a:rPr>
              <a:t>Conclusion</a:t>
            </a:r>
            <a:endParaRPr lang="en-US" sz="1500" dirty="0"/>
          </a:p>
        </p:txBody>
      </p:sp>
      <p:sp>
        <p:nvSpPr>
          <p:cNvPr id="32" name="Text 30"/>
          <p:cNvSpPr txBox="1"/>
          <p:nvPr/>
        </p:nvSpPr>
        <p:spPr>
          <a:xfrm>
            <a:off x="6309360" y="3749040"/>
            <a:ext cx="2194560" cy="502920"/>
          </a:xfrm>
          <a:prstGeom prst="rect">
            <a:avLst/>
          </a:prstGeom>
          <a:noFill/>
          <a:ln/>
        </p:spPr>
        <p:txBody>
          <a:bodyPr wrap="square" lIns="0" tIns="0" rIns="0" bIns="0" rtlCol="0" anchor="t"/>
          <a:lstStyle/>
          <a:p>
            <a:pPr indent="0" marL="0">
              <a:buNone/>
            </a:pPr>
            <a:r>
              <a:rPr lang="en-US" sz="1300" dirty="0">
                <a:solidFill>
                  <a:schemeClr val="tx2"/>
                </a:solidFill>
              </a:rPr>
              <a:t>Lessons and recommendations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SIWES &amp; HiiT Plc</a:t>
            </a:r>
            <a:endParaRPr lang="en-US" sz="2800" dirty="0"/>
          </a:p>
        </p:txBody>
      </p:sp>
      <p:sp>
        <p:nvSpPr>
          <p:cNvPr id="3" name="Text 1"/>
          <p:cNvSpPr txBox="1"/>
          <p:nvPr/>
        </p:nvSpPr>
        <p:spPr>
          <a:xfrm>
            <a:off x="457200" y="1097280"/>
            <a:ext cx="3931920" cy="365760"/>
          </a:xfrm>
          <a:prstGeom prst="rect">
            <a:avLst/>
          </a:prstGeom>
          <a:noFill/>
          <a:ln/>
        </p:spPr>
        <p:txBody>
          <a:bodyPr wrap="square" lIns="0" tIns="0" rIns="0" bIns="0" rtlCol="0" anchor="ctr"/>
          <a:lstStyle/>
          <a:p>
            <a:pPr indent="0" marL="0">
              <a:buNone/>
            </a:pPr>
            <a:r>
              <a:rPr lang="en-US" sz="1700" b="1" dirty="0">
                <a:solidFill>
                  <a:schemeClr val="accent1"/>
                </a:solidFill>
              </a:rPr>
              <a:t>About SIWES</a:t>
            </a:r>
            <a:endParaRPr lang="en-US" sz="1700" dirty="0"/>
          </a:p>
        </p:txBody>
      </p:sp>
      <p:sp>
        <p:nvSpPr>
          <p:cNvPr id="4" name="Text 2"/>
          <p:cNvSpPr txBox="1"/>
          <p:nvPr/>
        </p:nvSpPr>
        <p:spPr>
          <a:xfrm>
            <a:off x="457200" y="1417320"/>
            <a:ext cx="3931920" cy="685800"/>
          </a:xfrm>
          <a:prstGeom prst="rect">
            <a:avLst/>
          </a:prstGeom>
          <a:noFill/>
          <a:ln/>
        </p:spPr>
        <p:txBody>
          <a:bodyPr wrap="square" lIns="0" tIns="0" rIns="0" bIns="0" rtlCol="0" anchor="ctr"/>
          <a:lstStyle/>
          <a:p>
            <a:pPr indent="0" marL="0">
              <a:buNone/>
            </a:pPr>
            <a:r>
              <a:rPr lang="en-US" sz="4200" b="1" dirty="0">
                <a:solidFill>
                  <a:schemeClr val="accent1"/>
                </a:solidFill>
                <a:latin typeface="Cambria" pitchFamily="34" charset="0"/>
                <a:ea typeface="Cambria" pitchFamily="34" charset="-122"/>
                <a:cs typeface="Cambria" pitchFamily="34" charset="-120"/>
              </a:rPr>
              <a:t>1973</a:t>
            </a:r>
            <a:endParaRPr lang="en-US" sz="4200" dirty="0"/>
          </a:p>
        </p:txBody>
      </p:sp>
      <p:sp>
        <p:nvSpPr>
          <p:cNvPr id="5" name="Text 3"/>
          <p:cNvSpPr txBox="1"/>
          <p:nvPr/>
        </p:nvSpPr>
        <p:spPr>
          <a:xfrm>
            <a:off x="457200" y="2148840"/>
            <a:ext cx="3931920" cy="731520"/>
          </a:xfrm>
          <a:prstGeom prst="rect">
            <a:avLst/>
          </a:prstGeom>
          <a:noFill/>
          <a:ln/>
        </p:spPr>
        <p:txBody>
          <a:bodyPr wrap="square" lIns="0" tIns="0" rIns="0" bIns="0" rtlCol="0" anchor="t"/>
          <a:lstStyle/>
          <a:p>
            <a:pPr indent="0" marL="0">
              <a:buNone/>
            </a:pPr>
            <a:r>
              <a:rPr lang="en-US" sz="1300" dirty="0">
                <a:solidFill>
                  <a:schemeClr val="tx1"/>
                </a:solidFill>
              </a:rPr>
              <a:t>The Industrial Training Fund launched SIWES so graduates meet real working conditions before leaving university.</a:t>
            </a:r>
            <a:endParaRPr lang="en-US" sz="1300" dirty="0"/>
          </a:p>
        </p:txBody>
      </p:sp>
      <p:sp>
        <p:nvSpPr>
          <p:cNvPr id="6" name="Text 4"/>
          <p:cNvSpPr txBox="1"/>
          <p:nvPr/>
        </p:nvSpPr>
        <p:spPr>
          <a:xfrm>
            <a:off x="457200" y="2926080"/>
            <a:ext cx="3931920" cy="1371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ITF administers and funds the scheme</a:t>
            </a:r>
            <a:endParaRPr lang="en-US" sz="1250" dirty="0"/>
          </a:p>
          <a:p>
            <a:pPr marL="342900" indent="-342900">
              <a:spcAft>
                <a:spcPts val="600"/>
              </a:spcAft>
              <a:buSzPct val="100000"/>
              <a:buChar char="•"/>
            </a:pPr>
            <a:r>
              <a:rPr lang="en-US" sz="1250" dirty="0">
                <a:solidFill>
                  <a:schemeClr val="tx2"/>
                </a:solidFill>
              </a:rPr>
              <a:t>The university places and supervises</a:t>
            </a:r>
            <a:endParaRPr lang="en-US" sz="1250" dirty="0"/>
          </a:p>
          <a:p>
            <a:pPr marL="342900" indent="-342900">
              <a:spcAft>
                <a:spcPts val="600"/>
              </a:spcAft>
              <a:buSzPct val="100000"/>
              <a:buChar char="•"/>
            </a:pPr>
            <a:r>
              <a:rPr lang="en-US" sz="1250" dirty="0">
                <a:solidFill>
                  <a:schemeClr val="tx2"/>
                </a:solidFill>
              </a:rPr>
              <a:t>The host company trains and mentors</a:t>
            </a:r>
            <a:endParaRPr lang="en-US" sz="1250" dirty="0"/>
          </a:p>
        </p:txBody>
      </p:sp>
      <p:sp>
        <p:nvSpPr>
          <p:cNvPr id="7" name="Text 5"/>
          <p:cNvSpPr txBox="1"/>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chemeClr val="accent1"/>
                </a:solidFill>
              </a:rPr>
              <a:t>About HiiT Plc (host organisation)</a:t>
            </a:r>
            <a:endParaRPr lang="en-US" sz="1700" dirty="0"/>
          </a:p>
        </p:txBody>
      </p:sp>
      <p:sp>
        <p:nvSpPr>
          <p:cNvPr id="8" name="HiiT stat 1"/>
          <p:cNvSpPr/>
          <p:nvPr/>
        </p:nvSpPr>
        <p:spPr>
          <a:xfrm>
            <a:off x="4663440" y="1554480"/>
            <a:ext cx="1828800" cy="777240"/>
          </a:xfrm>
          <a:prstGeom prst="rect">
            <a:avLst/>
          </a:prstGeom>
          <a:solidFill>
            <a:schemeClr val="bg2"/>
          </a:solidFill>
          <a:ln w="12700">
            <a:solidFill>
              <a:schemeClr val="bg2"/>
            </a:solidFill>
            <a:prstDash val="solid"/>
          </a:ln>
        </p:spPr>
      </p:sp>
      <p:sp>
        <p:nvSpPr>
          <p:cNvPr id="9" name="Text 7"/>
          <p:cNvSpPr txBox="1"/>
          <p:nvPr/>
        </p:nvSpPr>
        <p:spPr>
          <a:xfrm>
            <a:off x="4773168" y="1609344"/>
            <a:ext cx="1609344"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60,000+</a:t>
            </a:r>
            <a:endParaRPr lang="en-US" sz="1800" dirty="0"/>
          </a:p>
        </p:txBody>
      </p:sp>
      <p:sp>
        <p:nvSpPr>
          <p:cNvPr id="10" name="Text 8"/>
          <p:cNvSpPr txBox="1"/>
          <p:nvPr/>
        </p:nvSpPr>
        <p:spPr>
          <a:xfrm>
            <a:off x="4773168" y="1975104"/>
            <a:ext cx="1609344" cy="320040"/>
          </a:xfrm>
          <a:prstGeom prst="rect">
            <a:avLst/>
          </a:prstGeom>
          <a:noFill/>
          <a:ln/>
        </p:spPr>
        <p:txBody>
          <a:bodyPr wrap="square" lIns="0" tIns="0" rIns="0" bIns="0" rtlCol="0" anchor="t"/>
          <a:lstStyle/>
          <a:p>
            <a:pPr indent="0" marL="0">
              <a:buNone/>
            </a:pPr>
            <a:r>
              <a:rPr lang="en-US" sz="1050" dirty="0">
                <a:solidFill>
                  <a:schemeClr val="tx1"/>
                </a:solidFill>
              </a:rPr>
              <a:t>graduates trained</a:t>
            </a:r>
            <a:endParaRPr lang="en-US" sz="1050" dirty="0"/>
          </a:p>
        </p:txBody>
      </p:sp>
      <p:sp>
        <p:nvSpPr>
          <p:cNvPr id="11" name="HiiT stat 2"/>
          <p:cNvSpPr/>
          <p:nvPr/>
        </p:nvSpPr>
        <p:spPr>
          <a:xfrm>
            <a:off x="6675120" y="1554480"/>
            <a:ext cx="1828800" cy="777240"/>
          </a:xfrm>
          <a:prstGeom prst="rect">
            <a:avLst/>
          </a:prstGeom>
          <a:solidFill>
            <a:schemeClr val="bg2"/>
          </a:solidFill>
          <a:ln w="12700">
            <a:solidFill>
              <a:schemeClr val="bg2"/>
            </a:solidFill>
            <a:prstDash val="solid"/>
          </a:ln>
        </p:spPr>
      </p:sp>
      <p:sp>
        <p:nvSpPr>
          <p:cNvPr id="12" name="Text 10"/>
          <p:cNvSpPr txBox="1"/>
          <p:nvPr/>
        </p:nvSpPr>
        <p:spPr>
          <a:xfrm>
            <a:off x="6784848" y="1609344"/>
            <a:ext cx="1609344"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13" name="Text 11"/>
          <p:cNvSpPr txBox="1"/>
          <p:nvPr/>
        </p:nvSpPr>
        <p:spPr>
          <a:xfrm>
            <a:off x="6784848" y="1975104"/>
            <a:ext cx="1609344" cy="320040"/>
          </a:xfrm>
          <a:prstGeom prst="rect">
            <a:avLst/>
          </a:prstGeom>
          <a:noFill/>
          <a:ln/>
        </p:spPr>
        <p:txBody>
          <a:bodyPr wrap="square" lIns="0" tIns="0" rIns="0" bIns="0" rtlCol="0" anchor="t"/>
          <a:lstStyle/>
          <a:p>
            <a:pPr indent="0" marL="0">
              <a:buNone/>
            </a:pPr>
            <a:r>
              <a:rPr lang="en-US" sz="1050" dirty="0">
                <a:solidFill>
                  <a:schemeClr val="tx1"/>
                </a:solidFill>
              </a:rPr>
              <a:t>CPN-accredited cities</a:t>
            </a:r>
            <a:endParaRPr lang="en-US" sz="1050" dirty="0"/>
          </a:p>
        </p:txBody>
      </p:sp>
      <p:sp>
        <p:nvSpPr>
          <p:cNvPr id="14" name="HiiT stat 3"/>
          <p:cNvSpPr/>
          <p:nvPr/>
        </p:nvSpPr>
        <p:spPr>
          <a:xfrm>
            <a:off x="4663440" y="2468880"/>
            <a:ext cx="1828800" cy="777240"/>
          </a:xfrm>
          <a:prstGeom prst="rect">
            <a:avLst/>
          </a:prstGeom>
          <a:solidFill>
            <a:schemeClr val="bg2"/>
          </a:solidFill>
          <a:ln w="12700">
            <a:solidFill>
              <a:schemeClr val="bg2"/>
            </a:solidFill>
            <a:prstDash val="solid"/>
          </a:ln>
        </p:spPr>
      </p:sp>
      <p:sp>
        <p:nvSpPr>
          <p:cNvPr id="15" name="Text 13"/>
          <p:cNvSpPr txBox="1"/>
          <p:nvPr/>
        </p:nvSpPr>
        <p:spPr>
          <a:xfrm>
            <a:off x="4773168" y="2523744"/>
            <a:ext cx="1609344"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CPN</a:t>
            </a:r>
            <a:endParaRPr lang="en-US" sz="1800" dirty="0"/>
          </a:p>
        </p:txBody>
      </p:sp>
      <p:sp>
        <p:nvSpPr>
          <p:cNvPr id="16" name="Text 14"/>
          <p:cNvSpPr txBox="1"/>
          <p:nvPr/>
        </p:nvSpPr>
        <p:spPr>
          <a:xfrm>
            <a:off x="4773168" y="2889504"/>
            <a:ext cx="1609344" cy="320040"/>
          </a:xfrm>
          <a:prstGeom prst="rect">
            <a:avLst/>
          </a:prstGeom>
          <a:noFill/>
          <a:ln/>
        </p:spPr>
        <p:txBody>
          <a:bodyPr wrap="square" lIns="0" tIns="0" rIns="0" bIns="0" rtlCol="0" anchor="t"/>
          <a:lstStyle/>
          <a:p>
            <a:pPr indent="0" marL="0">
              <a:buNone/>
            </a:pPr>
            <a:r>
              <a:rPr lang="en-US" sz="1050" dirty="0">
                <a:solidFill>
                  <a:schemeClr val="tx1"/>
                </a:solidFill>
              </a:rPr>
              <a:t>registered Nigerian IT firm</a:t>
            </a:r>
            <a:endParaRPr lang="en-US" sz="1050" dirty="0"/>
          </a:p>
        </p:txBody>
      </p:sp>
      <p:sp>
        <p:nvSpPr>
          <p:cNvPr id="17" name="HiiT stat 4"/>
          <p:cNvSpPr/>
          <p:nvPr/>
        </p:nvSpPr>
        <p:spPr>
          <a:xfrm>
            <a:off x="6675120" y="2468880"/>
            <a:ext cx="1828800" cy="777240"/>
          </a:xfrm>
          <a:prstGeom prst="rect">
            <a:avLst/>
          </a:prstGeom>
          <a:solidFill>
            <a:schemeClr val="bg2"/>
          </a:solidFill>
          <a:ln w="12700">
            <a:solidFill>
              <a:schemeClr val="bg2"/>
            </a:solidFill>
            <a:prstDash val="solid"/>
          </a:ln>
        </p:spPr>
      </p:sp>
      <p:sp>
        <p:nvSpPr>
          <p:cNvPr id="18" name="Text 16"/>
          <p:cNvSpPr txBox="1"/>
          <p:nvPr/>
        </p:nvSpPr>
        <p:spPr>
          <a:xfrm>
            <a:off x="6784848" y="2523744"/>
            <a:ext cx="1609344" cy="384048"/>
          </a:xfrm>
          <a:prstGeom prst="rect">
            <a:avLst/>
          </a:prstGeom>
          <a:noFill/>
          <a:ln/>
        </p:spPr>
        <p:txBody>
          <a:bodyPr wrap="square" lIns="0" tIns="0" rIns="0" bIns="0" rtlCol="0" anchor="ctr"/>
          <a:lstStyle/>
          <a:p>
            <a:pP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784848" y="2889504"/>
            <a:ext cx="1609344" cy="320040"/>
          </a:xfrm>
          <a:prstGeom prst="rect">
            <a:avLst/>
          </a:prstGeom>
          <a:noFill/>
          <a:ln/>
        </p:spPr>
        <p:txBody>
          <a:bodyPr wrap="square" lIns="0" tIns="0" rIns="0" bIns="0" rtlCol="0" anchor="t"/>
          <a:lstStyle/>
          <a:p>
            <a:pPr indent="0" marL="0">
              <a:buNone/>
            </a:pPr>
            <a:r>
              <a:rPr lang="en-US" sz="1050" dirty="0">
                <a:solidFill>
                  <a:schemeClr val="tx1"/>
                </a:solidFill>
              </a:rPr>
              <a:t>lines of business</a:t>
            </a:r>
            <a:endParaRPr lang="en-US" sz="1050" dirty="0"/>
          </a:p>
        </p:txBody>
      </p:sp>
      <p:sp>
        <p:nvSpPr>
          <p:cNvPr id="20" name="Text 18"/>
          <p:cNvSpPr txBox="1"/>
          <p:nvPr/>
        </p:nvSpPr>
        <p:spPr>
          <a:xfrm>
            <a:off x="4663440" y="3429000"/>
            <a:ext cx="4023360" cy="320040"/>
          </a:xfrm>
          <a:prstGeom prst="rect">
            <a:avLst/>
          </a:prstGeom>
          <a:noFill/>
          <a:ln/>
        </p:spPr>
        <p:txBody>
          <a:bodyPr wrap="square" lIns="0" tIns="0" rIns="0" bIns="0" rtlCol="0" anchor="ctr"/>
          <a:lstStyle/>
          <a:p>
            <a:pPr indent="0" marL="0">
              <a:buNone/>
            </a:pPr>
            <a:r>
              <a:rPr lang="en-US" sz="1150" dirty="0">
                <a:solidFill>
                  <a:schemeClr val="tx2"/>
                </a:solidFill>
              </a:rPr>
              <a:t>Training, software, consultancy &amp; publishing -- Lagos, Abuja, Ibadan, Kano.</a:t>
            </a:r>
            <a:endParaRPr lang="en-US" sz="1150" dirty="0"/>
          </a:p>
        </p:txBody>
      </p:sp>
      <p:sp>
        <p:nvSpPr>
          <p:cNvPr id="21" name="Text 19"/>
          <p:cNvSpPr txBox="1"/>
          <p:nvPr/>
        </p:nvSpPr>
        <p:spPr>
          <a:xfrm>
            <a:off x="4663440" y="3749040"/>
            <a:ext cx="4023360" cy="274320"/>
          </a:xfrm>
          <a:prstGeom prst="rect">
            <a:avLst/>
          </a:prstGeom>
          <a:noFill/>
          <a:ln/>
        </p:spPr>
        <p:txBody>
          <a:bodyPr wrap="square" lIns="0" tIns="0" rIns="0" bIns="0" rtlCol="0" anchor="ctr"/>
          <a:lstStyle/>
          <a:p>
            <a:pPr indent="0" marL="0">
              <a:buNone/>
            </a:pPr>
            <a:r>
              <a:rPr lang="en-US" sz="1000" dirty="0">
                <a:solidFill>
                  <a:schemeClr val="accent6"/>
                </a:solidFill>
              </a:rPr>
              <a:t>Source: BusinessDay (2020); HiiT Plc company profile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My placement, and skills acquired</a:t>
            </a:r>
            <a:endParaRPr lang="en-US" sz="2800" dirty="0"/>
          </a:p>
        </p:txBody>
      </p:sp>
      <p:sp>
        <p:nvSpPr>
          <p:cNvPr id="3" name="Placement details card"/>
          <p:cNvSpPr/>
          <p:nvPr/>
        </p:nvSpPr>
        <p:spPr>
          <a:xfrm>
            <a:off x="457200" y="1143000"/>
            <a:ext cx="3931920" cy="3337560"/>
          </a:xfrm>
          <a:prstGeom prst="rect">
            <a:avLst/>
          </a:prstGeom>
          <a:solidFill>
            <a:schemeClr val="bg2"/>
          </a:solidFill>
          <a:ln w="12700">
            <a:solidFill>
              <a:schemeClr val="bg2"/>
            </a:solidFill>
            <a:prstDash val="solid"/>
          </a:ln>
        </p:spPr>
      </p:sp>
      <p:sp>
        <p:nvSpPr>
          <p:cNvPr id="4" name="Text 2"/>
          <p:cNvSpPr txBox="1"/>
          <p:nvPr/>
        </p:nvSpPr>
        <p:spPr>
          <a:xfrm>
            <a:off x="640080" y="1261872"/>
            <a:ext cx="3566160" cy="347472"/>
          </a:xfrm>
          <a:prstGeom prst="rect">
            <a:avLst/>
          </a:prstGeom>
          <a:noFill/>
          <a:ln/>
        </p:spPr>
        <p:txBody>
          <a:bodyPr wrap="square" lIns="0" tIns="0" rIns="0" bIns="0" rtlCol="0" anchor="ctr"/>
          <a:lstStyle/>
          <a:p>
            <a:pPr indent="0" marL="0">
              <a:buNone/>
            </a:pPr>
            <a:r>
              <a:rPr lang="en-US" sz="1600" b="1" dirty="0">
                <a:solidFill>
                  <a:schemeClr val="tx1"/>
                </a:solidFill>
              </a:rPr>
              <a:t>Placement details</a:t>
            </a:r>
            <a:endParaRPr lang="en-US" sz="1600" dirty="0"/>
          </a:p>
        </p:txBody>
      </p:sp>
      <p:sp>
        <p:nvSpPr>
          <p:cNvPr id="5" name="Text 3"/>
          <p:cNvSpPr txBox="1"/>
          <p:nvPr/>
        </p:nvSpPr>
        <p:spPr>
          <a:xfrm>
            <a:off x="640080" y="1719072"/>
            <a:ext cx="1097280" cy="347472"/>
          </a:xfrm>
          <a:prstGeom prst="rect">
            <a:avLst/>
          </a:prstGeom>
          <a:noFill/>
          <a:ln/>
        </p:spPr>
        <p:txBody>
          <a:bodyPr wrap="square" lIns="0" tIns="0" rIns="0" bIns="0" rtlCol="0" anchor="ctr"/>
          <a:lstStyle/>
          <a:p>
            <a:pPr indent="0" marL="0">
              <a:buNone/>
            </a:pPr>
            <a:r>
              <a:rPr lang="en-US" sz="1300" b="1" dirty="0">
                <a:solidFill>
                  <a:schemeClr val="accent1"/>
                </a:solidFill>
              </a:rPr>
              <a:t>Host</a:t>
            </a:r>
            <a:endParaRPr lang="en-US" sz="1300" dirty="0"/>
          </a:p>
        </p:txBody>
      </p:sp>
      <p:sp>
        <p:nvSpPr>
          <p:cNvPr id="6" name="Text 4"/>
          <p:cNvSpPr txBox="1"/>
          <p:nvPr/>
        </p:nvSpPr>
        <p:spPr>
          <a:xfrm>
            <a:off x="1783080" y="1719072"/>
            <a:ext cx="2468880" cy="347472"/>
          </a:xfrm>
          <a:prstGeom prst="rect">
            <a:avLst/>
          </a:prstGeom>
          <a:noFill/>
          <a:ln/>
        </p:spPr>
        <p:txBody>
          <a:bodyPr wrap="square" lIns="0" tIns="0" rIns="0" bIns="0" rtlCol="0" anchor="ctr"/>
          <a:lstStyle/>
          <a:p>
            <a:pPr indent="0" marL="0">
              <a:buNone/>
            </a:pPr>
            <a:r>
              <a:rPr lang="en-US" sz="1300" dirty="0">
                <a:solidFill>
                  <a:schemeClr val="tx1"/>
                </a:solidFill>
              </a:rPr>
              <a:t>HiiT Plc</a:t>
            </a:r>
            <a:endParaRPr lang="en-US" sz="1300" dirty="0"/>
          </a:p>
        </p:txBody>
      </p:sp>
      <p:sp>
        <p:nvSpPr>
          <p:cNvPr id="7" name="Text 5"/>
          <p:cNvSpPr txBox="1"/>
          <p:nvPr/>
        </p:nvSpPr>
        <p:spPr>
          <a:xfrm>
            <a:off x="640080" y="2121408"/>
            <a:ext cx="1097280" cy="347472"/>
          </a:xfrm>
          <a:prstGeom prst="rect">
            <a:avLst/>
          </a:prstGeom>
          <a:noFill/>
          <a:ln/>
        </p:spPr>
        <p:txBody>
          <a:bodyPr wrap="square" lIns="0" tIns="0" rIns="0" bIns="0" rtlCol="0" anchor="ctr"/>
          <a:lstStyle/>
          <a:p>
            <a:pPr indent="0" marL="0">
              <a:buNone/>
            </a:pPr>
            <a:r>
              <a:rPr lang="en-US" sz="1300" b="1" dirty="0">
                <a:solidFill>
                  <a:schemeClr val="accent1"/>
                </a:solidFill>
              </a:rPr>
              <a:t>Branch</a:t>
            </a:r>
            <a:endParaRPr lang="en-US" sz="1300" dirty="0"/>
          </a:p>
        </p:txBody>
      </p:sp>
      <p:sp>
        <p:nvSpPr>
          <p:cNvPr id="8" name="Text 6"/>
          <p:cNvSpPr txBox="1"/>
          <p:nvPr/>
        </p:nvSpPr>
        <p:spPr>
          <a:xfrm>
            <a:off x="1783080" y="2121408"/>
            <a:ext cx="2468880" cy="347472"/>
          </a:xfrm>
          <a:prstGeom prst="rect">
            <a:avLst/>
          </a:prstGeom>
          <a:noFill/>
          <a:ln/>
        </p:spPr>
        <p:txBody>
          <a:bodyPr wrap="square" lIns="0" tIns="0" rIns="0" bIns="0" rtlCol="0" anchor="ctr"/>
          <a:lstStyle/>
          <a:p>
            <a:pPr indent="0" marL="0">
              <a:buNone/>
            </a:pPr>
            <a:r>
              <a:rPr lang="en-US" sz="1300" dirty="0">
                <a:solidFill>
                  <a:srgbClr val="0B1F33"/>
                </a:solidFill>
                <a:highlight>
                  <a:srgbClr val="FFFF00"/>
                </a:highlight>
              </a:rPr>
              <a:t>[branch / centre]</a:t>
            </a:r>
            <a:endParaRPr lang="en-US" sz="1300" dirty="0"/>
          </a:p>
        </p:txBody>
      </p:sp>
      <p:sp>
        <p:nvSpPr>
          <p:cNvPr id="9" name="Text 7"/>
          <p:cNvSpPr txBox="1"/>
          <p:nvPr/>
        </p:nvSpPr>
        <p:spPr>
          <a:xfrm>
            <a:off x="640080" y="2523744"/>
            <a:ext cx="1097280" cy="347472"/>
          </a:xfrm>
          <a:prstGeom prst="rect">
            <a:avLst/>
          </a:prstGeom>
          <a:noFill/>
          <a:ln/>
        </p:spPr>
        <p:txBody>
          <a:bodyPr wrap="square" lIns="0" tIns="0" rIns="0" bIns="0" rtlCol="0" anchor="ctr"/>
          <a:lstStyle/>
          <a:p>
            <a:pPr indent="0" marL="0">
              <a:buNone/>
            </a:pPr>
            <a:r>
              <a:rPr lang="en-US" sz="1300" b="1" dirty="0">
                <a:solidFill>
                  <a:schemeClr val="accent1"/>
                </a:solidFill>
              </a:rPr>
              <a:t>Period</a:t>
            </a:r>
            <a:endParaRPr lang="en-US" sz="1300" dirty="0"/>
          </a:p>
        </p:txBody>
      </p:sp>
      <p:sp>
        <p:nvSpPr>
          <p:cNvPr id="10" name="Text 8"/>
          <p:cNvSpPr txBox="1"/>
          <p:nvPr/>
        </p:nvSpPr>
        <p:spPr>
          <a:xfrm>
            <a:off x="1783080" y="2523744"/>
            <a:ext cx="2468880" cy="347472"/>
          </a:xfrm>
          <a:prstGeom prst="rect">
            <a:avLst/>
          </a:prstGeom>
          <a:noFill/>
          <a:ln/>
        </p:spPr>
        <p:txBody>
          <a:bodyPr wrap="square" lIns="0" tIns="0" rIns="0" bIns="0" rtlCol="0" anchor="ctr"/>
          <a:lstStyle/>
          <a:p>
            <a:pPr indent="0" marL="0">
              <a:buNone/>
            </a:pPr>
            <a:r>
              <a:rPr lang="en-US" sz="1300" dirty="0">
                <a:solidFill>
                  <a:srgbClr val="0B1F33"/>
                </a:solidFill>
                <a:highlight>
                  <a:srgbClr val="FFFF00"/>
                </a:highlight>
              </a:rPr>
              <a:t>[start date]</a:t>
            </a:r>
            <a:pPr indent="0" marL="0">
              <a:buNone/>
            </a:pPr>
            <a:r>
              <a:rPr lang="en-US" sz="1300" dirty="0">
                <a:solidFill>
                  <a:schemeClr val="tx1"/>
                </a:solidFill>
              </a:rPr>
              <a:t> to </a:t>
            </a:r>
            <a:pPr indent="0" marL="0">
              <a:buNone/>
            </a:pPr>
            <a:r>
              <a:rPr lang="en-US" sz="1300" dirty="0">
                <a:solidFill>
                  <a:srgbClr val="0B1F33"/>
                </a:solidFill>
                <a:highlight>
                  <a:srgbClr val="FFFF00"/>
                </a:highlight>
              </a:rPr>
              <a:t>[end date]</a:t>
            </a:r>
            <a:endParaRPr lang="en-US" sz="1300" dirty="0"/>
          </a:p>
        </p:txBody>
      </p:sp>
      <p:sp>
        <p:nvSpPr>
          <p:cNvPr id="11" name="Text 9"/>
          <p:cNvSpPr txBox="1"/>
          <p:nvPr/>
        </p:nvSpPr>
        <p:spPr>
          <a:xfrm>
            <a:off x="640080" y="2926080"/>
            <a:ext cx="1097280" cy="347472"/>
          </a:xfrm>
          <a:prstGeom prst="rect">
            <a:avLst/>
          </a:prstGeom>
          <a:noFill/>
          <a:ln/>
        </p:spPr>
        <p:txBody>
          <a:bodyPr wrap="square" lIns="0" tIns="0" rIns="0" bIns="0" rtlCol="0" anchor="ctr"/>
          <a:lstStyle/>
          <a:p>
            <a:pPr indent="0" marL="0">
              <a:buNone/>
            </a:pPr>
            <a:r>
              <a:rPr lang="en-US" sz="1300" b="1" dirty="0">
                <a:solidFill>
                  <a:schemeClr val="accent1"/>
                </a:solidFill>
              </a:rPr>
              <a:t>Supervisor</a:t>
            </a:r>
            <a:endParaRPr lang="en-US" sz="1300" dirty="0"/>
          </a:p>
        </p:txBody>
      </p:sp>
      <p:sp>
        <p:nvSpPr>
          <p:cNvPr id="12" name="Text 10"/>
          <p:cNvSpPr txBox="1"/>
          <p:nvPr/>
        </p:nvSpPr>
        <p:spPr>
          <a:xfrm>
            <a:off x="1783080" y="2926080"/>
            <a:ext cx="2468880" cy="347472"/>
          </a:xfrm>
          <a:prstGeom prst="rect">
            <a:avLst/>
          </a:prstGeom>
          <a:noFill/>
          <a:ln/>
        </p:spPr>
        <p:txBody>
          <a:bodyPr wrap="square" lIns="0" tIns="0" rIns="0" bIns="0" rtlCol="0" anchor="ctr"/>
          <a:lstStyle/>
          <a:p>
            <a:pPr indent="0" marL="0">
              <a:buNone/>
            </a:pPr>
            <a:r>
              <a:rPr lang="en-US" sz="1300" dirty="0">
                <a:solidFill>
                  <a:srgbClr val="0B1F33"/>
                </a:solidFill>
                <a:highlight>
                  <a:srgbClr val="FFFF00"/>
                </a:highlight>
              </a:rPr>
              <a:t>[industry supervisor]</a:t>
            </a:r>
            <a:endParaRPr lang="en-US" sz="1300" dirty="0"/>
          </a:p>
        </p:txBody>
      </p:sp>
      <p:sp>
        <p:nvSpPr>
          <p:cNvPr id="13" name="Text 11"/>
          <p:cNvSpPr txBox="1"/>
          <p:nvPr/>
        </p:nvSpPr>
        <p:spPr>
          <a:xfrm>
            <a:off x="640080" y="3328416"/>
            <a:ext cx="1097280" cy="347472"/>
          </a:xfrm>
          <a:prstGeom prst="rect">
            <a:avLst/>
          </a:prstGeom>
          <a:noFill/>
          <a:ln/>
        </p:spPr>
        <p:txBody>
          <a:bodyPr wrap="square" lIns="0" tIns="0" rIns="0" bIns="0" rtlCol="0" anchor="ctr"/>
          <a:lstStyle/>
          <a:p>
            <a:pPr indent="0" marL="0">
              <a:buNone/>
            </a:pPr>
            <a:r>
              <a:rPr lang="en-US" sz="1300" b="1" dirty="0">
                <a:solidFill>
                  <a:schemeClr val="accent1"/>
                </a:solidFill>
              </a:rPr>
              <a:t>Institution</a:t>
            </a:r>
            <a:endParaRPr lang="en-US" sz="1300" dirty="0"/>
          </a:p>
        </p:txBody>
      </p:sp>
      <p:sp>
        <p:nvSpPr>
          <p:cNvPr id="14" name="Text 12"/>
          <p:cNvSpPr txBox="1"/>
          <p:nvPr/>
        </p:nvSpPr>
        <p:spPr>
          <a:xfrm>
            <a:off x="1783080" y="3328416"/>
            <a:ext cx="2468880" cy="347472"/>
          </a:xfrm>
          <a:prstGeom prst="rect">
            <a:avLst/>
          </a:prstGeom>
          <a:noFill/>
          <a:ln/>
        </p:spPr>
        <p:txBody>
          <a:bodyPr wrap="square" lIns="0" tIns="0" rIns="0" bIns="0" rtlCol="0" anchor="ctr"/>
          <a:lstStyle/>
          <a:p>
            <a:pPr indent="0" marL="0">
              <a:buNone/>
            </a:pPr>
            <a:r>
              <a:rPr lang="en-US" sz="1300" dirty="0">
                <a:solidFill>
                  <a:srgbClr val="0B1F33"/>
                </a:solidFill>
                <a:highlight>
                  <a:srgbClr val="FFFF00"/>
                </a:highlight>
              </a:rPr>
              <a:t>[institution supervisor]</a:t>
            </a:r>
            <a:endParaRPr lang="en-US" sz="1300" dirty="0"/>
          </a:p>
        </p:txBody>
      </p:sp>
      <p:sp>
        <p:nvSpPr>
          <p:cNvPr id="15" name="Text 13"/>
          <p:cNvSpPr txBox="1"/>
          <p:nvPr/>
        </p:nvSpPr>
        <p:spPr>
          <a:xfrm>
            <a:off x="640080" y="3886200"/>
            <a:ext cx="3566160" cy="274320"/>
          </a:xfrm>
          <a:prstGeom prst="rect">
            <a:avLst/>
          </a:prstGeom>
          <a:noFill/>
          <a:ln/>
        </p:spPr>
        <p:txBody>
          <a:bodyPr wrap="square" lIns="0" tIns="0" rIns="0" bIns="0" rtlCol="0" anchor="ctr"/>
          <a:lstStyle/>
          <a:p>
            <a:pPr indent="0" marL="0">
              <a:buNone/>
            </a:pPr>
            <a:r>
              <a:rPr lang="en-US" sz="1250" b="1" dirty="0">
                <a:solidFill>
                  <a:srgbClr val="2F6F4E"/>
                </a:solidFill>
              </a:rPr>
              <a:t>24 automated tests, all passing</a:t>
            </a:r>
            <a:endParaRPr lang="en-US" sz="1250" dirty="0"/>
          </a:p>
        </p:txBody>
      </p:sp>
      <p:sp>
        <p:nvSpPr>
          <p:cNvPr id="16" name="Text 14"/>
          <p:cNvSpPr txBox="1"/>
          <p:nvPr/>
        </p:nvSpPr>
        <p:spPr>
          <a:xfrm>
            <a:off x="4663440" y="1143000"/>
            <a:ext cx="4023360" cy="365760"/>
          </a:xfrm>
          <a:prstGeom prst="rect">
            <a:avLst/>
          </a:prstGeom>
          <a:noFill/>
          <a:ln/>
        </p:spPr>
        <p:txBody>
          <a:bodyPr wrap="square" lIns="0" tIns="0" rIns="0" bIns="0" rtlCol="0" anchor="ctr"/>
          <a:lstStyle/>
          <a:p>
            <a:pPr indent="0" marL="0">
              <a:buNone/>
            </a:pPr>
            <a:r>
              <a:rPr lang="en-US" sz="1600" b="1" dirty="0">
                <a:solidFill>
                  <a:schemeClr val="tx1"/>
                </a:solidFill>
              </a:rPr>
              <a:t>Skills acquired during the placement</a:t>
            </a:r>
            <a:endParaRPr lang="en-US" sz="1600" dirty="0"/>
          </a:p>
        </p:txBody>
      </p:sp>
      <p:sp>
        <p:nvSpPr>
          <p:cNvPr id="17" name="Shape 15"/>
          <p:cNvSpPr/>
          <p:nvPr/>
        </p:nvSpPr>
        <p:spPr>
          <a:xfrm>
            <a:off x="4663440" y="1600200"/>
            <a:ext cx="365760" cy="365760"/>
          </a:xfrm>
          <a:prstGeom prst="ellipse">
            <a:avLst/>
          </a:prstGeom>
          <a:solidFill>
            <a:srgbClr val="0E7C86"/>
          </a:solidFill>
          <a:ln w="12700">
            <a:solidFill>
              <a:srgbClr val="0E7C86"/>
            </a:solidFill>
            <a:prstDash val="solid"/>
          </a:ln>
        </p:spPr>
      </p:sp>
      <p:pic>
        <p:nvPicPr>
          <p:cNvPr id="18" name="Image 0" descr="preencoded.png">    </p:cNvPr>
          <p:cNvPicPr>
            <a:picLocks noChangeAspect="1"/>
          </p:cNvPicPr>
          <p:nvPr/>
        </p:nvPicPr>
        <p:blipFill>
          <a:blip r:embed="rId1"/>
          <a:stretch>
            <a:fillRect/>
          </a:stretch>
        </p:blipFill>
        <p:spPr>
          <a:xfrm>
            <a:off x="4754880" y="1691640"/>
            <a:ext cx="182880" cy="182880"/>
          </a:xfrm>
          <a:prstGeom prst="rect">
            <a:avLst/>
          </a:prstGeom>
        </p:spPr>
      </p:pic>
      <p:sp>
        <p:nvSpPr>
          <p:cNvPr id="19" name="Text 16"/>
          <p:cNvSpPr txBox="1"/>
          <p:nvPr/>
        </p:nvSpPr>
        <p:spPr>
          <a:xfrm>
            <a:off x="5138928" y="16002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Network flow analysis</a:t>
            </a:r>
            <a:endParaRPr lang="en-US" sz="1350" dirty="0"/>
          </a:p>
        </p:txBody>
      </p:sp>
      <p:sp>
        <p:nvSpPr>
          <p:cNvPr id="20" name="Shape 17"/>
          <p:cNvSpPr/>
          <p:nvPr/>
        </p:nvSpPr>
        <p:spPr>
          <a:xfrm>
            <a:off x="4663440" y="2057400"/>
            <a:ext cx="365760" cy="365760"/>
          </a:xfrm>
          <a:prstGeom prst="ellipse">
            <a:avLst/>
          </a:prstGeom>
          <a:solidFill>
            <a:srgbClr val="3A6EA5"/>
          </a:solidFill>
          <a:ln w="12700">
            <a:solidFill>
              <a:srgbClr val="3A6EA5"/>
            </a:solidFill>
            <a:prstDash val="solid"/>
          </a:ln>
        </p:spPr>
      </p:sp>
      <p:pic>
        <p:nvPicPr>
          <p:cNvPr id="21" name="Image 1" descr="preencoded.png">    </p:cNvPr>
          <p:cNvPicPr>
            <a:picLocks noChangeAspect="1"/>
          </p:cNvPicPr>
          <p:nvPr/>
        </p:nvPicPr>
        <p:blipFill>
          <a:blip r:embed="rId2"/>
          <a:stretch>
            <a:fillRect/>
          </a:stretch>
        </p:blipFill>
        <p:spPr>
          <a:xfrm>
            <a:off x="4754880" y="2148840"/>
            <a:ext cx="182880" cy="182880"/>
          </a:xfrm>
          <a:prstGeom prst="rect">
            <a:avLst/>
          </a:prstGeom>
        </p:spPr>
      </p:pic>
      <p:sp>
        <p:nvSpPr>
          <p:cNvPr id="22" name="Text 18"/>
          <p:cNvSpPr txBox="1"/>
          <p:nvPr/>
        </p:nvSpPr>
        <p:spPr>
          <a:xfrm>
            <a:off x="5138928" y="20574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IoT &amp; cyber security</a:t>
            </a:r>
            <a:endParaRPr lang="en-US" sz="1350" dirty="0"/>
          </a:p>
        </p:txBody>
      </p:sp>
      <p:sp>
        <p:nvSpPr>
          <p:cNvPr id="23" name="Shape 19"/>
          <p:cNvSpPr/>
          <p:nvPr/>
        </p:nvSpPr>
        <p:spPr>
          <a:xfrm>
            <a:off x="4663440" y="2514600"/>
            <a:ext cx="365760" cy="365760"/>
          </a:xfrm>
          <a:prstGeom prst="ellipse">
            <a:avLst/>
          </a:prstGeom>
          <a:solidFill>
            <a:srgbClr val="0E7C86"/>
          </a:solidFill>
          <a:ln w="12700">
            <a:solidFill>
              <a:srgbClr val="0E7C86"/>
            </a:solidFill>
            <a:prstDash val="solid"/>
          </a:ln>
        </p:spPr>
      </p:sp>
      <p:pic>
        <p:nvPicPr>
          <p:cNvPr id="24" name="Image 2" descr="preencoded.png">    </p:cNvPr>
          <p:cNvPicPr>
            <a:picLocks noChangeAspect="1"/>
          </p:cNvPicPr>
          <p:nvPr/>
        </p:nvPicPr>
        <p:blipFill>
          <a:blip r:embed="rId3"/>
          <a:stretch>
            <a:fillRect/>
          </a:stretch>
        </p:blipFill>
        <p:spPr>
          <a:xfrm>
            <a:off x="4754880" y="2606040"/>
            <a:ext cx="182880" cy="182880"/>
          </a:xfrm>
          <a:prstGeom prst="rect">
            <a:avLst/>
          </a:prstGeom>
        </p:spPr>
      </p:pic>
      <p:sp>
        <p:nvSpPr>
          <p:cNvPr id="25" name="Text 20"/>
          <p:cNvSpPr txBox="1"/>
          <p:nvPr/>
        </p:nvSpPr>
        <p:spPr>
          <a:xfrm>
            <a:off x="5138928" y="25146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Containers &amp; Windows</a:t>
            </a:r>
            <a:endParaRPr lang="en-US" sz="1350" dirty="0"/>
          </a:p>
        </p:txBody>
      </p:sp>
      <p:sp>
        <p:nvSpPr>
          <p:cNvPr id="26" name="Shape 21"/>
          <p:cNvSpPr/>
          <p:nvPr/>
        </p:nvSpPr>
        <p:spPr>
          <a:xfrm>
            <a:off x="4663440" y="2971800"/>
            <a:ext cx="365760" cy="365760"/>
          </a:xfrm>
          <a:prstGeom prst="ellipse">
            <a:avLst/>
          </a:prstGeom>
          <a:solidFill>
            <a:srgbClr val="3A6EA5"/>
          </a:solidFill>
          <a:ln w="12700">
            <a:solidFill>
              <a:srgbClr val="3A6EA5"/>
            </a:solidFill>
            <a:prstDash val="solid"/>
          </a:ln>
        </p:spPr>
      </p:sp>
      <p:pic>
        <p:nvPicPr>
          <p:cNvPr id="27" name="Image 3" descr="preencoded.png">    </p:cNvPr>
          <p:cNvPicPr>
            <a:picLocks noChangeAspect="1"/>
          </p:cNvPicPr>
          <p:nvPr/>
        </p:nvPicPr>
        <p:blipFill>
          <a:blip r:embed="rId4"/>
          <a:stretch>
            <a:fillRect/>
          </a:stretch>
        </p:blipFill>
        <p:spPr>
          <a:xfrm>
            <a:off x="4754880" y="3063240"/>
            <a:ext cx="182880" cy="182880"/>
          </a:xfrm>
          <a:prstGeom prst="rect">
            <a:avLst/>
          </a:prstGeom>
        </p:spPr>
      </p:pic>
      <p:sp>
        <p:nvSpPr>
          <p:cNvPr id="28" name="Text 22"/>
          <p:cNvSpPr txBox="1"/>
          <p:nvPr/>
        </p:nvSpPr>
        <p:spPr>
          <a:xfrm>
            <a:off x="5138928" y="29718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Python &amp; Flask</a:t>
            </a:r>
            <a:endParaRPr lang="en-US" sz="1350" dirty="0"/>
          </a:p>
        </p:txBody>
      </p:sp>
      <p:sp>
        <p:nvSpPr>
          <p:cNvPr id="29" name="Shape 23"/>
          <p:cNvSpPr/>
          <p:nvPr/>
        </p:nvSpPr>
        <p:spPr>
          <a:xfrm>
            <a:off x="4663440" y="3429000"/>
            <a:ext cx="365760" cy="365760"/>
          </a:xfrm>
          <a:prstGeom prst="ellipse">
            <a:avLst/>
          </a:prstGeom>
          <a:solidFill>
            <a:srgbClr val="0E7C86"/>
          </a:solidFill>
          <a:ln w="12700">
            <a:solidFill>
              <a:srgbClr val="0E7C86"/>
            </a:solidFill>
            <a:prstDash val="solid"/>
          </a:ln>
        </p:spPr>
      </p:sp>
      <p:pic>
        <p:nvPicPr>
          <p:cNvPr id="30" name="Image 4" descr="preencoded.png">    </p:cNvPr>
          <p:cNvPicPr>
            <a:picLocks noChangeAspect="1"/>
          </p:cNvPicPr>
          <p:nvPr/>
        </p:nvPicPr>
        <p:blipFill>
          <a:blip r:embed="rId5"/>
          <a:stretch>
            <a:fillRect/>
          </a:stretch>
        </p:blipFill>
        <p:spPr>
          <a:xfrm>
            <a:off x="4754880" y="3520440"/>
            <a:ext cx="182880" cy="182880"/>
          </a:xfrm>
          <a:prstGeom prst="rect">
            <a:avLst/>
          </a:prstGeom>
        </p:spPr>
      </p:pic>
      <p:sp>
        <p:nvSpPr>
          <p:cNvPr id="31" name="Text 24"/>
          <p:cNvSpPr txBox="1"/>
          <p:nvPr/>
        </p:nvSpPr>
        <p:spPr>
          <a:xfrm>
            <a:off x="5138928" y="34290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Testing &amp; Git</a:t>
            </a:r>
            <a:endParaRPr lang="en-US" sz="1350" dirty="0"/>
          </a:p>
        </p:txBody>
      </p:sp>
      <p:sp>
        <p:nvSpPr>
          <p:cNvPr id="32" name="Shape 25"/>
          <p:cNvSpPr/>
          <p:nvPr/>
        </p:nvSpPr>
        <p:spPr>
          <a:xfrm>
            <a:off x="4663440" y="3886200"/>
            <a:ext cx="365760" cy="365760"/>
          </a:xfrm>
          <a:prstGeom prst="ellipse">
            <a:avLst/>
          </a:prstGeom>
          <a:solidFill>
            <a:srgbClr val="3A6EA5"/>
          </a:solidFill>
          <a:ln w="12700">
            <a:solidFill>
              <a:srgbClr val="3A6EA5"/>
            </a:solidFill>
            <a:prstDash val="solid"/>
          </a:ln>
        </p:spPr>
      </p:sp>
      <p:pic>
        <p:nvPicPr>
          <p:cNvPr id="33" name="Image 5" descr="preencoded.png">    </p:cNvPr>
          <p:cNvPicPr>
            <a:picLocks noChangeAspect="1"/>
          </p:cNvPicPr>
          <p:nvPr/>
        </p:nvPicPr>
        <p:blipFill>
          <a:blip r:embed="rId6"/>
          <a:stretch>
            <a:fillRect/>
          </a:stretch>
        </p:blipFill>
        <p:spPr>
          <a:xfrm>
            <a:off x="4754880" y="3977640"/>
            <a:ext cx="182880" cy="182880"/>
          </a:xfrm>
          <a:prstGeom prst="rect">
            <a:avLst/>
          </a:prstGeom>
        </p:spPr>
      </p:pic>
      <p:sp>
        <p:nvSpPr>
          <p:cNvPr id="34" name="Text 26"/>
          <p:cNvSpPr txBox="1"/>
          <p:nvPr/>
        </p:nvSpPr>
        <p:spPr>
          <a:xfrm>
            <a:off x="5138928" y="3886200"/>
            <a:ext cx="3566160" cy="365760"/>
          </a:xfrm>
          <a:prstGeom prst="rect">
            <a:avLst/>
          </a:prstGeom>
          <a:noFill/>
          <a:ln/>
        </p:spPr>
        <p:txBody>
          <a:bodyPr wrap="square" lIns="0" tIns="0" rIns="0" bIns="0" rtlCol="0" anchor="ctr"/>
          <a:lstStyle/>
          <a:p>
            <a:pPr indent="0" marL="0">
              <a:buNone/>
            </a:pPr>
            <a:r>
              <a:rPr lang="en-US" sz="1350" b="1" dirty="0">
                <a:solidFill>
                  <a:schemeClr val="tx1"/>
                </a:solidFill>
              </a:rPr>
              <a:t>Technical writing</a:t>
            </a:r>
            <a:endParaRPr lang="en-US" sz="13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The mini project: problem &amp; aim</a:t>
            </a:r>
            <a:endParaRPr lang="en-US" sz="2800" dirty="0"/>
          </a:p>
        </p:txBody>
      </p:sp>
      <p:sp>
        <p:nvSpPr>
          <p:cNvPr id="3" name="Shape 1"/>
          <p:cNvSpPr/>
          <p:nvPr/>
        </p:nvSpPr>
        <p:spPr>
          <a:xfrm>
            <a:off x="457200" y="1143000"/>
            <a:ext cx="457200" cy="457200"/>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571500" y="1257300"/>
            <a:ext cx="228600" cy="228600"/>
          </a:xfrm>
          <a:prstGeom prst="rect">
            <a:avLst/>
          </a:prstGeom>
        </p:spPr>
      </p:pic>
      <p:sp>
        <p:nvSpPr>
          <p:cNvPr id="5" name="Text 2"/>
          <p:cNvSpPr txBox="1"/>
          <p:nvPr/>
        </p:nvSpPr>
        <p:spPr>
          <a:xfrm>
            <a:off x="1051560" y="1143000"/>
            <a:ext cx="3337560" cy="292608"/>
          </a:xfrm>
          <a:prstGeom prst="rect">
            <a:avLst/>
          </a:prstGeom>
          <a:noFill/>
          <a:ln/>
        </p:spPr>
        <p:txBody>
          <a:bodyPr wrap="square" lIns="0" tIns="0" rIns="0" bIns="0" rtlCol="0" anchor="ctr"/>
          <a:lstStyle/>
          <a:p>
            <a:pPr indent="0" marL="0">
              <a:buNone/>
            </a:pPr>
            <a:r>
              <a:rPr lang="en-US" sz="1400" b="1" dirty="0">
                <a:solidFill>
                  <a:schemeClr val="tx1"/>
                </a:solidFill>
              </a:rPr>
              <a:t>No on-device protection</a:t>
            </a:r>
            <a:endParaRPr lang="en-US" sz="1400" dirty="0"/>
          </a:p>
        </p:txBody>
      </p:sp>
      <p:sp>
        <p:nvSpPr>
          <p:cNvPr id="6" name="Text 3"/>
          <p:cNvSpPr txBox="1"/>
          <p:nvPr/>
        </p:nvSpPr>
        <p:spPr>
          <a:xfrm>
            <a:off x="1051560" y="1435608"/>
            <a:ext cx="3337560" cy="365760"/>
          </a:xfrm>
          <a:prstGeom prst="rect">
            <a:avLst/>
          </a:prstGeom>
          <a:noFill/>
          <a:ln/>
        </p:spPr>
        <p:txBody>
          <a:bodyPr wrap="square" lIns="0" tIns="0" rIns="0" bIns="0" rtlCol="0" anchor="t"/>
          <a:lstStyle/>
          <a:p>
            <a:pPr indent="0" marL="0">
              <a:buNone/>
            </a:pPr>
            <a:r>
              <a:rPr lang="en-US" sz="1150" dirty="0">
                <a:solidFill>
                  <a:schemeClr val="tx2"/>
                </a:solidFill>
              </a:rPr>
              <a:t>IoT devices cannot run security agents.</a:t>
            </a:r>
            <a:endParaRPr lang="en-US" sz="1150" dirty="0"/>
          </a:p>
        </p:txBody>
      </p:sp>
      <p:sp>
        <p:nvSpPr>
          <p:cNvPr id="7" name="Shape 4"/>
          <p:cNvSpPr/>
          <p:nvPr/>
        </p:nvSpPr>
        <p:spPr>
          <a:xfrm>
            <a:off x="457200" y="1929384"/>
            <a:ext cx="457200" cy="457200"/>
          </a:xfrm>
          <a:prstGeom prst="ellipse">
            <a:avLst/>
          </a:prstGeom>
          <a:solidFill>
            <a:srgbClr val="3A6EA5"/>
          </a:solidFill>
          <a:ln w="12700">
            <a:solidFill>
              <a:srgbClr val="3A6EA5"/>
            </a:solidFill>
            <a:prstDash val="solid"/>
          </a:ln>
        </p:spPr>
      </p:sp>
      <p:pic>
        <p:nvPicPr>
          <p:cNvPr id="8" name="Image 1" descr="preencoded.png">    </p:cNvPr>
          <p:cNvPicPr>
            <a:picLocks noChangeAspect="1"/>
          </p:cNvPicPr>
          <p:nvPr/>
        </p:nvPicPr>
        <p:blipFill>
          <a:blip r:embed="rId2"/>
          <a:stretch>
            <a:fillRect/>
          </a:stretch>
        </p:blipFill>
        <p:spPr>
          <a:xfrm>
            <a:off x="571500" y="2043684"/>
            <a:ext cx="228600" cy="228600"/>
          </a:xfrm>
          <a:prstGeom prst="rect">
            <a:avLst/>
          </a:prstGeom>
        </p:spPr>
      </p:pic>
      <p:sp>
        <p:nvSpPr>
          <p:cNvPr id="9" name="Text 5"/>
          <p:cNvSpPr txBox="1"/>
          <p:nvPr/>
        </p:nvSpPr>
        <p:spPr>
          <a:xfrm>
            <a:off x="1051560" y="1929384"/>
            <a:ext cx="3337560" cy="292608"/>
          </a:xfrm>
          <a:prstGeom prst="rect">
            <a:avLst/>
          </a:prstGeom>
          <a:noFill/>
          <a:ln/>
        </p:spPr>
        <p:txBody>
          <a:bodyPr wrap="square" lIns="0" tIns="0" rIns="0" bIns="0" rtlCol="0" anchor="ctr"/>
          <a:lstStyle/>
          <a:p>
            <a:pPr indent="0" marL="0">
              <a:buNone/>
            </a:pPr>
            <a:r>
              <a:rPr lang="en-US" sz="1400" b="1" dirty="0">
                <a:solidFill>
                  <a:schemeClr val="tx1"/>
                </a:solidFill>
              </a:rPr>
              <a:t>Signatures miss new malware</a:t>
            </a:r>
            <a:endParaRPr lang="en-US" sz="1400" dirty="0"/>
          </a:p>
        </p:txBody>
      </p:sp>
      <p:sp>
        <p:nvSpPr>
          <p:cNvPr id="10" name="Text 6"/>
          <p:cNvSpPr txBox="1"/>
          <p:nvPr/>
        </p:nvSpPr>
        <p:spPr>
          <a:xfrm>
            <a:off x="1051560" y="2221992"/>
            <a:ext cx="3337560" cy="365760"/>
          </a:xfrm>
          <a:prstGeom prst="rect">
            <a:avLst/>
          </a:prstGeom>
          <a:noFill/>
          <a:ln/>
        </p:spPr>
        <p:txBody>
          <a:bodyPr wrap="square" lIns="0" tIns="0" rIns="0" bIns="0" rtlCol="0" anchor="t"/>
          <a:lstStyle/>
          <a:p>
            <a:pPr indent="0" marL="0">
              <a:buNone/>
            </a:pPr>
            <a:r>
              <a:rPr lang="en-US" sz="1150" dirty="0">
                <a:solidFill>
                  <a:schemeClr val="tx2"/>
                </a:solidFill>
              </a:rPr>
              <a:t>A Trojan variant slips past them.</a:t>
            </a:r>
            <a:endParaRPr lang="en-US" sz="1150" dirty="0"/>
          </a:p>
        </p:txBody>
      </p:sp>
      <p:sp>
        <p:nvSpPr>
          <p:cNvPr id="11" name="Shape 7"/>
          <p:cNvSpPr/>
          <p:nvPr/>
        </p:nvSpPr>
        <p:spPr>
          <a:xfrm>
            <a:off x="457200" y="2715768"/>
            <a:ext cx="457200" cy="457200"/>
          </a:xfrm>
          <a:prstGeom prst="ellipse">
            <a:avLst/>
          </a:prstGeom>
          <a:solidFill>
            <a:srgbClr val="0E7C86"/>
          </a:solidFill>
          <a:ln w="12700">
            <a:solidFill>
              <a:srgbClr val="0E7C86"/>
            </a:solidFill>
            <a:prstDash val="solid"/>
          </a:ln>
        </p:spPr>
      </p:sp>
      <p:pic>
        <p:nvPicPr>
          <p:cNvPr id="12" name="Image 2" descr="preencoded.png">    </p:cNvPr>
          <p:cNvPicPr>
            <a:picLocks noChangeAspect="1"/>
          </p:cNvPicPr>
          <p:nvPr/>
        </p:nvPicPr>
        <p:blipFill>
          <a:blip r:embed="rId3"/>
          <a:stretch>
            <a:fillRect/>
          </a:stretch>
        </p:blipFill>
        <p:spPr>
          <a:xfrm>
            <a:off x="571500" y="2830068"/>
            <a:ext cx="228600" cy="228600"/>
          </a:xfrm>
          <a:prstGeom prst="rect">
            <a:avLst/>
          </a:prstGeom>
        </p:spPr>
      </p:pic>
      <p:sp>
        <p:nvSpPr>
          <p:cNvPr id="13" name="Text 8"/>
          <p:cNvSpPr txBox="1"/>
          <p:nvPr/>
        </p:nvSpPr>
        <p:spPr>
          <a:xfrm>
            <a:off x="1051560" y="2715768"/>
            <a:ext cx="3337560" cy="292608"/>
          </a:xfrm>
          <a:prstGeom prst="rect">
            <a:avLst/>
          </a:prstGeom>
          <a:noFill/>
          <a:ln/>
        </p:spPr>
        <p:txBody>
          <a:bodyPr wrap="square" lIns="0" tIns="0" rIns="0" bIns="0" rtlCol="0" anchor="ctr"/>
          <a:lstStyle/>
          <a:p>
            <a:pPr indent="0" marL="0">
              <a:buNone/>
            </a:pPr>
            <a:r>
              <a:rPr lang="en-US" sz="1400" b="1" dirty="0">
                <a:solidFill>
                  <a:schemeClr val="tx1"/>
                </a:solidFill>
              </a:rPr>
              <a:t>Healthy traffic looks regular too</a:t>
            </a:r>
            <a:endParaRPr lang="en-US" sz="1400" dirty="0"/>
          </a:p>
        </p:txBody>
      </p:sp>
      <p:sp>
        <p:nvSpPr>
          <p:cNvPr id="14" name="Text 9"/>
          <p:cNvSpPr txBox="1"/>
          <p:nvPr/>
        </p:nvSpPr>
        <p:spPr>
          <a:xfrm>
            <a:off x="1051560" y="3008376"/>
            <a:ext cx="3337560" cy="365760"/>
          </a:xfrm>
          <a:prstGeom prst="rect">
            <a:avLst/>
          </a:prstGeom>
          <a:noFill/>
          <a:ln/>
        </p:spPr>
        <p:txBody>
          <a:bodyPr wrap="square" lIns="0" tIns="0" rIns="0" bIns="0" rtlCol="0" anchor="t"/>
          <a:lstStyle/>
          <a:p>
            <a:pPr indent="0" marL="0">
              <a:buNone/>
            </a:pPr>
            <a:r>
              <a:rPr lang="en-US" sz="1150" dirty="0">
                <a:solidFill>
                  <a:schemeClr val="tx2"/>
                </a:solidFill>
              </a:rPr>
              <a:t>"Regular = suspicious" causes false alarms.</a:t>
            </a:r>
            <a:endParaRPr lang="en-US" sz="1150" dirty="0"/>
          </a:p>
        </p:txBody>
      </p:sp>
      <p:sp>
        <p:nvSpPr>
          <p:cNvPr id="15" name="Shape 10"/>
          <p:cNvSpPr/>
          <p:nvPr/>
        </p:nvSpPr>
        <p:spPr>
          <a:xfrm>
            <a:off x="457200" y="3502152"/>
            <a:ext cx="457200" cy="457200"/>
          </a:xfrm>
          <a:prstGeom prst="ellipse">
            <a:avLst/>
          </a:prstGeom>
          <a:solidFill>
            <a:srgbClr val="3A6EA5"/>
          </a:solidFill>
          <a:ln w="12700">
            <a:solidFill>
              <a:srgbClr val="3A6EA5"/>
            </a:solidFill>
            <a:prstDash val="solid"/>
          </a:ln>
        </p:spPr>
      </p:sp>
      <p:pic>
        <p:nvPicPr>
          <p:cNvPr id="16" name="Image 3" descr="preencoded.png">    </p:cNvPr>
          <p:cNvPicPr>
            <a:picLocks noChangeAspect="1"/>
          </p:cNvPicPr>
          <p:nvPr/>
        </p:nvPicPr>
        <p:blipFill>
          <a:blip r:embed="rId4"/>
          <a:stretch>
            <a:fillRect/>
          </a:stretch>
        </p:blipFill>
        <p:spPr>
          <a:xfrm>
            <a:off x="571500" y="3616452"/>
            <a:ext cx="228600" cy="228600"/>
          </a:xfrm>
          <a:prstGeom prst="rect">
            <a:avLst/>
          </a:prstGeom>
        </p:spPr>
      </p:pic>
      <p:sp>
        <p:nvSpPr>
          <p:cNvPr id="17" name="Text 11"/>
          <p:cNvSpPr txBox="1"/>
          <p:nvPr/>
        </p:nvSpPr>
        <p:spPr>
          <a:xfrm>
            <a:off x="1051560" y="3502152"/>
            <a:ext cx="3337560" cy="292608"/>
          </a:xfrm>
          <a:prstGeom prst="rect">
            <a:avLst/>
          </a:prstGeom>
          <a:noFill/>
          <a:ln/>
        </p:spPr>
        <p:txBody>
          <a:bodyPr wrap="square" lIns="0" tIns="0" rIns="0" bIns="0" rtlCol="0" anchor="ctr"/>
          <a:lstStyle/>
          <a:p>
            <a:pPr indent="0" marL="0">
              <a:buNone/>
            </a:pPr>
            <a:r>
              <a:rPr lang="en-US" sz="1400" b="1" dirty="0">
                <a:solidFill>
                  <a:schemeClr val="tx1"/>
                </a:solidFill>
              </a:rPr>
              <a:t>Testing must be safe</a:t>
            </a:r>
            <a:endParaRPr lang="en-US" sz="1400" dirty="0"/>
          </a:p>
        </p:txBody>
      </p:sp>
      <p:sp>
        <p:nvSpPr>
          <p:cNvPr id="18" name="Text 12"/>
          <p:cNvSpPr txBox="1"/>
          <p:nvPr/>
        </p:nvSpPr>
        <p:spPr>
          <a:xfrm>
            <a:off x="1051560" y="3794760"/>
            <a:ext cx="3337560" cy="365760"/>
          </a:xfrm>
          <a:prstGeom prst="rect">
            <a:avLst/>
          </a:prstGeom>
          <a:noFill/>
          <a:ln/>
        </p:spPr>
        <p:txBody>
          <a:bodyPr wrap="square" lIns="0" tIns="0" rIns="0" bIns="0" rtlCol="0" anchor="t"/>
          <a:lstStyle/>
          <a:p>
            <a:pPr indent="0" marL="0">
              <a:buNone/>
            </a:pPr>
            <a:r>
              <a:rPr lang="en-US" sz="1150" dirty="0">
                <a:solidFill>
                  <a:schemeClr val="tx2"/>
                </a:solidFill>
              </a:rPr>
              <a:t>No real malware, no risk to a real network.</a:t>
            </a:r>
            <a:endParaRPr lang="en-US" sz="1150" dirty="0"/>
          </a:p>
        </p:txBody>
      </p:sp>
      <p:sp>
        <p:nvSpPr>
          <p:cNvPr id="19" name="Aim card"/>
          <p:cNvSpPr/>
          <p:nvPr/>
        </p:nvSpPr>
        <p:spPr>
          <a:xfrm>
            <a:off x="4663440" y="1143000"/>
            <a:ext cx="4023360" cy="3154680"/>
          </a:xfrm>
          <a:prstGeom prst="rect">
            <a:avLst/>
          </a:prstGeom>
          <a:solidFill>
            <a:schemeClr val="accent1"/>
          </a:solidFill>
          <a:ln w="12700">
            <a:solidFill>
              <a:schemeClr val="accent1"/>
            </a:solidFill>
            <a:prstDash val="solid"/>
          </a:ln>
        </p:spPr>
      </p:sp>
      <p:sp>
        <p:nvSpPr>
          <p:cNvPr id="20" name="Text 14"/>
          <p:cNvSpPr txBox="1"/>
          <p:nvPr/>
        </p:nvSpPr>
        <p:spPr>
          <a:xfrm>
            <a:off x="4892040" y="1261872"/>
            <a:ext cx="3566160" cy="329184"/>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Aim</a:t>
            </a:r>
            <a:endParaRPr lang="en-US" sz="1700" dirty="0"/>
          </a:p>
        </p:txBody>
      </p:sp>
      <p:sp>
        <p:nvSpPr>
          <p:cNvPr id="21" name="Text 15"/>
          <p:cNvSpPr txBox="1"/>
          <p:nvPr/>
        </p:nvSpPr>
        <p:spPr>
          <a:xfrm>
            <a:off x="4892040" y="1609344"/>
            <a:ext cx="3566160" cy="914400"/>
          </a:xfrm>
          <a:prstGeom prst="rect">
            <a:avLst/>
          </a:prstGeom>
          <a:noFill/>
          <a:ln/>
        </p:spPr>
        <p:txBody>
          <a:bodyPr wrap="square" lIns="0" tIns="0" rIns="0" bIns="0" rtlCol="0" anchor="t"/>
          <a:lstStyle/>
          <a:p>
            <a:pPr indent="0" marL="0">
              <a:buNone/>
            </a:pPr>
            <a:r>
              <a:rPr lang="en-US" sz="1200" dirty="0">
                <a:solidFill>
                  <a:schemeClr val="bg1"/>
                </a:solidFill>
              </a:rPr>
              <a:t>Design, implement and test a lightweight, agentless system that detects Trojan-like behaviour on IoT devices from network flows, explains each finding, and supports containment.</a:t>
            </a:r>
            <a:endParaRPr lang="en-US" sz="1200" dirty="0"/>
          </a:p>
        </p:txBody>
      </p:sp>
      <p:sp>
        <p:nvSpPr>
          <p:cNvPr id="22" name="Text 16"/>
          <p:cNvSpPr txBox="1"/>
          <p:nvPr/>
        </p:nvSpPr>
        <p:spPr>
          <a:xfrm>
            <a:off x="4892040" y="2606040"/>
            <a:ext cx="3566160" cy="1627632"/>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bg1"/>
                </a:solidFill>
              </a:rPr>
              <a:t>Detect known-bad contacts, odd ports, beaconing, scans &amp; large transfers</a:t>
            </a:r>
            <a:endParaRPr lang="en-US" sz="1150" dirty="0"/>
          </a:p>
          <a:p>
            <a:pPr marL="342900" indent="-342900">
              <a:spcAft>
                <a:spcPts val="600"/>
              </a:spcAft>
              <a:buSzPct val="100000"/>
              <a:buChar char="•"/>
            </a:pPr>
            <a:r>
              <a:rPr lang="en-US" sz="1150" dirty="0">
                <a:solidFill>
                  <a:schemeClr val="bg1"/>
                </a:solidFill>
              </a:rPr>
              <a:t>Use a per-device baseline so legitimate traffic is never reported</a:t>
            </a:r>
            <a:endParaRPr lang="en-US" sz="1150" dirty="0"/>
          </a:p>
          <a:p>
            <a:pPr marL="342900" indent="-342900">
              <a:spcAft>
                <a:spcPts val="600"/>
              </a:spcAft>
              <a:buSzPct val="100000"/>
              <a:buChar char="•"/>
            </a:pPr>
            <a:r>
              <a:rPr lang="en-US" sz="1150" dirty="0">
                <a:solidFill>
                  <a:schemeClr val="bg1"/>
                </a:solidFill>
              </a:rPr>
              <a:t>Map findings to MITRE ATT&amp;CK with a 0-100 risk score</a:t>
            </a:r>
            <a:endParaRPr lang="en-US" sz="1150" dirty="0"/>
          </a:p>
          <a:p>
            <a:pPr marL="342900" indent="-342900">
              <a:spcAft>
                <a:spcPts val="600"/>
              </a:spcAft>
              <a:buSzPct val="100000"/>
              <a:buChar char="•"/>
            </a:pPr>
            <a:r>
              <a:rPr lang="en-US" sz="1150" dirty="0">
                <a:solidFill>
                  <a:schemeClr val="bg1"/>
                </a:solidFill>
              </a:rPr>
              <a:t>Verify with automated, positive, negative and lab tests</a:t>
            </a:r>
            <a:endParaRPr lang="en-US" sz="11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How it works, and the lab architecture</a:t>
            </a:r>
            <a:endParaRPr lang="en-US" sz="2800" dirty="0"/>
          </a:p>
        </p:txBody>
      </p:sp>
      <p:pic>
        <p:nvPicPr>
          <p:cNvPr id="3" name="Image 0" descr="Detection pipeline: flow CSV, parse, baseline, detect, score, JSON to UI">    </p:cNvPr>
          <p:cNvPicPr>
            <a:picLocks noChangeAspect="1"/>
          </p:cNvPicPr>
          <p:nvPr/>
        </p:nvPicPr>
        <p:blipFill>
          <a:blip r:embed="rId1"/>
          <a:stretch>
            <a:fillRect/>
          </a:stretch>
        </p:blipFill>
        <p:spPr>
          <a:xfrm>
            <a:off x="457200" y="1097280"/>
            <a:ext cx="8229600" cy="1275768"/>
          </a:xfrm>
          <a:prstGeom prst="rect">
            <a:avLst/>
          </a:prstGeom>
        </p:spPr>
      </p:pic>
      <p:pic>
        <p:nvPicPr>
          <p:cNvPr id="4" name="Image 1" descr="Architecture of the laboratory and detector">    </p:cNvPr>
          <p:cNvPicPr>
            <a:picLocks noChangeAspect="1"/>
          </p:cNvPicPr>
          <p:nvPr/>
        </p:nvPicPr>
        <p:blipFill>
          <a:blip r:embed="rId2"/>
          <a:stretch>
            <a:fillRect/>
          </a:stretch>
        </p:blipFill>
        <p:spPr>
          <a:xfrm>
            <a:off x="457200" y="2514600"/>
            <a:ext cx="4297680" cy="1951785"/>
          </a:xfrm>
          <a:prstGeom prst="rect">
            <a:avLst/>
          </a:prstGeom>
        </p:spPr>
      </p:pic>
      <p:sp>
        <p:nvSpPr>
          <p:cNvPr id="5" name="Text 1"/>
          <p:cNvSpPr txBox="1"/>
          <p:nvPr/>
        </p:nvSpPr>
        <p:spPr>
          <a:xfrm>
            <a:off x="4937760" y="2560320"/>
            <a:ext cx="374904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chemeClr val="tx1"/>
                </a:solidFill>
              </a:rPr>
              <a:t>Parse the CSV, then compare each flow with a per-device baseline</a:t>
            </a:r>
            <a:endParaRPr lang="en-US" sz="1250" dirty="0"/>
          </a:p>
          <a:p>
            <a:pPr marL="342900" indent="-342900">
              <a:spcAft>
                <a:spcPts val="700"/>
              </a:spcAft>
              <a:buSzPct val="100000"/>
              <a:buChar char="•"/>
            </a:pPr>
            <a:r>
              <a:rPr lang="en-US" sz="1250" dirty="0">
                <a:solidFill>
                  <a:schemeClr val="tx1"/>
                </a:solidFill>
              </a:rPr>
              <a:t>Score and report: findings carry severity &amp; ATT&amp;CK, 0-100 per device</a:t>
            </a:r>
            <a:endParaRPr lang="en-US" sz="1250" dirty="0"/>
          </a:p>
          <a:p>
            <a:pPr marL="342900" indent="-342900">
              <a:spcAft>
                <a:spcPts val="700"/>
              </a:spcAft>
              <a:buSzPct val="100000"/>
              <a:buChar char="•"/>
            </a:pPr>
            <a:r>
              <a:rPr lang="en-US" sz="1250" dirty="0">
                <a:solidFill>
                  <a:schemeClr val="tx1"/>
                </a:solidFill>
              </a:rPr>
              <a:t>Lab network is internal -- no route to the internet</a:t>
            </a:r>
            <a:endParaRPr lang="en-US" sz="1250" dirty="0"/>
          </a:p>
          <a:p>
            <a:pPr marL="342900" indent="-342900">
              <a:spcAft>
                <a:spcPts val="700"/>
              </a:spcAft>
              <a:buSzPct val="100000"/>
              <a:buChar char="•"/>
            </a:pPr>
            <a:r>
              <a:rPr lang="en-US" sz="1250" dirty="0">
                <a:solidFill>
                  <a:schemeClr val="tx1"/>
                </a:solidFill>
              </a:rPr>
              <a:t>Harmless: EICAR test string, fake C2, no real payload</a:t>
            </a:r>
            <a:endParaRPr lang="en-US" sz="12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bg1"/>
                </a:solidFill>
              </a:rPr>
              <a:t>Watch an infection happen</a:t>
            </a:r>
            <a:endParaRPr lang="en-US" sz="2800" dirty="0"/>
          </a:p>
        </p:txBody>
      </p:sp>
      <p:pic>
        <p:nvPicPr>
          <p:cNvPr id="3" name="Image 0" descr="Clean camera feed">    </p:cNvPr>
          <p:cNvPicPr>
            <a:picLocks noChangeAspect="1"/>
          </p:cNvPicPr>
          <p:nvPr/>
        </p:nvPicPr>
        <p:blipFill>
          <a:blip r:embed="rId1"/>
          <a:stretch>
            <a:fillRect/>
          </a:stretch>
        </p:blipFill>
        <p:spPr>
          <a:xfrm>
            <a:off x="457200" y="1143000"/>
            <a:ext cx="3657600" cy="2057400"/>
          </a:xfrm>
          <a:prstGeom prst="rect">
            <a:avLst/>
          </a:prstGeom>
        </p:spPr>
      </p:pic>
      <p:pic>
        <p:nvPicPr>
          <p:cNvPr id="4" name="Image 1" descr="Infected camera feed, glitching, showing fake hacker activity">    </p:cNvPr>
          <p:cNvPicPr>
            <a:picLocks noChangeAspect="1"/>
          </p:cNvPicPr>
          <p:nvPr/>
        </p:nvPicPr>
        <p:blipFill>
          <a:blip r:embed="rId2"/>
          <a:stretch>
            <a:fillRect/>
          </a:stretch>
        </p:blipFill>
        <p:spPr>
          <a:xfrm>
            <a:off x="4663440" y="1143000"/>
            <a:ext cx="3657600" cy="2057400"/>
          </a:xfrm>
          <a:prstGeom prst="rect">
            <a:avLst/>
          </a:prstGeom>
        </p:spPr>
      </p:pic>
      <p:sp>
        <p:nvSpPr>
          <p:cNvPr id="5" name="Text 1"/>
          <p:cNvSpPr txBox="1"/>
          <p:nvPr/>
        </p:nvSpPr>
        <p:spPr>
          <a:xfrm>
            <a:off x="457200" y="3310128"/>
            <a:ext cx="3657600" cy="292608"/>
          </a:xfrm>
          <a:prstGeom prst="rect">
            <a:avLst/>
          </a:prstGeom>
          <a:noFill/>
          <a:ln/>
        </p:spPr>
        <p:txBody>
          <a:bodyPr wrap="square" lIns="0" tIns="0" rIns="0" bIns="0" rtlCol="0" anchor="ctr"/>
          <a:lstStyle/>
          <a:p>
            <a:pPr algn="ctr" indent="0" marL="0">
              <a:buNone/>
            </a:pPr>
            <a:r>
              <a:rPr lang="en-US" sz="1300" b="1" dirty="0">
                <a:solidFill>
                  <a:schemeClr val="bg1"/>
                </a:solidFill>
              </a:rPr>
              <a:t>Before: normal video</a:t>
            </a:r>
            <a:endParaRPr lang="en-US" sz="1300" dirty="0"/>
          </a:p>
        </p:txBody>
      </p:sp>
      <p:sp>
        <p:nvSpPr>
          <p:cNvPr id="6" name="Text 2"/>
          <p:cNvSpPr txBox="1"/>
          <p:nvPr/>
        </p:nvSpPr>
        <p:spPr>
          <a:xfrm>
            <a:off x="4663440" y="3310128"/>
            <a:ext cx="3657600" cy="292608"/>
          </a:xfrm>
          <a:prstGeom prst="rect">
            <a:avLst/>
          </a:prstGeom>
          <a:noFill/>
          <a:ln/>
        </p:spPr>
        <p:txBody>
          <a:bodyPr wrap="square" lIns="0" tIns="0" rIns="0" bIns="0" rtlCol="0" anchor="ctr"/>
          <a:lstStyle/>
          <a:p>
            <a:pPr algn="ctr" indent="0" marL="0">
              <a:buNone/>
            </a:pPr>
            <a:r>
              <a:rPr lang="en-US" sz="1300" b="1" dirty="0">
                <a:solidFill>
                  <a:schemeClr val="bg2"/>
                </a:solidFill>
              </a:rPr>
              <a:t>After: feed glitches, virus activity overlaid</a:t>
            </a:r>
            <a:endParaRPr lang="en-US" sz="1300" dirty="0"/>
          </a:p>
        </p:txBody>
      </p:sp>
      <p:sp>
        <p:nvSpPr>
          <p:cNvPr id="7" name="Text 3"/>
          <p:cNvSpPr txBox="1"/>
          <p:nvPr/>
        </p:nvSpPr>
        <p:spPr>
          <a:xfrm>
            <a:off x="457200" y="3703320"/>
            <a:ext cx="8229600" cy="457200"/>
          </a:xfrm>
          <a:prstGeom prst="rect">
            <a:avLst/>
          </a:prstGeom>
          <a:noFill/>
          <a:ln/>
        </p:spPr>
        <p:txBody>
          <a:bodyPr wrap="square" lIns="0" tIns="0" rIns="0" bIns="0" rtlCol="0" anchor="t"/>
          <a:lstStyle/>
          <a:p>
            <a:pPr indent="0" marL="0">
              <a:buNone/>
            </a:pPr>
            <a:r>
              <a:rPr lang="en-US" sz="1250" dirty="0">
                <a:solidFill>
                  <a:schemeClr val="bg2"/>
                </a:solidFill>
              </a:rPr>
              <a:t>A new camera, "cam-vault", starts already infected. Its picture visibly breaks up and shows the virus's real activity -- so an audience can SEE the infection.</a:t>
            </a:r>
            <a:endParaRPr lang="en-US" sz="1250" dirty="0"/>
          </a:p>
        </p:txBody>
      </p:sp>
      <p:sp>
        <p:nvSpPr>
          <p:cNvPr id="8" name="Shape 4"/>
          <p:cNvSpPr/>
          <p:nvPr/>
        </p:nvSpPr>
        <p:spPr>
          <a:xfrm>
            <a:off x="457200" y="4224528"/>
            <a:ext cx="1901952" cy="384048"/>
          </a:xfrm>
          <a:prstGeom prst="roundRect">
            <a:avLst>
              <a:gd name="adj" fmla="val 23810"/>
            </a:avLst>
          </a:prstGeom>
          <a:solidFill>
            <a:srgbClr val="0E7C86"/>
          </a:solidFill>
          <a:ln w="12700">
            <a:solidFill>
              <a:srgbClr val="0E7C86"/>
            </a:solidFill>
            <a:prstDash val="solid"/>
          </a:ln>
        </p:spPr>
      </p:sp>
      <p:sp>
        <p:nvSpPr>
          <p:cNvPr id="9" name="Text 5"/>
          <p:cNvSpPr txBox="1"/>
          <p:nvPr/>
        </p:nvSpPr>
        <p:spPr>
          <a:xfrm>
            <a:off x="457200" y="4224528"/>
            <a:ext cx="1901952" cy="384048"/>
          </a:xfrm>
          <a:prstGeom prst="rect">
            <a:avLst/>
          </a:prstGeom>
          <a:noFill/>
          <a:ln/>
        </p:spPr>
        <p:txBody>
          <a:bodyPr wrap="square" lIns="0" tIns="0" rIns="0" bIns="0" rtlCol="0" anchor="ctr"/>
          <a:lstStyle/>
          <a:p>
            <a:pPr algn="ctr" indent="0" marL="0">
              <a:buNone/>
            </a:pPr>
            <a:r>
              <a:rPr lang="en-US" sz="1100" b="1" dirty="0">
                <a:solidFill>
                  <a:schemeClr val="bg1"/>
                </a:solidFill>
              </a:rPr>
              <a:t>Windows support</a:t>
            </a:r>
            <a:endParaRPr lang="en-US" sz="1100" dirty="0"/>
          </a:p>
        </p:txBody>
      </p:sp>
      <p:sp>
        <p:nvSpPr>
          <p:cNvPr id="10" name="Shape 6"/>
          <p:cNvSpPr/>
          <p:nvPr/>
        </p:nvSpPr>
        <p:spPr>
          <a:xfrm>
            <a:off x="2542032" y="4224528"/>
            <a:ext cx="1901952" cy="384048"/>
          </a:xfrm>
          <a:prstGeom prst="roundRect">
            <a:avLst>
              <a:gd name="adj" fmla="val 23810"/>
            </a:avLst>
          </a:prstGeom>
          <a:solidFill>
            <a:srgbClr val="0E7C86"/>
          </a:solidFill>
          <a:ln w="12700">
            <a:solidFill>
              <a:srgbClr val="0E7C86"/>
            </a:solidFill>
            <a:prstDash val="solid"/>
          </a:ln>
        </p:spPr>
      </p:sp>
      <p:sp>
        <p:nvSpPr>
          <p:cNvPr id="11" name="Text 7"/>
          <p:cNvSpPr txBox="1"/>
          <p:nvPr/>
        </p:nvSpPr>
        <p:spPr>
          <a:xfrm>
            <a:off x="2542032" y="4224528"/>
            <a:ext cx="1901952" cy="384048"/>
          </a:xfrm>
          <a:prstGeom prst="rect">
            <a:avLst/>
          </a:prstGeom>
          <a:noFill/>
          <a:ln/>
        </p:spPr>
        <p:txBody>
          <a:bodyPr wrap="square" lIns="0" tIns="0" rIns="0" bIns="0" rtlCol="0" anchor="ctr"/>
          <a:lstStyle/>
          <a:p>
            <a:pPr algn="ctr" indent="0" marL="0">
              <a:buNone/>
            </a:pPr>
            <a:r>
              <a:rPr lang="en-US" sz="1100" b="1" dirty="0">
                <a:solidFill>
                  <a:schemeClr val="bg1"/>
                </a:solidFill>
              </a:rPr>
              <a:t>Live streaming video</a:t>
            </a:r>
            <a:endParaRPr lang="en-US" sz="1100" dirty="0"/>
          </a:p>
        </p:txBody>
      </p:sp>
      <p:sp>
        <p:nvSpPr>
          <p:cNvPr id="12" name="Shape 8"/>
          <p:cNvSpPr/>
          <p:nvPr/>
        </p:nvSpPr>
        <p:spPr>
          <a:xfrm>
            <a:off x="4626864" y="4224528"/>
            <a:ext cx="1901952" cy="384048"/>
          </a:xfrm>
          <a:prstGeom prst="roundRect">
            <a:avLst>
              <a:gd name="adj" fmla="val 23810"/>
            </a:avLst>
          </a:prstGeom>
          <a:solidFill>
            <a:srgbClr val="0E7C86"/>
          </a:solidFill>
          <a:ln w="12700">
            <a:solidFill>
              <a:srgbClr val="0E7C86"/>
            </a:solidFill>
            <a:prstDash val="solid"/>
          </a:ln>
        </p:spPr>
      </p:sp>
      <p:sp>
        <p:nvSpPr>
          <p:cNvPr id="13" name="Text 9"/>
          <p:cNvSpPr txBox="1"/>
          <p:nvPr/>
        </p:nvSpPr>
        <p:spPr>
          <a:xfrm>
            <a:off x="4626864" y="4224528"/>
            <a:ext cx="1901952" cy="384048"/>
          </a:xfrm>
          <a:prstGeom prst="rect">
            <a:avLst/>
          </a:prstGeom>
          <a:noFill/>
          <a:ln/>
        </p:spPr>
        <p:txBody>
          <a:bodyPr wrap="square" lIns="0" tIns="0" rIns="0" bIns="0" rtlCol="0" anchor="ctr"/>
          <a:lstStyle/>
          <a:p>
            <a:pPr algn="ctr" indent="0" marL="0">
              <a:buNone/>
            </a:pPr>
            <a:r>
              <a:rPr lang="en-US" sz="1100" b="1" dirty="0">
                <a:solidFill>
                  <a:schemeClr val="bg1"/>
                </a:solidFill>
              </a:rPr>
              <a:t>Pre-infected camera</a:t>
            </a:r>
            <a:endParaRPr lang="en-US" sz="1100" dirty="0"/>
          </a:p>
        </p:txBody>
      </p:sp>
      <p:sp>
        <p:nvSpPr>
          <p:cNvPr id="14" name="Shape 10"/>
          <p:cNvSpPr/>
          <p:nvPr/>
        </p:nvSpPr>
        <p:spPr>
          <a:xfrm>
            <a:off x="6711696" y="4224528"/>
            <a:ext cx="1901952" cy="384048"/>
          </a:xfrm>
          <a:prstGeom prst="roundRect">
            <a:avLst>
              <a:gd name="adj" fmla="val 23810"/>
            </a:avLst>
          </a:prstGeom>
          <a:solidFill>
            <a:srgbClr val="0E7C86"/>
          </a:solidFill>
          <a:ln w="12700">
            <a:solidFill>
              <a:srgbClr val="0E7C86"/>
            </a:solidFill>
            <a:prstDash val="solid"/>
          </a:ln>
        </p:spPr>
      </p:sp>
      <p:sp>
        <p:nvSpPr>
          <p:cNvPr id="15" name="Text 11"/>
          <p:cNvSpPr txBox="1"/>
          <p:nvPr/>
        </p:nvSpPr>
        <p:spPr>
          <a:xfrm>
            <a:off x="6711696" y="4224528"/>
            <a:ext cx="1901952" cy="384048"/>
          </a:xfrm>
          <a:prstGeom prst="rect">
            <a:avLst/>
          </a:prstGeom>
          <a:noFill/>
          <a:ln/>
        </p:spPr>
        <p:txBody>
          <a:bodyPr wrap="square" lIns="0" tIns="0" rIns="0" bIns="0" rtlCol="0" anchor="ctr"/>
          <a:lstStyle/>
          <a:p>
            <a:pPr algn="ctr" indent="0" marL="0">
              <a:buNone/>
            </a:pPr>
            <a:r>
              <a:rPr lang="en-US" sz="1100" b="1" dirty="0">
                <a:solidFill>
                  <a:schemeClr val="bg1"/>
                </a:solidFill>
              </a:rPr>
              <a:t>Ready to host online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Detection rules &amp; scoring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206240"/>
                <a:gridCol w="1097280"/>
                <a:gridCol w="1371600"/>
              </a:tblGrid>
              <a:tr h="292608">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Rule</a:t>
                      </a:r>
                      <a:endParaRPr lang="en-US" sz="11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Fires when</a:t>
                      </a:r>
                      <a:endParaRPr lang="en-US" sz="11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algn="ctr" indent="0" marL="0">
                        <a:buNone/>
                      </a:pPr>
                      <a:r>
                        <a:rPr lang="en-US" sz="1150" b="1" dirty="0">
                          <a:solidFill>
                            <a:schemeClr val="bg1"/>
                          </a:solidFill>
                          <a:latin typeface="Calibri" pitchFamily="34" charset="0"/>
                          <a:ea typeface="Calibri" pitchFamily="34" charset="-122"/>
                          <a:cs typeface="Calibri" pitchFamily="34" charset="-120"/>
                        </a:rPr>
                        <a:t>Severity</a:t>
                      </a:r>
                      <a:endParaRPr lang="en-US" sz="11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c>
                  <a:txBody>
                    <a:bodyPr/>
                    <a:lstStyle/>
                    <a:p>
                      <a:pPr algn="ctr" indent="0" marL="0">
                        <a:buNone/>
                      </a:pPr>
                      <a:r>
                        <a:rPr lang="en-US" sz="1150" b="1" dirty="0">
                          <a:solidFill>
                            <a:schemeClr val="bg1"/>
                          </a:solidFill>
                          <a:latin typeface="Calibri" pitchFamily="34" charset="0"/>
                          <a:ea typeface="Calibri" pitchFamily="34" charset="-122"/>
                          <a:cs typeface="Calibri" pitchFamily="34" charset="-120"/>
                        </a:rPr>
                        <a:t>ATT&amp;CK</a:t>
                      </a:r>
                      <a:endParaRPr lang="en-US" sz="11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solidFill>
                      <a:srgbClr val="12385C"/>
                    </a:solidFill>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Known-bad IP</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Contact with a threat-intelligence listed address</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E4572E"/>
                          </a:solidFill>
                          <a:latin typeface="Calibri" pitchFamily="34" charset="0"/>
                          <a:ea typeface="Calibri" pitchFamily="34" charset="-122"/>
                          <a:cs typeface="Calibri" pitchFamily="34" charset="-120"/>
                        </a:rPr>
                        <a:t>Critical</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T1071</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Suspicious port</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Ports such as 23, 4444, 6667, 31337</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E4572E"/>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T1571</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Unusual port</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Port outside the baseline / camera defaults</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8A5A00"/>
                          </a:solidFill>
                          <a:latin typeface="Calibri" pitchFamily="34" charset="0"/>
                          <a:ea typeface="Calibri" pitchFamily="34" charset="-122"/>
                          <a:cs typeface="Calibri" pitchFamily="34" charset="-120"/>
                        </a:rPr>
                        <a:t>Medium</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T1571</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Beaconing</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6+ flows, jitter CV &lt;= 0.25, new peer</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E4572E"/>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T1029</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Scan burst</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10+ hosts/ports within 60 s</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E4572E"/>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T1018/T1046</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r h="292608">
                <a:tc>
                  <a:txBody>
                    <a:bodyPr/>
                    <a:lstStyle/>
                    <a:p>
                      <a:pPr indent="0" marL="0">
                        <a:buNone/>
                      </a:pPr>
                      <a:r>
                        <a:rPr lang="en-US" sz="1050" b="1" dirty="0">
                          <a:solidFill>
                            <a:srgbClr val="0B1F33"/>
                          </a:solidFill>
                          <a:latin typeface="Calibri" pitchFamily="34" charset="0"/>
                          <a:ea typeface="Calibri" pitchFamily="34" charset="-122"/>
                          <a:cs typeface="Calibri" pitchFamily="34" charset="-120"/>
                        </a:rPr>
                        <a:t>Large transfer</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indent="0" marL="0">
                        <a:buNone/>
                      </a:pPr>
                      <a:r>
                        <a:rPr lang="en-US" sz="1050" dirty="0">
                          <a:solidFill>
                            <a:srgbClr val="0B1F33"/>
                          </a:solidFill>
                          <a:latin typeface="Calibri" pitchFamily="34" charset="0"/>
                          <a:ea typeface="Calibri" pitchFamily="34" charset="-122"/>
                          <a:cs typeface="Calibri" pitchFamily="34" charset="-120"/>
                        </a:rPr>
                        <a:t>5 MB+ to one external address</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b="1" dirty="0">
                          <a:solidFill>
                            <a:srgbClr val="E4572E"/>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c>
                  <a:txBody>
                    <a:bodyPr/>
                    <a:lstStyle/>
                    <a:p>
                      <a:pPr algn="ctr" indent="0" marL="0">
                        <a:buNone/>
                      </a:pPr>
                      <a:r>
                        <a:rPr lang="en-US" sz="1050" dirty="0">
                          <a:solidFill>
                            <a:srgbClr val="0B1F33"/>
                          </a:solidFill>
                          <a:latin typeface="Calibri" pitchFamily="34" charset="0"/>
                          <a:ea typeface="Calibri" pitchFamily="34" charset="-122"/>
                          <a:cs typeface="Calibri" pitchFamily="34" charset="-120"/>
                        </a:rPr>
                        <a:t>T1041</a:t>
                      </a:r>
                      <a:endParaRPr lang="en-US" sz="1050" dirty="0">
                        <a:latin typeface="Calibri" charset="0"/>
                        <a:ea typeface="Calibri" charset="0"/>
                        <a:cs typeface="Calibri" charset="0"/>
                      </a:endParaRPr>
                    </a:p>
                  </a:txBody>
                  <a:tcPr marL="73152" marR="73152" marT="0" marB="0" anchor="ctr">
                    <a:lnL w="6350" cap="flat" cmpd="sng" algn="ctr">
                      <a:solidFill>
                        <a:srgbClr val="C5D0DC"/>
                      </a:solidFill>
                      <a:prstDash val="solid"/>
                      <a:round/>
                      <a:headEnd type="none" w="med" len="med"/>
                      <a:tailEnd type="none" w="med" len="med"/>
                    </a:lnL>
                    <a:lnR w="6350" cap="flat" cmpd="sng" algn="ctr">
                      <a:solidFill>
                        <a:srgbClr val="C5D0DC"/>
                      </a:solidFill>
                      <a:prstDash val="solid"/>
                      <a:round/>
                      <a:headEnd type="none" w="med" len="med"/>
                      <a:tailEnd type="none" w="med" len="med"/>
                    </a:lnR>
                    <a:lnT w="6350" cap="flat" cmpd="sng" algn="ctr">
                      <a:solidFill>
                        <a:srgbClr val="C5D0DC"/>
                      </a:solidFill>
                      <a:prstDash val="solid"/>
                      <a:round/>
                      <a:headEnd type="none" w="med" len="med"/>
                      <a:tailEnd type="none" w="med" len="med"/>
                    </a:lnT>
                    <a:lnB w="6350" cap="flat" cmpd="sng" algn="ctr">
                      <a:solidFill>
                        <a:srgbClr val="C5D0DC"/>
                      </a:solidFill>
                      <a:prstDash val="solid"/>
                      <a:round/>
                      <a:headEnd type="none" w="med" len="med"/>
                      <a:tailEnd type="none" w="med" len="med"/>
                    </a:lnB>
                  </a:tcPr>
                </a:tc>
              </a:tr>
            </a:tbl>
          </a:graphicData>
        </a:graphic>
      </p:graphicFrame>
      <p:sp>
        <p:nvSpPr>
          <p:cNvPr id="4" name="Status Clean"/>
          <p:cNvSpPr/>
          <p:nvPr/>
        </p:nvSpPr>
        <p:spPr>
          <a:xfrm>
            <a:off x="457200" y="3749040"/>
            <a:ext cx="2606040" cy="457200"/>
          </a:xfrm>
          <a:prstGeom prst="roundRect">
            <a:avLst>
              <a:gd name="adj" fmla="val 20000"/>
            </a:avLst>
          </a:prstGeom>
          <a:solidFill>
            <a:srgbClr val="2F6F4E"/>
          </a:solidFill>
          <a:ln w="12700">
            <a:solidFill>
              <a:srgbClr val="2F6F4E"/>
            </a:solidFill>
            <a:prstDash val="solid"/>
          </a:ln>
        </p:spPr>
      </p:sp>
      <p:sp>
        <p:nvSpPr>
          <p:cNvPr id="5" name="Text 2"/>
          <p:cNvSpPr txBox="1"/>
          <p:nvPr/>
        </p:nvSpPr>
        <p:spPr>
          <a:xfrm>
            <a:off x="457200" y="3749040"/>
            <a:ext cx="2606040" cy="457200"/>
          </a:xfrm>
          <a:prstGeom prst="rect">
            <a:avLst/>
          </a:prstGeom>
          <a:noFill/>
          <a:ln/>
        </p:spPr>
        <p:txBody>
          <a:bodyPr wrap="square" lIns="0" tIns="0" rIns="0" bIns="0" rtlCol="0" anchor="ctr"/>
          <a:lstStyle/>
          <a:p>
            <a:pPr algn="ctr" indent="0" marL="0">
              <a:buNone/>
            </a:pPr>
            <a:r>
              <a:rPr lang="en-US" sz="1300" b="1" dirty="0">
                <a:solidFill>
                  <a:schemeClr val="bg1"/>
                </a:solidFill>
              </a:rPr>
              <a:t>Clean  </a:t>
            </a:r>
            <a:pPr algn="ctr" indent="0" marL="0">
              <a:buNone/>
            </a:pPr>
            <a:r>
              <a:rPr lang="en-US" sz="1300" dirty="0">
                <a:solidFill>
                  <a:schemeClr val="bg1"/>
                </a:solidFill>
              </a:rPr>
              <a:t>&lt; 10</a:t>
            </a:r>
            <a:endParaRPr lang="en-US" sz="1300" dirty="0"/>
          </a:p>
        </p:txBody>
      </p:sp>
      <p:sp>
        <p:nvSpPr>
          <p:cNvPr id="6" name="Status Suspicious"/>
          <p:cNvSpPr/>
          <p:nvPr/>
        </p:nvSpPr>
        <p:spPr>
          <a:xfrm>
            <a:off x="3227832" y="3749040"/>
            <a:ext cx="2606040" cy="457200"/>
          </a:xfrm>
          <a:prstGeom prst="roundRect">
            <a:avLst>
              <a:gd name="adj" fmla="val 20000"/>
            </a:avLst>
          </a:prstGeom>
          <a:solidFill>
            <a:srgbClr val="8A5A00"/>
          </a:solidFill>
          <a:ln w="12700">
            <a:solidFill>
              <a:srgbClr val="8A5A00"/>
            </a:solidFill>
            <a:prstDash val="solid"/>
          </a:ln>
        </p:spPr>
      </p:sp>
      <p:sp>
        <p:nvSpPr>
          <p:cNvPr id="7" name="Text 4"/>
          <p:cNvSpPr txBox="1"/>
          <p:nvPr/>
        </p:nvSpPr>
        <p:spPr>
          <a:xfrm>
            <a:off x="3227832" y="3749040"/>
            <a:ext cx="2606040" cy="457200"/>
          </a:xfrm>
          <a:prstGeom prst="rect">
            <a:avLst/>
          </a:prstGeom>
          <a:noFill/>
          <a:ln/>
        </p:spPr>
        <p:txBody>
          <a:bodyPr wrap="square" lIns="0" tIns="0" rIns="0" bIns="0" rtlCol="0" anchor="ctr"/>
          <a:lstStyle/>
          <a:p>
            <a:pPr algn="ctr" indent="0" marL="0">
              <a:buNone/>
            </a:pPr>
            <a:r>
              <a:rPr lang="en-US" sz="1300" b="1" dirty="0">
                <a:solidFill>
                  <a:schemeClr val="bg1"/>
                </a:solidFill>
              </a:rPr>
              <a:t>Suspicious  </a:t>
            </a:r>
            <a:pPr algn="ctr" indent="0" marL="0">
              <a:buNone/>
            </a:pPr>
            <a:r>
              <a:rPr lang="en-US" sz="1300" dirty="0">
                <a:solidFill>
                  <a:schemeClr val="bg1"/>
                </a:solidFill>
              </a:rPr>
              <a:t>10-49</a:t>
            </a:r>
            <a:endParaRPr lang="en-US" sz="1300" dirty="0"/>
          </a:p>
        </p:txBody>
      </p:sp>
      <p:sp>
        <p:nvSpPr>
          <p:cNvPr id="8" name="Status Compromised"/>
          <p:cNvSpPr/>
          <p:nvPr/>
        </p:nvSpPr>
        <p:spPr>
          <a:xfrm>
            <a:off x="5998464" y="3749040"/>
            <a:ext cx="2606040" cy="457200"/>
          </a:xfrm>
          <a:prstGeom prst="roundRect">
            <a:avLst>
              <a:gd name="adj" fmla="val 20000"/>
            </a:avLst>
          </a:prstGeom>
          <a:solidFill>
            <a:srgbClr val="E4572E"/>
          </a:solidFill>
          <a:ln w="12700">
            <a:solidFill>
              <a:srgbClr val="E4572E"/>
            </a:solidFill>
            <a:prstDash val="solid"/>
          </a:ln>
        </p:spPr>
      </p:sp>
      <p:sp>
        <p:nvSpPr>
          <p:cNvPr id="9" name="Text 6"/>
          <p:cNvSpPr txBox="1"/>
          <p:nvPr/>
        </p:nvSpPr>
        <p:spPr>
          <a:xfrm>
            <a:off x="5998464" y="3749040"/>
            <a:ext cx="2606040" cy="457200"/>
          </a:xfrm>
          <a:prstGeom prst="rect">
            <a:avLst/>
          </a:prstGeom>
          <a:noFill/>
          <a:ln/>
        </p:spPr>
        <p:txBody>
          <a:bodyPr wrap="square" lIns="0" tIns="0" rIns="0" bIns="0" rtlCol="0" anchor="ctr"/>
          <a:lstStyle/>
          <a:p>
            <a:pPr algn="ctr" indent="0" marL="0">
              <a:buNone/>
            </a:pPr>
            <a:r>
              <a:rPr lang="en-US" sz="1300" b="1" dirty="0">
                <a:solidFill>
                  <a:schemeClr val="bg1"/>
                </a:solidFill>
              </a:rPr>
              <a:t>Compromised  </a:t>
            </a:r>
            <a:pPr algn="ctr" indent="0" marL="0">
              <a:buNone/>
            </a:pPr>
            <a:r>
              <a:rPr lang="en-US" sz="1300" dirty="0">
                <a:solidFill>
                  <a:schemeClr val="bg1"/>
                </a:solidFill>
              </a:rPr>
              <a:t>50+</a:t>
            </a:r>
            <a:endParaRPr lang="en-US" sz="1300" dirty="0"/>
          </a:p>
        </p:txBody>
      </p:sp>
      <p:sp>
        <p:nvSpPr>
          <p:cNvPr id="10" name="Text 7"/>
          <p:cNvSpPr txBox="1"/>
          <p:nvPr/>
        </p:nvSpPr>
        <p:spPr>
          <a:xfrm>
            <a:off x="457200" y="4315968"/>
            <a:ext cx="8229600" cy="320040"/>
          </a:xfrm>
          <a:prstGeom prst="rect">
            <a:avLst/>
          </a:prstGeom>
          <a:noFill/>
          <a:ln/>
        </p:spPr>
        <p:txBody>
          <a:bodyPr wrap="square" lIns="0" tIns="0" rIns="0" bIns="0" rtlCol="0" anchor="ctr"/>
          <a:lstStyle/>
          <a:p>
            <a:pPr indent="0" marL="0">
              <a:buNone/>
            </a:pPr>
            <a:r>
              <a:rPr lang="en-US" sz="1150" i="1" dirty="0">
                <a:solidFill>
                  <a:schemeClr val="tx2"/>
                </a:solidFill>
              </a:rPr>
              <a:t>Each finding adds a weight (critical 40, high 25, medium 10); baseline-aware beaconing keeps the clean sample at 0 findings.</a:t>
            </a:r>
            <a:endParaRPr lang="en-US" sz="11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The detector in action</a:t>
            </a:r>
            <a:endParaRPr lang="en-US" sz="2800" dirty="0"/>
          </a:p>
        </p:txBody>
      </p:sp>
      <p:pic>
        <p:nvPicPr>
          <p:cNvPr id="3" name="Image 0" descr="Results screen: summary tiles and device table with cam-garage compromised">    </p:cNvPr>
          <p:cNvPicPr>
            <a:picLocks noChangeAspect="1"/>
          </p:cNvPicPr>
          <p:nvPr/>
        </p:nvPicPr>
        <p:blipFill>
          <a:blip r:embed="rId1"/>
          <a:stretch>
            <a:fillRect/>
          </a:stretch>
        </p:blipFill>
        <p:spPr>
          <a:xfrm>
            <a:off x="640080" y="1188720"/>
            <a:ext cx="7863840" cy="3104520"/>
          </a:xfrm>
          <a:prstGeom prst="rect">
            <a:avLst/>
          </a:prstGeom>
        </p:spPr>
      </p:pic>
      <p:sp>
        <p:nvSpPr>
          <p:cNvPr id="4" name="Text 1"/>
          <p:cNvSpPr txBox="1"/>
          <p:nvPr/>
        </p:nvSpPr>
        <p:spPr>
          <a:xfrm>
            <a:off x="640080" y="4407408"/>
            <a:ext cx="7863840" cy="274320"/>
          </a:xfrm>
          <a:prstGeom prst="rect">
            <a:avLst/>
          </a:prstGeom>
          <a:noFill/>
          <a:ln/>
        </p:spPr>
        <p:txBody>
          <a:bodyPr wrap="square" lIns="0" tIns="0" rIns="0" bIns="0" rtlCol="0" anchor="ctr"/>
          <a:lstStyle/>
          <a:p>
            <a:pPr indent="0" marL="0">
              <a:buNone/>
            </a:pPr>
            <a:r>
              <a:rPr lang="en-US" sz="1250" dirty="0">
                <a:solidFill>
                  <a:schemeClr val="tx2"/>
                </a:solidFill>
              </a:rPr>
              <a:t>Infected sample: cam-garage compromised (score 100); other cameras clean. The same page works on a phone.</a:t>
            </a:r>
            <a:endParaRPr lang="en-US" sz="12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bg1"/>
                </a:solidFill>
              </a:rPr>
              <a:t>Evidence 1: automated test suite</a:t>
            </a:r>
            <a:endParaRPr lang="en-US" sz="2800" dirty="0"/>
          </a:p>
        </p:txBody>
      </p:sp>
      <p:sp>
        <p:nvSpPr>
          <p:cNvPr id="3" name="Text 1"/>
          <p:cNvSpPr txBox="1"/>
          <p:nvPr/>
        </p:nvSpPr>
        <p:spPr>
          <a:xfrm>
            <a:off x="548640" y="914400"/>
            <a:ext cx="8046720" cy="256032"/>
          </a:xfrm>
          <a:prstGeom prst="rect">
            <a:avLst/>
          </a:prstGeom>
          <a:noFill/>
          <a:ln/>
        </p:spPr>
        <p:txBody>
          <a:bodyPr wrap="square" lIns="0" tIns="0" rIns="0" bIns="0" rtlCol="0" anchor="ctr"/>
          <a:lstStyle/>
          <a:p>
            <a:pPr indent="0" marL="0">
              <a:buNone/>
            </a:pPr>
            <a:r>
              <a:rPr lang="en-US" sz="1250" i="1" dirty="0">
                <a:solidFill>
                  <a:schemeClr val="accent6"/>
                </a:solidFill>
              </a:rPr>
              <a:t>Every one of the 24 tests, not a sample -- real output, captured just now</a:t>
            </a:r>
            <a:endParaRPr lang="en-US" sz="1250" dirty="0"/>
          </a:p>
        </p:txBody>
      </p:sp>
      <p:sp>
        <p:nvSpPr>
          <p:cNvPr id="4" name="Terminal window"/>
          <p:cNvSpPr/>
          <p:nvPr/>
        </p:nvSpPr>
        <p:spPr>
          <a:xfrm>
            <a:off x="548640" y="1207008"/>
            <a:ext cx="8046720" cy="3456432"/>
          </a:xfrm>
          <a:prstGeom prst="rect">
            <a:avLst/>
          </a:prstGeom>
          <a:solidFill>
            <a:srgbClr val="0D1117"/>
          </a:solidFill>
          <a:ln w="12700">
            <a:solidFill>
              <a:srgbClr val="0D1117"/>
            </a:solidFill>
            <a:prstDash val="solid"/>
          </a:ln>
        </p:spPr>
      </p:sp>
      <p:sp>
        <p:nvSpPr>
          <p:cNvPr id="5" name="Shape 3"/>
          <p:cNvSpPr/>
          <p:nvPr/>
        </p:nvSpPr>
        <p:spPr>
          <a:xfrm>
            <a:off x="731520" y="1325880"/>
            <a:ext cx="146304" cy="146304"/>
          </a:xfrm>
          <a:prstGeom prst="ellipse">
            <a:avLst/>
          </a:prstGeom>
          <a:solidFill>
            <a:srgbClr val="E74C3C"/>
          </a:solidFill>
          <a:ln w="12700">
            <a:solidFill>
              <a:srgbClr val="E74C3C"/>
            </a:solidFill>
            <a:prstDash val="solid"/>
          </a:ln>
        </p:spPr>
      </p:sp>
      <p:sp>
        <p:nvSpPr>
          <p:cNvPr id="6" name="Shape 4"/>
          <p:cNvSpPr/>
          <p:nvPr/>
        </p:nvSpPr>
        <p:spPr>
          <a:xfrm>
            <a:off x="969264" y="1325880"/>
            <a:ext cx="146304" cy="146304"/>
          </a:xfrm>
          <a:prstGeom prst="ellipse">
            <a:avLst/>
          </a:prstGeom>
          <a:solidFill>
            <a:srgbClr val="F1C40F"/>
          </a:solidFill>
          <a:ln w="12700">
            <a:solidFill>
              <a:srgbClr val="F1C40F"/>
            </a:solidFill>
            <a:prstDash val="solid"/>
          </a:ln>
        </p:spPr>
      </p:sp>
      <p:sp>
        <p:nvSpPr>
          <p:cNvPr id="7" name="Shape 5"/>
          <p:cNvSpPr/>
          <p:nvPr/>
        </p:nvSpPr>
        <p:spPr>
          <a:xfrm>
            <a:off x="1207008" y="1325880"/>
            <a:ext cx="146304" cy="146304"/>
          </a:xfrm>
          <a:prstGeom prst="ellipse">
            <a:avLst/>
          </a:prstGeom>
          <a:solidFill>
            <a:srgbClr val="2ECC71"/>
          </a:solidFill>
          <a:ln w="12700">
            <a:solidFill>
              <a:srgbClr val="2ECC71"/>
            </a:solidFill>
            <a:prstDash val="solid"/>
          </a:ln>
        </p:spPr>
      </p:sp>
      <p:sp>
        <p:nvSpPr>
          <p:cNvPr id="8" name="Text 6"/>
          <p:cNvSpPr txBox="1"/>
          <p:nvPr/>
        </p:nvSpPr>
        <p:spPr>
          <a:xfrm>
            <a:off x="1554480" y="1280160"/>
            <a:ext cx="5486400" cy="237744"/>
          </a:xfrm>
          <a:prstGeom prst="rect">
            <a:avLst/>
          </a:prstGeom>
          <a:noFill/>
          <a:ln/>
        </p:spPr>
        <p:txBody>
          <a:bodyPr wrap="square" lIns="0" tIns="0" rIns="0" bIns="0" rtlCol="0" anchor="ctr"/>
          <a:lstStyle/>
          <a:p>
            <a:pPr indent="0" marL="0">
              <a:buNone/>
            </a:pPr>
            <a:r>
              <a:rPr lang="en-US" sz="1100" dirty="0">
                <a:solidFill>
                  <a:srgbClr val="8B949E"/>
                </a:solidFill>
                <a:latin typeface="Courier New" pitchFamily="34" charset="0"/>
                <a:ea typeface="Courier New" pitchFamily="34" charset="-122"/>
                <a:cs typeface="Courier New" pitchFamily="34" charset="-120"/>
              </a:rPr>
              <a:t>python -m pytest -v trojan-lab/tests</a:t>
            </a:r>
            <a:endParaRPr lang="en-US" sz="1100" dirty="0"/>
          </a:p>
        </p:txBody>
      </p:sp>
      <p:sp>
        <p:nvSpPr>
          <p:cNvPr id="9" name="Text 7"/>
          <p:cNvSpPr txBox="1"/>
          <p:nvPr/>
        </p:nvSpPr>
        <p:spPr>
          <a:xfrm>
            <a:off x="777240" y="15544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test_app.py::test_upload_with_baseline................................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0" name="Text 8"/>
          <p:cNvSpPr txBox="1"/>
          <p:nvPr/>
        </p:nvSpPr>
        <p:spPr>
          <a:xfrm>
            <a:off x="777240" y="16687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test_app.py::test_upload_rejects_bad_csv..............................</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1" name="Text 9"/>
          <p:cNvSpPr txBox="1"/>
          <p:nvPr/>
        </p:nvSpPr>
        <p:spPr>
          <a:xfrm>
            <a:off x="777240" y="17830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test_app.py::test_no_file.............................................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2" name="Text 10"/>
          <p:cNvSpPr txBox="1"/>
          <p:nvPr/>
        </p:nvSpPr>
        <p:spPr>
          <a:xfrm>
            <a:off x="777240" y="18973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test_app.py::test_sample_and_quarantine_roundtrip.....................</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3" name="Text 11"/>
          <p:cNvSpPr txBox="1"/>
          <p:nvPr/>
        </p:nvSpPr>
        <p:spPr>
          <a:xfrm>
            <a:off x="777240" y="20116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test_app.py::test_quarantine_rejects_traversal........................</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4" name="Text 12"/>
          <p:cNvSpPr txBox="1"/>
          <p:nvPr/>
        </p:nvSpPr>
        <p:spPr>
          <a:xfrm>
            <a:off x="777240" y="21259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test_app.py::test_live_capture_missing_gives_actionable_error.........</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5" name="Text 13"/>
          <p:cNvSpPr txBox="1"/>
          <p:nvPr/>
        </p:nvSpPr>
        <p:spPr>
          <a:xfrm>
            <a:off x="777240" y="22402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test_app.py::test_live_capture_present................................</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6" name="Text 14"/>
          <p:cNvSpPr txBox="1"/>
          <p:nvPr/>
        </p:nvSpPr>
        <p:spPr>
          <a:xfrm>
            <a:off x="777240" y="23545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test_engine.py::test_clean_capture_has_no_findings[True]..............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7" name="Text 15"/>
          <p:cNvSpPr txBox="1"/>
          <p:nvPr/>
        </p:nvSpPr>
        <p:spPr>
          <a:xfrm>
            <a:off x="777240" y="24688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test_engine.py::test_clean_capture_has_no_findings[False].............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8" name="Text 16"/>
          <p:cNvSpPr txBox="1"/>
          <p:nvPr/>
        </p:nvSpPr>
        <p:spPr>
          <a:xfrm>
            <a:off x="777240" y="25831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test_engine.py::test_infected_device_flagged_others_clean[True].......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19" name="Text 17"/>
          <p:cNvSpPr txBox="1"/>
          <p:nvPr/>
        </p:nvSpPr>
        <p:spPr>
          <a:xfrm>
            <a:off x="777240" y="26974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test_engine.py::test_infected_device_flagged_others_clean[False]......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0" name="Text 18"/>
          <p:cNvSpPr txBox="1"/>
          <p:nvPr/>
        </p:nvSpPr>
        <p:spPr>
          <a:xfrm>
            <a:off x="777240" y="28117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test_engine.py::test_beacon_interval_reported.........................</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1" name="Text 19"/>
          <p:cNvSpPr txBox="1"/>
          <p:nvPr/>
        </p:nvSpPr>
        <p:spPr>
          <a:xfrm>
            <a:off x="777240" y="29260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test_engine.py::test_column_aliases_and_epoch.........................</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2" name="Text 20"/>
          <p:cNvSpPr txBox="1"/>
          <p:nvPr/>
        </p:nvSpPr>
        <p:spPr>
          <a:xfrm>
            <a:off x="777240" y="30403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test_engine.py::test_missing_columns_message..........................</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3" name="Text 21"/>
          <p:cNvSpPr txBox="1"/>
          <p:nvPr/>
        </p:nvSpPr>
        <p:spPr>
          <a:xfrm>
            <a:off x="777240" y="31546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test_engine.py::test_empty_or_headers_only[]..........................</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4" name="Text 22"/>
          <p:cNvSpPr txBox="1"/>
          <p:nvPr/>
        </p:nvSpPr>
        <p:spPr>
          <a:xfrm>
            <a:off x="777240" y="32689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test_engine.py::test_empty_or_headers_only[timestamp,device\n]........</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5" name="Text 23"/>
          <p:cNvSpPr txBox="1"/>
          <p:nvPr/>
        </p:nvSpPr>
        <p:spPr>
          <a:xfrm>
            <a:off x="777240" y="33832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test_engine.py::test_irregular_traffic_not_beacon.....................</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6" name="Text 24"/>
          <p:cNvSpPr txBox="1"/>
          <p:nvPr/>
        </p:nvSpPr>
        <p:spPr>
          <a:xfrm>
            <a:off x="777240" y="34975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test_flowlog_camera.py::test_flowlog_header_once_and_all_rows.........</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7" name="Text 25"/>
          <p:cNvSpPr txBox="1"/>
          <p:nvPr/>
        </p:nvSpPr>
        <p:spPr>
          <a:xfrm>
            <a:off x="777240" y="36118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test_flowlog_camera.py::test_flowlog_windows_fallback_path............</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8" name="Text 26"/>
          <p:cNvSpPr txBox="1"/>
          <p:nvPr/>
        </p:nvSpPr>
        <p:spPr>
          <a:xfrm>
            <a:off x="777240" y="37261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test_flowlog_camera.py::test_default_data_dir_env.....................</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29" name="Text 27"/>
          <p:cNvSpPr txBox="1"/>
          <p:nvPr/>
        </p:nvSpPr>
        <p:spPr>
          <a:xfrm>
            <a:off x="777240" y="38404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test_flowlog_camera.py::test_camera_requires_login....................</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30" name="Text 28"/>
          <p:cNvSpPr txBox="1"/>
          <p:nvPr/>
        </p:nvSpPr>
        <p:spPr>
          <a:xfrm>
            <a:off x="777240" y="39547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test_flowlog_camera.py::test_camera_snapshot_is_jpeg..................</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31" name="Text 29"/>
          <p:cNvSpPr txBox="1"/>
          <p:nvPr/>
        </p:nvSpPr>
        <p:spPr>
          <a:xfrm>
            <a:off x="777240" y="40690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test_flowlog_camera.py::test_camera_stream_is_live_mjpeg..............</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32" name="Text 30"/>
          <p:cNvSpPr txBox="1"/>
          <p:nvPr/>
        </p:nvSpPr>
        <p:spPr>
          <a:xfrm>
            <a:off x="777240" y="4183380"/>
            <a:ext cx="7498080" cy="114300"/>
          </a:xfrm>
          <a:prstGeom prst="rect">
            <a:avLst/>
          </a:prstGeom>
          <a:noFill/>
          <a:ln/>
        </p:spPr>
        <p:txBody>
          <a:bodyPr wrap="square" lIns="0" tIns="0" rIns="0" bIns="0" rtlCol="0" anchor="t"/>
          <a:lstStyle/>
          <a:p>
            <a:pPr indent="0" marL="0">
              <a:buNone/>
            </a:pPr>
            <a:r>
              <a:rPr lang="en-US" sz="700" dirty="0">
                <a:solidFill>
                  <a:srgbClr val="6E7681"/>
                </a:solidFill>
                <a:latin typeface="Courier New" pitchFamily="34" charset="0"/>
                <a:ea typeface="Courier New" pitchFamily="34" charset="-122"/>
                <a:cs typeface="Courier New" pitchFamily="34" charset="-120"/>
              </a:rPr>
              <a:t>test_flowlog_camera.py::test_camera_shows_compromise_when_infected_marker_present</a:t>
            </a:r>
            <a:pPr indent="0" marL="0">
              <a:buNone/>
            </a:pPr>
            <a:r>
              <a:rPr lang="en-US" sz="700" b="1" dirty="0">
                <a:solidFill>
                  <a:srgbClr val="3FB950"/>
                </a:solidFill>
                <a:latin typeface="Courier New" pitchFamily="34" charset="0"/>
                <a:ea typeface="Courier New" pitchFamily="34" charset="-122"/>
                <a:cs typeface="Courier New" pitchFamily="34" charset="-120"/>
              </a:rPr>
              <a:t>PASS</a:t>
            </a:r>
            <a:endParaRPr lang="en-US" sz="700" dirty="0"/>
          </a:p>
        </p:txBody>
      </p:sp>
      <p:sp>
        <p:nvSpPr>
          <p:cNvPr id="33" name="Text 31"/>
          <p:cNvSpPr txBox="1"/>
          <p:nvPr/>
        </p:nvSpPr>
        <p:spPr>
          <a:xfrm>
            <a:off x="777240" y="4352544"/>
            <a:ext cx="5760720" cy="237744"/>
          </a:xfrm>
          <a:prstGeom prst="rect">
            <a:avLst/>
          </a:prstGeom>
          <a:noFill/>
          <a:ln/>
        </p:spPr>
        <p:txBody>
          <a:bodyPr wrap="square" lIns="0" tIns="0" rIns="0" bIns="0" rtlCol="0" anchor="ctr"/>
          <a:lstStyle/>
          <a:p>
            <a:pPr indent="0" marL="0">
              <a:buNone/>
            </a:pPr>
            <a:r>
              <a:rPr lang="en-US" sz="1200" b="1" dirty="0">
                <a:solidFill>
                  <a:srgbClr val="3FB950"/>
                </a:solidFill>
                <a:latin typeface="Courier New" pitchFamily="34" charset="0"/>
                <a:ea typeface="Courier New" pitchFamily="34" charset="-122"/>
                <a:cs typeface="Courier New" pitchFamily="34" charset="-120"/>
              </a:rPr>
              <a:t>============================== 24 passed in 0.43s ==============================</a:t>
            </a:r>
            <a:endParaRPr lang="en-US" sz="1200" dirty="0"/>
          </a:p>
        </p:txBody>
      </p:sp>
      <p:sp>
        <p:nvSpPr>
          <p:cNvPr id="34" name="Shape 32"/>
          <p:cNvSpPr/>
          <p:nvPr/>
        </p:nvSpPr>
        <p:spPr>
          <a:xfrm>
            <a:off x="7086600" y="4352544"/>
            <a:ext cx="868680" cy="292608"/>
          </a:xfrm>
          <a:prstGeom prst="roundRect">
            <a:avLst>
              <a:gd name="adj" fmla="val 25000"/>
            </a:avLst>
          </a:prstGeom>
          <a:solidFill>
            <a:srgbClr val="2F6F4E"/>
          </a:solidFill>
          <a:ln w="12700">
            <a:solidFill>
              <a:srgbClr val="2F6F4E"/>
            </a:solidFill>
            <a:prstDash val="solid"/>
          </a:ln>
        </p:spPr>
      </p:sp>
      <p:pic>
        <p:nvPicPr>
          <p:cNvPr id="35" name="Image 0" descr="check">    </p:cNvPr>
          <p:cNvPicPr>
            <a:picLocks noChangeAspect="1"/>
          </p:cNvPicPr>
          <p:nvPr/>
        </p:nvPicPr>
        <p:blipFill>
          <a:blip r:embed="rId1"/>
          <a:stretch>
            <a:fillRect/>
          </a:stretch>
        </p:blipFill>
        <p:spPr>
          <a:xfrm>
            <a:off x="7141464" y="4407408"/>
            <a:ext cx="182880" cy="182880"/>
          </a:xfrm>
          <a:prstGeom prst="rect">
            <a:avLst/>
          </a:prstGeom>
        </p:spPr>
      </p:pic>
      <p:sp>
        <p:nvSpPr>
          <p:cNvPr id="36" name="Text 33"/>
          <p:cNvSpPr txBox="1"/>
          <p:nvPr/>
        </p:nvSpPr>
        <p:spPr>
          <a:xfrm>
            <a:off x="7342632" y="4352544"/>
            <a:ext cx="594360" cy="292608"/>
          </a:xfrm>
          <a:prstGeom prst="rect">
            <a:avLst/>
          </a:prstGeom>
          <a:noFill/>
          <a:ln/>
        </p:spPr>
        <p:txBody>
          <a:bodyPr wrap="square" lIns="0" tIns="0" rIns="0" bIns="0" rtlCol="0" anchor="ctr"/>
          <a:lstStyle/>
          <a:p>
            <a:pPr indent="0" marL="0">
              <a:buNone/>
            </a:pPr>
            <a:r>
              <a:rPr lang="en-US" sz="1100" b="1" dirty="0">
                <a:solidFill>
                  <a:schemeClr val="bg1"/>
                </a:solidFill>
              </a:rPr>
              <a:t>24/24</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Evidence 2: positive test cases</a:t>
            </a:r>
            <a:endParaRPr lang="en-US" sz="2800" dirty="0"/>
          </a:p>
        </p:txBody>
      </p:sp>
      <p:sp>
        <p:nvSpPr>
          <p:cNvPr id="3" name="Text 1"/>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300" i="1" dirty="0">
                <a:solidFill>
                  <a:schemeClr val="accent6"/>
                </a:solidFill>
              </a:rPr>
              <a:t>Proving the detector catches what it should</a:t>
            </a:r>
            <a:endParaRPr lang="en-US" sz="1300" dirty="0"/>
          </a:p>
        </p:txBody>
      </p:sp>
      <p:pic>
        <p:nvPicPr>
          <p:cNvPr id="4" name="Image 0" descr="P1: infected sample">    </p:cNvPr>
          <p:cNvPicPr>
            <a:picLocks noChangeAspect="1"/>
          </p:cNvPicPr>
          <p:nvPr/>
        </p:nvPicPr>
        <p:blipFill>
          <a:blip r:embed="rId1"/>
          <a:stretch>
            <a:fillRect/>
          </a:stretch>
        </p:blipFill>
        <p:spPr>
          <a:xfrm>
            <a:off x="457200" y="1325880"/>
            <a:ext cx="2606040" cy="1028823"/>
          </a:xfrm>
          <a:prstGeom prst="rect">
            <a:avLst/>
          </a:prstGeom>
        </p:spPr>
      </p:pic>
      <p:sp>
        <p:nvSpPr>
          <p:cNvPr id="5" name="Shape 2"/>
          <p:cNvSpPr/>
          <p:nvPr/>
        </p:nvSpPr>
        <p:spPr>
          <a:xfrm>
            <a:off x="457200" y="1325880"/>
            <a:ext cx="2606040" cy="1028823"/>
          </a:xfrm>
          <a:prstGeom prst="rect">
            <a:avLst/>
          </a:prstGeom>
          <a:ln w="19050">
            <a:solidFill>
              <a:srgbClr val="2F6F4E"/>
            </a:solidFill>
            <a:prstDash val="solid"/>
          </a:ln>
        </p:spPr>
      </p:sp>
      <p:sp>
        <p:nvSpPr>
          <p:cNvPr id="6" name="Text 3"/>
          <p:cNvSpPr txBox="1"/>
          <p:nvPr/>
        </p:nvSpPr>
        <p:spPr>
          <a:xfrm>
            <a:off x="457200" y="2427855"/>
            <a:ext cx="2606040" cy="274320"/>
          </a:xfrm>
          <a:prstGeom prst="rect">
            <a:avLst/>
          </a:prstGeom>
          <a:noFill/>
          <a:ln/>
        </p:spPr>
        <p:txBody>
          <a:bodyPr wrap="square" lIns="0" tIns="0" rIns="0" bIns="0" rtlCol="0" anchor="t"/>
          <a:lstStyle/>
          <a:p>
            <a:pPr indent="0" marL="0">
              <a:buNone/>
            </a:pPr>
            <a:r>
              <a:rPr lang="en-US" sz="1300" b="1" dirty="0">
                <a:solidFill>
                  <a:schemeClr val="tx1"/>
                </a:solidFill>
              </a:rPr>
              <a:t>P1: infected sample</a:t>
            </a:r>
            <a:endParaRPr lang="en-US" sz="1300" dirty="0"/>
          </a:p>
        </p:txBody>
      </p:sp>
      <p:sp>
        <p:nvSpPr>
          <p:cNvPr id="7" name="Text 4"/>
          <p:cNvSpPr txBox="1"/>
          <p:nvPr/>
        </p:nvSpPr>
        <p:spPr>
          <a:xfrm>
            <a:off x="457200" y="2702175"/>
            <a:ext cx="2606040" cy="457200"/>
          </a:xfrm>
          <a:prstGeom prst="rect">
            <a:avLst/>
          </a:prstGeom>
          <a:noFill/>
          <a:ln/>
        </p:spPr>
        <p:txBody>
          <a:bodyPr wrap="square" lIns="0" tIns="0" rIns="0" bIns="0" rtlCol="0" anchor="t"/>
          <a:lstStyle/>
          <a:p>
            <a:pPr indent="0" marL="0">
              <a:buNone/>
            </a:pPr>
            <a:r>
              <a:rPr lang="en-US" sz="1150" dirty="0">
                <a:solidFill>
                  <a:schemeClr val="tx2"/>
                </a:solidFill>
              </a:rPr>
              <a:t>cam-garage flagged compromised, score 100</a:t>
            </a:r>
            <a:endParaRPr lang="en-US" sz="1150" dirty="0"/>
          </a:p>
        </p:txBody>
      </p:sp>
      <p:sp>
        <p:nvSpPr>
          <p:cNvPr id="8" name="Shape 5"/>
          <p:cNvSpPr/>
          <p:nvPr/>
        </p:nvSpPr>
        <p:spPr>
          <a:xfrm>
            <a:off x="457200" y="3177663"/>
            <a:ext cx="868680" cy="292608"/>
          </a:xfrm>
          <a:prstGeom prst="roundRect">
            <a:avLst>
              <a:gd name="adj" fmla="val 25000"/>
            </a:avLst>
          </a:prstGeom>
          <a:solidFill>
            <a:srgbClr val="2F6F4E"/>
          </a:solidFill>
          <a:ln w="12700">
            <a:solidFill>
              <a:srgbClr val="2F6F4E"/>
            </a:solidFill>
            <a:prstDash val="solid"/>
          </a:ln>
        </p:spPr>
      </p:sp>
      <p:pic>
        <p:nvPicPr>
          <p:cNvPr id="9" name="Image 1" descr="check">    </p:cNvPr>
          <p:cNvPicPr>
            <a:picLocks noChangeAspect="1"/>
          </p:cNvPicPr>
          <p:nvPr/>
        </p:nvPicPr>
        <p:blipFill>
          <a:blip r:embed="rId2"/>
          <a:stretch>
            <a:fillRect/>
          </a:stretch>
        </p:blipFill>
        <p:spPr>
          <a:xfrm>
            <a:off x="512064" y="3232527"/>
            <a:ext cx="182880" cy="182880"/>
          </a:xfrm>
          <a:prstGeom prst="rect">
            <a:avLst/>
          </a:prstGeom>
        </p:spPr>
      </p:pic>
      <p:sp>
        <p:nvSpPr>
          <p:cNvPr id="10" name="Text 6"/>
          <p:cNvSpPr txBox="1"/>
          <p:nvPr/>
        </p:nvSpPr>
        <p:spPr>
          <a:xfrm>
            <a:off x="713232" y="3177663"/>
            <a:ext cx="594360" cy="292608"/>
          </a:xfrm>
          <a:prstGeom prst="rect">
            <a:avLst/>
          </a:prstGeom>
          <a:noFill/>
          <a:ln/>
        </p:spPr>
        <p:txBody>
          <a:bodyPr wrap="square" lIns="0" tIns="0" rIns="0" bIns="0" rtlCol="0" anchor="ctr"/>
          <a:lstStyle/>
          <a:p>
            <a:pPr indent="0" marL="0">
              <a:buNone/>
            </a:pPr>
            <a:r>
              <a:rPr lang="en-US" sz="1100" b="1" dirty="0">
                <a:solidFill>
                  <a:schemeClr val="bg1"/>
                </a:solidFill>
              </a:rPr>
              <a:t>PASS</a:t>
            </a:r>
            <a:endParaRPr lang="en-US" sz="1100" dirty="0"/>
          </a:p>
        </p:txBody>
      </p:sp>
      <p:pic>
        <p:nvPicPr>
          <p:cNvPr id="11" name="Image 2" descr="P6: quarantine action">    </p:cNvPr>
          <p:cNvPicPr>
            <a:picLocks noChangeAspect="1"/>
          </p:cNvPicPr>
          <p:nvPr/>
        </p:nvPicPr>
        <p:blipFill>
          <a:blip r:embed="rId3"/>
          <a:stretch>
            <a:fillRect/>
          </a:stretch>
        </p:blipFill>
        <p:spPr>
          <a:xfrm>
            <a:off x="3246120" y="1325880"/>
            <a:ext cx="2606040" cy="766344"/>
          </a:xfrm>
          <a:prstGeom prst="rect">
            <a:avLst/>
          </a:prstGeom>
        </p:spPr>
      </p:pic>
      <p:sp>
        <p:nvSpPr>
          <p:cNvPr id="12" name="Shape 7"/>
          <p:cNvSpPr/>
          <p:nvPr/>
        </p:nvSpPr>
        <p:spPr>
          <a:xfrm>
            <a:off x="3246120" y="1325880"/>
            <a:ext cx="2606040" cy="766344"/>
          </a:xfrm>
          <a:prstGeom prst="rect">
            <a:avLst/>
          </a:prstGeom>
          <a:ln w="19050">
            <a:solidFill>
              <a:srgbClr val="2F6F4E"/>
            </a:solidFill>
            <a:prstDash val="solid"/>
          </a:ln>
        </p:spPr>
      </p:sp>
      <p:sp>
        <p:nvSpPr>
          <p:cNvPr id="13" name="Text 8"/>
          <p:cNvSpPr txBox="1"/>
          <p:nvPr/>
        </p:nvSpPr>
        <p:spPr>
          <a:xfrm>
            <a:off x="3246120" y="2165376"/>
            <a:ext cx="2606040" cy="274320"/>
          </a:xfrm>
          <a:prstGeom prst="rect">
            <a:avLst/>
          </a:prstGeom>
          <a:noFill/>
          <a:ln/>
        </p:spPr>
        <p:txBody>
          <a:bodyPr wrap="square" lIns="0" tIns="0" rIns="0" bIns="0" rtlCol="0" anchor="t"/>
          <a:lstStyle/>
          <a:p>
            <a:pPr indent="0" marL="0">
              <a:buNone/>
            </a:pPr>
            <a:r>
              <a:rPr lang="en-US" sz="1300" b="1" dirty="0">
                <a:solidFill>
                  <a:schemeClr val="tx1"/>
                </a:solidFill>
              </a:rPr>
              <a:t>P6: quarantine action</a:t>
            </a:r>
            <a:endParaRPr lang="en-US" sz="1300" dirty="0"/>
          </a:p>
        </p:txBody>
      </p:sp>
      <p:sp>
        <p:nvSpPr>
          <p:cNvPr id="14" name="Text 9"/>
          <p:cNvSpPr txBox="1"/>
          <p:nvPr/>
        </p:nvSpPr>
        <p:spPr>
          <a:xfrm>
            <a:off x="3246120" y="2439696"/>
            <a:ext cx="2606040" cy="457200"/>
          </a:xfrm>
          <a:prstGeom prst="rect">
            <a:avLst/>
          </a:prstGeom>
          <a:noFill/>
          <a:ln/>
        </p:spPr>
        <p:txBody>
          <a:bodyPr wrap="square" lIns="0" tIns="0" rIns="0" bIns="0" rtlCol="0" anchor="t"/>
          <a:lstStyle/>
          <a:p>
            <a:pPr indent="0" marL="0">
              <a:buNone/>
            </a:pPr>
            <a:r>
              <a:rPr lang="en-US" sz="1150" dirty="0">
                <a:solidFill>
                  <a:schemeClr val="tx2"/>
                </a:solidFill>
              </a:rPr>
              <a:t>One click removes the simulated persistence</a:t>
            </a:r>
            <a:endParaRPr lang="en-US" sz="1150" dirty="0"/>
          </a:p>
        </p:txBody>
      </p:sp>
      <p:sp>
        <p:nvSpPr>
          <p:cNvPr id="15" name="Shape 10"/>
          <p:cNvSpPr/>
          <p:nvPr/>
        </p:nvSpPr>
        <p:spPr>
          <a:xfrm>
            <a:off x="3246120" y="2915184"/>
            <a:ext cx="868680" cy="292608"/>
          </a:xfrm>
          <a:prstGeom prst="roundRect">
            <a:avLst>
              <a:gd name="adj" fmla="val 25000"/>
            </a:avLst>
          </a:prstGeom>
          <a:solidFill>
            <a:srgbClr val="2F6F4E"/>
          </a:solidFill>
          <a:ln w="12700">
            <a:solidFill>
              <a:srgbClr val="2F6F4E"/>
            </a:solidFill>
            <a:prstDash val="solid"/>
          </a:ln>
        </p:spPr>
      </p:sp>
      <p:pic>
        <p:nvPicPr>
          <p:cNvPr id="16" name="Image 3" descr="check">    </p:cNvPr>
          <p:cNvPicPr>
            <a:picLocks noChangeAspect="1"/>
          </p:cNvPicPr>
          <p:nvPr/>
        </p:nvPicPr>
        <p:blipFill>
          <a:blip r:embed="rId4"/>
          <a:stretch>
            <a:fillRect/>
          </a:stretch>
        </p:blipFill>
        <p:spPr>
          <a:xfrm>
            <a:off x="3300984" y="2970048"/>
            <a:ext cx="182880" cy="182880"/>
          </a:xfrm>
          <a:prstGeom prst="rect">
            <a:avLst/>
          </a:prstGeom>
        </p:spPr>
      </p:pic>
      <p:sp>
        <p:nvSpPr>
          <p:cNvPr id="17" name="Text 11"/>
          <p:cNvSpPr txBox="1"/>
          <p:nvPr/>
        </p:nvSpPr>
        <p:spPr>
          <a:xfrm>
            <a:off x="3502152" y="2915184"/>
            <a:ext cx="594360" cy="292608"/>
          </a:xfrm>
          <a:prstGeom prst="rect">
            <a:avLst/>
          </a:prstGeom>
          <a:noFill/>
          <a:ln/>
        </p:spPr>
        <p:txBody>
          <a:bodyPr wrap="square" lIns="0" tIns="0" rIns="0" bIns="0" rtlCol="0" anchor="ctr"/>
          <a:lstStyle/>
          <a:p>
            <a:pPr indent="0" marL="0">
              <a:buNone/>
            </a:pPr>
            <a:r>
              <a:rPr lang="en-US" sz="1100" b="1" dirty="0">
                <a:solidFill>
                  <a:schemeClr val="bg1"/>
                </a:solidFill>
              </a:rPr>
              <a:t>PASS</a:t>
            </a:r>
            <a:endParaRPr lang="en-US" sz="1100" dirty="0"/>
          </a:p>
        </p:txBody>
      </p:sp>
      <p:pic>
        <p:nvPicPr>
          <p:cNvPr id="18" name="Image 4" descr="P7: live lab capture">    </p:cNvPr>
          <p:cNvPicPr>
            <a:picLocks noChangeAspect="1"/>
          </p:cNvPicPr>
          <p:nvPr/>
        </p:nvPicPr>
        <p:blipFill>
          <a:blip r:embed="rId5"/>
          <a:stretch>
            <a:fillRect/>
          </a:stretch>
        </p:blipFill>
        <p:spPr>
          <a:xfrm>
            <a:off x="6035040" y="1325880"/>
            <a:ext cx="2606040" cy="644479"/>
          </a:xfrm>
          <a:prstGeom prst="rect">
            <a:avLst/>
          </a:prstGeom>
        </p:spPr>
      </p:pic>
      <p:sp>
        <p:nvSpPr>
          <p:cNvPr id="19" name="Shape 12"/>
          <p:cNvSpPr/>
          <p:nvPr/>
        </p:nvSpPr>
        <p:spPr>
          <a:xfrm>
            <a:off x="6035040" y="1325880"/>
            <a:ext cx="2606040" cy="644479"/>
          </a:xfrm>
          <a:prstGeom prst="rect">
            <a:avLst/>
          </a:prstGeom>
          <a:ln w="19050">
            <a:solidFill>
              <a:srgbClr val="2F6F4E"/>
            </a:solidFill>
            <a:prstDash val="solid"/>
          </a:ln>
        </p:spPr>
      </p:sp>
      <p:sp>
        <p:nvSpPr>
          <p:cNvPr id="20" name="Text 13"/>
          <p:cNvSpPr txBox="1"/>
          <p:nvPr/>
        </p:nvSpPr>
        <p:spPr>
          <a:xfrm>
            <a:off x="6035040" y="2043511"/>
            <a:ext cx="2606040" cy="274320"/>
          </a:xfrm>
          <a:prstGeom prst="rect">
            <a:avLst/>
          </a:prstGeom>
          <a:noFill/>
          <a:ln/>
        </p:spPr>
        <p:txBody>
          <a:bodyPr wrap="square" lIns="0" tIns="0" rIns="0" bIns="0" rtlCol="0" anchor="t"/>
          <a:lstStyle/>
          <a:p>
            <a:pPr indent="0" marL="0">
              <a:buNone/>
            </a:pPr>
            <a:r>
              <a:rPr lang="en-US" sz="1300" b="1" dirty="0">
                <a:solidFill>
                  <a:schemeClr val="tx1"/>
                </a:solidFill>
              </a:rPr>
              <a:t>P7: live lab capture</a:t>
            </a:r>
            <a:endParaRPr lang="en-US" sz="1300" dirty="0"/>
          </a:p>
        </p:txBody>
      </p:sp>
      <p:sp>
        <p:nvSpPr>
          <p:cNvPr id="21" name="Text 14"/>
          <p:cNvSpPr txBox="1"/>
          <p:nvPr/>
        </p:nvSpPr>
        <p:spPr>
          <a:xfrm>
            <a:off x="6035040" y="2317831"/>
            <a:ext cx="2606040" cy="457200"/>
          </a:xfrm>
          <a:prstGeom prst="rect">
            <a:avLst/>
          </a:prstGeom>
          <a:noFill/>
          <a:ln/>
        </p:spPr>
        <p:txBody>
          <a:bodyPr wrap="square" lIns="0" tIns="0" rIns="0" bIns="0" rtlCol="0" anchor="t"/>
          <a:lstStyle/>
          <a:p>
            <a:pPr indent="0" marL="0">
              <a:buNone/>
            </a:pPr>
            <a:r>
              <a:rPr lang="en-US" sz="1150" dirty="0">
                <a:solidFill>
                  <a:schemeClr val="tx2"/>
                </a:solidFill>
              </a:rPr>
              <a:t>Reads flows.csv written by the running lab</a:t>
            </a:r>
            <a:endParaRPr lang="en-US" sz="1150" dirty="0"/>
          </a:p>
        </p:txBody>
      </p:sp>
      <p:sp>
        <p:nvSpPr>
          <p:cNvPr id="22" name="Shape 15"/>
          <p:cNvSpPr/>
          <p:nvPr/>
        </p:nvSpPr>
        <p:spPr>
          <a:xfrm>
            <a:off x="6035040" y="2793319"/>
            <a:ext cx="868680" cy="292608"/>
          </a:xfrm>
          <a:prstGeom prst="roundRect">
            <a:avLst>
              <a:gd name="adj" fmla="val 25000"/>
            </a:avLst>
          </a:prstGeom>
          <a:solidFill>
            <a:srgbClr val="2F6F4E"/>
          </a:solidFill>
          <a:ln w="12700">
            <a:solidFill>
              <a:srgbClr val="2F6F4E"/>
            </a:solidFill>
            <a:prstDash val="solid"/>
          </a:ln>
        </p:spPr>
      </p:sp>
      <p:pic>
        <p:nvPicPr>
          <p:cNvPr id="23" name="Image 5" descr="check">    </p:cNvPr>
          <p:cNvPicPr>
            <a:picLocks noChangeAspect="1"/>
          </p:cNvPicPr>
          <p:nvPr/>
        </p:nvPicPr>
        <p:blipFill>
          <a:blip r:embed="rId6"/>
          <a:stretch>
            <a:fillRect/>
          </a:stretch>
        </p:blipFill>
        <p:spPr>
          <a:xfrm>
            <a:off x="6089904" y="2848183"/>
            <a:ext cx="182880" cy="182880"/>
          </a:xfrm>
          <a:prstGeom prst="rect">
            <a:avLst/>
          </a:prstGeom>
        </p:spPr>
      </p:pic>
      <p:sp>
        <p:nvSpPr>
          <p:cNvPr id="24" name="Text 16"/>
          <p:cNvSpPr txBox="1"/>
          <p:nvPr/>
        </p:nvSpPr>
        <p:spPr>
          <a:xfrm>
            <a:off x="6291072" y="2793319"/>
            <a:ext cx="594360" cy="292608"/>
          </a:xfrm>
          <a:prstGeom prst="rect">
            <a:avLst/>
          </a:prstGeom>
          <a:noFill/>
          <a:ln/>
        </p:spPr>
        <p:txBody>
          <a:bodyPr wrap="square" lIns="0" tIns="0" rIns="0" bIns="0" rtlCol="0" anchor="ctr"/>
          <a:lstStyle/>
          <a:p>
            <a:pPr indent="0" marL="0">
              <a:buNone/>
            </a:pPr>
            <a:r>
              <a:rPr lang="en-US" sz="1100" b="1" dirty="0">
                <a:solidFill>
                  <a:schemeClr val="bg1"/>
                </a:solidFill>
              </a:rPr>
              <a:t>PASS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Evidence 3: negative test cases</a:t>
            </a:r>
            <a:endParaRPr lang="en-US" sz="2800" dirty="0"/>
          </a:p>
        </p:txBody>
      </p:sp>
      <p:sp>
        <p:nvSpPr>
          <p:cNvPr id="3" name="Text 1"/>
          <p:cNvSpPr txBox="1"/>
          <p:nvPr/>
        </p:nvSpPr>
        <p:spPr>
          <a:xfrm>
            <a:off x="457200" y="914400"/>
            <a:ext cx="8229600" cy="274320"/>
          </a:xfrm>
          <a:prstGeom prst="rect">
            <a:avLst/>
          </a:prstGeom>
          <a:noFill/>
          <a:ln/>
        </p:spPr>
        <p:txBody>
          <a:bodyPr wrap="square" lIns="0" tIns="0" rIns="0" bIns="0" rtlCol="0" anchor="ctr"/>
          <a:lstStyle/>
          <a:p>
            <a:pPr indent="0" marL="0">
              <a:buNone/>
            </a:pPr>
            <a:r>
              <a:rPr lang="en-US" sz="1300" i="1" dirty="0">
                <a:solidFill>
                  <a:schemeClr val="accent6"/>
                </a:solidFill>
              </a:rPr>
              <a:t>Proving it rejects bad input and does not cry wolf</a:t>
            </a:r>
            <a:endParaRPr lang="en-US" sz="1300" dirty="0"/>
          </a:p>
        </p:txBody>
      </p:sp>
      <p:pic>
        <p:nvPicPr>
          <p:cNvPr id="4" name="Image 0" descr="N1: malformed CSV">    </p:cNvPr>
          <p:cNvPicPr>
            <a:picLocks noChangeAspect="1"/>
          </p:cNvPicPr>
          <p:nvPr/>
        </p:nvPicPr>
        <p:blipFill>
          <a:blip r:embed="rId1"/>
          <a:srcRect l="0" r="0" t="0" b="0"/>
          <a:stretch/>
        </p:blipFill>
        <p:spPr>
          <a:xfrm>
            <a:off x="457200" y="1325880"/>
            <a:ext cx="3931920" cy="2174578"/>
          </a:xfrm>
          <a:prstGeom prst="rect">
            <a:avLst/>
          </a:prstGeom>
        </p:spPr>
      </p:pic>
      <p:sp>
        <p:nvSpPr>
          <p:cNvPr id="5" name="Shape 2"/>
          <p:cNvSpPr/>
          <p:nvPr/>
        </p:nvSpPr>
        <p:spPr>
          <a:xfrm>
            <a:off x="457200" y="1325880"/>
            <a:ext cx="3931920" cy="2174578"/>
          </a:xfrm>
          <a:prstGeom prst="rect">
            <a:avLst/>
          </a:prstGeom>
          <a:ln w="19050">
            <a:solidFill>
              <a:srgbClr val="E4572E"/>
            </a:solidFill>
            <a:prstDash val="solid"/>
          </a:ln>
        </p:spPr>
      </p:sp>
      <p:sp>
        <p:nvSpPr>
          <p:cNvPr id="6" name="Text 3"/>
          <p:cNvSpPr txBox="1"/>
          <p:nvPr/>
        </p:nvSpPr>
        <p:spPr>
          <a:xfrm>
            <a:off x="457200" y="3591898"/>
            <a:ext cx="3931920" cy="292608"/>
          </a:xfrm>
          <a:prstGeom prst="rect">
            <a:avLst/>
          </a:prstGeom>
          <a:noFill/>
          <a:ln/>
        </p:spPr>
        <p:txBody>
          <a:bodyPr wrap="square" lIns="0" tIns="0" rIns="0" bIns="0" rtlCol="0" anchor="t"/>
          <a:lstStyle/>
          <a:p>
            <a:pPr indent="0" marL="0">
              <a:buNone/>
            </a:pPr>
            <a:r>
              <a:rPr lang="en-US" sz="1400" b="1" dirty="0">
                <a:solidFill>
                  <a:schemeClr val="tx1"/>
                </a:solidFill>
              </a:rPr>
              <a:t>N1: malformed CSV</a:t>
            </a:r>
            <a:endParaRPr lang="en-US" sz="1400" dirty="0"/>
          </a:p>
        </p:txBody>
      </p:sp>
      <p:sp>
        <p:nvSpPr>
          <p:cNvPr id="7" name="Text 4"/>
          <p:cNvSpPr txBox="1"/>
          <p:nvPr/>
        </p:nvSpPr>
        <p:spPr>
          <a:xfrm>
            <a:off x="457200" y="3902794"/>
            <a:ext cx="3931920" cy="502920"/>
          </a:xfrm>
          <a:prstGeom prst="rect">
            <a:avLst/>
          </a:prstGeom>
          <a:noFill/>
          <a:ln/>
        </p:spPr>
        <p:txBody>
          <a:bodyPr wrap="square" lIns="0" tIns="0" rIns="0" bIns="0" rtlCol="0" anchor="t"/>
          <a:lstStyle/>
          <a:p>
            <a:pPr indent="0" marL="0">
              <a:buNone/>
            </a:pPr>
            <a:r>
              <a:rPr lang="en-US" sz="1200" dirty="0">
                <a:solidFill>
                  <a:schemeClr val="tx2"/>
                </a:solidFill>
              </a:rPr>
              <a:t>Missing columns -&gt; HTTP 400 with a clear message, not a crash</a:t>
            </a:r>
            <a:endParaRPr lang="en-US" sz="1200" dirty="0"/>
          </a:p>
        </p:txBody>
      </p:sp>
      <p:sp>
        <p:nvSpPr>
          <p:cNvPr id="8" name="Shape 5"/>
          <p:cNvSpPr/>
          <p:nvPr/>
        </p:nvSpPr>
        <p:spPr>
          <a:xfrm>
            <a:off x="457200" y="4414858"/>
            <a:ext cx="868680" cy="292608"/>
          </a:xfrm>
          <a:prstGeom prst="roundRect">
            <a:avLst>
              <a:gd name="adj" fmla="val 25000"/>
            </a:avLst>
          </a:prstGeom>
          <a:solidFill>
            <a:srgbClr val="2F6F4E"/>
          </a:solidFill>
          <a:ln w="12700">
            <a:solidFill>
              <a:srgbClr val="2F6F4E"/>
            </a:solidFill>
            <a:prstDash val="solid"/>
          </a:ln>
        </p:spPr>
      </p:sp>
      <p:pic>
        <p:nvPicPr>
          <p:cNvPr id="9" name="Image 1" descr="check">    </p:cNvPr>
          <p:cNvPicPr>
            <a:picLocks noChangeAspect="1"/>
          </p:cNvPicPr>
          <p:nvPr/>
        </p:nvPicPr>
        <p:blipFill>
          <a:blip r:embed="rId2"/>
          <a:stretch>
            <a:fillRect/>
          </a:stretch>
        </p:blipFill>
        <p:spPr>
          <a:xfrm>
            <a:off x="512064" y="4469722"/>
            <a:ext cx="182880" cy="182880"/>
          </a:xfrm>
          <a:prstGeom prst="rect">
            <a:avLst/>
          </a:prstGeom>
        </p:spPr>
      </p:pic>
      <p:sp>
        <p:nvSpPr>
          <p:cNvPr id="10" name="Text 6"/>
          <p:cNvSpPr txBox="1"/>
          <p:nvPr/>
        </p:nvSpPr>
        <p:spPr>
          <a:xfrm>
            <a:off x="713232" y="4414858"/>
            <a:ext cx="594360" cy="292608"/>
          </a:xfrm>
          <a:prstGeom prst="rect">
            <a:avLst/>
          </a:prstGeom>
          <a:noFill/>
          <a:ln/>
        </p:spPr>
        <p:txBody>
          <a:bodyPr wrap="square" lIns="0" tIns="0" rIns="0" bIns="0" rtlCol="0" anchor="ctr"/>
          <a:lstStyle/>
          <a:p>
            <a:pPr indent="0" marL="0">
              <a:buNone/>
            </a:pPr>
            <a:r>
              <a:rPr lang="en-US" sz="1100" b="1" dirty="0">
                <a:solidFill>
                  <a:schemeClr val="bg1"/>
                </a:solidFill>
              </a:rPr>
              <a:t>PASS</a:t>
            </a:r>
            <a:endParaRPr lang="en-US" sz="1100" dirty="0"/>
          </a:p>
        </p:txBody>
      </p:sp>
      <p:pic>
        <p:nvPicPr>
          <p:cNvPr id="11" name="Image 2" descr="N7: clean traffic">    </p:cNvPr>
          <p:cNvPicPr>
            <a:picLocks noChangeAspect="1"/>
          </p:cNvPicPr>
          <p:nvPr/>
        </p:nvPicPr>
        <p:blipFill>
          <a:blip r:embed="rId3"/>
          <a:srcRect l="0" r="0" t="0" b="0"/>
          <a:stretch/>
        </p:blipFill>
        <p:spPr>
          <a:xfrm>
            <a:off x="4663440" y="1325880"/>
            <a:ext cx="3931920" cy="1552260"/>
          </a:xfrm>
          <a:prstGeom prst="rect">
            <a:avLst/>
          </a:prstGeom>
        </p:spPr>
      </p:pic>
      <p:sp>
        <p:nvSpPr>
          <p:cNvPr id="12" name="Shape 7"/>
          <p:cNvSpPr/>
          <p:nvPr/>
        </p:nvSpPr>
        <p:spPr>
          <a:xfrm>
            <a:off x="4663440" y="1325880"/>
            <a:ext cx="3931920" cy="1552260"/>
          </a:xfrm>
          <a:prstGeom prst="rect">
            <a:avLst/>
          </a:prstGeom>
          <a:ln w="19050">
            <a:solidFill>
              <a:srgbClr val="E4572E"/>
            </a:solidFill>
            <a:prstDash val="solid"/>
          </a:ln>
        </p:spPr>
      </p:sp>
      <p:sp>
        <p:nvSpPr>
          <p:cNvPr id="13" name="Text 8"/>
          <p:cNvSpPr txBox="1"/>
          <p:nvPr/>
        </p:nvSpPr>
        <p:spPr>
          <a:xfrm>
            <a:off x="4663440" y="2969580"/>
            <a:ext cx="3931920" cy="292608"/>
          </a:xfrm>
          <a:prstGeom prst="rect">
            <a:avLst/>
          </a:prstGeom>
          <a:noFill/>
          <a:ln/>
        </p:spPr>
        <p:txBody>
          <a:bodyPr wrap="square" lIns="0" tIns="0" rIns="0" bIns="0" rtlCol="0" anchor="t"/>
          <a:lstStyle/>
          <a:p>
            <a:pPr indent="0" marL="0">
              <a:buNone/>
            </a:pPr>
            <a:r>
              <a:rPr lang="en-US" sz="1400" b="1" dirty="0">
                <a:solidFill>
                  <a:schemeClr val="tx1"/>
                </a:solidFill>
              </a:rPr>
              <a:t>N7: clean traffic</a:t>
            </a:r>
            <a:endParaRPr lang="en-US" sz="1400" dirty="0"/>
          </a:p>
        </p:txBody>
      </p:sp>
      <p:sp>
        <p:nvSpPr>
          <p:cNvPr id="14" name="Text 9"/>
          <p:cNvSpPr txBox="1"/>
          <p:nvPr/>
        </p:nvSpPr>
        <p:spPr>
          <a:xfrm>
            <a:off x="4663440" y="3280476"/>
            <a:ext cx="3931920" cy="502920"/>
          </a:xfrm>
          <a:prstGeom prst="rect">
            <a:avLst/>
          </a:prstGeom>
          <a:noFill/>
          <a:ln/>
        </p:spPr>
        <p:txBody>
          <a:bodyPr wrap="square" lIns="0" tIns="0" rIns="0" bIns="0" rtlCol="0" anchor="t"/>
          <a:lstStyle/>
          <a:p>
            <a:pPr indent="0" marL="0">
              <a:buNone/>
            </a:pPr>
            <a:r>
              <a:rPr lang="en-US" sz="1200" dirty="0">
                <a:solidFill>
                  <a:schemeClr val="tx2"/>
                </a:solidFill>
              </a:rPr>
              <a:t>0 findings on 1,190 healthy flows -- no false alarms</a:t>
            </a:r>
            <a:endParaRPr lang="en-US" sz="1200" dirty="0"/>
          </a:p>
        </p:txBody>
      </p:sp>
      <p:sp>
        <p:nvSpPr>
          <p:cNvPr id="15" name="Shape 10"/>
          <p:cNvSpPr/>
          <p:nvPr/>
        </p:nvSpPr>
        <p:spPr>
          <a:xfrm>
            <a:off x="4663440" y="3792540"/>
            <a:ext cx="868680" cy="292608"/>
          </a:xfrm>
          <a:prstGeom prst="roundRect">
            <a:avLst>
              <a:gd name="adj" fmla="val 25000"/>
            </a:avLst>
          </a:prstGeom>
          <a:solidFill>
            <a:srgbClr val="2F6F4E"/>
          </a:solidFill>
          <a:ln w="12700">
            <a:solidFill>
              <a:srgbClr val="2F6F4E"/>
            </a:solidFill>
            <a:prstDash val="solid"/>
          </a:ln>
        </p:spPr>
      </p:sp>
      <p:pic>
        <p:nvPicPr>
          <p:cNvPr id="16" name="Image 3" descr="check">    </p:cNvPr>
          <p:cNvPicPr>
            <a:picLocks noChangeAspect="1"/>
          </p:cNvPicPr>
          <p:nvPr/>
        </p:nvPicPr>
        <p:blipFill>
          <a:blip r:embed="rId4"/>
          <a:stretch>
            <a:fillRect/>
          </a:stretch>
        </p:blipFill>
        <p:spPr>
          <a:xfrm>
            <a:off x="4718304" y="3847404"/>
            <a:ext cx="182880" cy="182880"/>
          </a:xfrm>
          <a:prstGeom prst="rect">
            <a:avLst/>
          </a:prstGeom>
        </p:spPr>
      </p:pic>
      <p:sp>
        <p:nvSpPr>
          <p:cNvPr id="17" name="Text 11"/>
          <p:cNvSpPr txBox="1"/>
          <p:nvPr/>
        </p:nvSpPr>
        <p:spPr>
          <a:xfrm>
            <a:off x="4919472" y="3792540"/>
            <a:ext cx="594360" cy="292608"/>
          </a:xfrm>
          <a:prstGeom prst="rect">
            <a:avLst/>
          </a:prstGeom>
          <a:noFill/>
          <a:ln/>
        </p:spPr>
        <p:txBody>
          <a:bodyPr wrap="square" lIns="0" tIns="0" rIns="0" bIns="0" rtlCol="0" anchor="ctr"/>
          <a:lstStyle/>
          <a:p>
            <a:pPr indent="0" marL="0">
              <a:buNone/>
            </a:pPr>
            <a:r>
              <a:rPr lang="en-US" sz="1100" b="1" dirty="0">
                <a:solidFill>
                  <a:schemeClr val="bg1"/>
                </a:solidFill>
              </a:rPr>
              <a:t>PASS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1"/>
                </a:solidFill>
              </a:rPr>
              <a:t>Results at a glance</a:t>
            </a:r>
            <a:endParaRPr lang="en-US" sz="2800" dirty="0"/>
          </a:p>
        </p:txBody>
      </p:sp>
      <p:sp>
        <p:nvSpPr>
          <p:cNvPr id="3" name="Result stat 1"/>
          <p:cNvSpPr/>
          <p:nvPr/>
        </p:nvSpPr>
        <p:spPr>
          <a:xfrm>
            <a:off x="457200" y="1188720"/>
            <a:ext cx="1874520" cy="1691640"/>
          </a:xfrm>
          <a:prstGeom prst="rect">
            <a:avLst/>
          </a:prstGeom>
          <a:solidFill>
            <a:schemeClr val="bg2"/>
          </a:solidFill>
          <a:ln w="12700">
            <a:solidFill>
              <a:schemeClr val="bg2"/>
            </a:solidFill>
            <a:prstDash val="solid"/>
          </a:ln>
        </p:spPr>
      </p:sp>
      <p:sp>
        <p:nvSpPr>
          <p:cNvPr id="4" name="Text 2"/>
          <p:cNvSpPr txBox="1"/>
          <p:nvPr/>
        </p:nvSpPr>
        <p:spPr>
          <a:xfrm>
            <a:off x="594360" y="1280160"/>
            <a:ext cx="16002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24/24</a:t>
            </a:r>
            <a:endParaRPr lang="en-US" sz="3000" dirty="0"/>
          </a:p>
        </p:txBody>
      </p:sp>
      <p:sp>
        <p:nvSpPr>
          <p:cNvPr id="5" name="Text 3"/>
          <p:cNvSpPr txBox="1"/>
          <p:nvPr/>
        </p:nvSpPr>
        <p:spPr>
          <a:xfrm>
            <a:off x="594360" y="1993392"/>
            <a:ext cx="1600200" cy="822960"/>
          </a:xfrm>
          <a:prstGeom prst="rect">
            <a:avLst/>
          </a:prstGeom>
          <a:noFill/>
          <a:ln/>
        </p:spPr>
        <p:txBody>
          <a:bodyPr wrap="square" lIns="0" tIns="0" rIns="0" bIns="0" rtlCol="0" anchor="t"/>
          <a:lstStyle/>
          <a:p>
            <a:pPr indent="0" marL="0">
              <a:buNone/>
            </a:pPr>
            <a:r>
              <a:rPr lang="en-US" sz="1250" dirty="0">
                <a:solidFill>
                  <a:schemeClr val="tx1"/>
                </a:solidFill>
              </a:rPr>
              <a:t>automated tests pass</a:t>
            </a:r>
            <a:endParaRPr lang="en-US" sz="1250" dirty="0"/>
          </a:p>
        </p:txBody>
      </p:sp>
      <p:sp>
        <p:nvSpPr>
          <p:cNvPr id="6" name="Result stat 2"/>
          <p:cNvSpPr/>
          <p:nvPr/>
        </p:nvSpPr>
        <p:spPr>
          <a:xfrm>
            <a:off x="2578608" y="1188720"/>
            <a:ext cx="1874520" cy="1691640"/>
          </a:xfrm>
          <a:prstGeom prst="rect">
            <a:avLst/>
          </a:prstGeom>
          <a:solidFill>
            <a:schemeClr val="bg2"/>
          </a:solidFill>
          <a:ln w="12700">
            <a:solidFill>
              <a:schemeClr val="bg2"/>
            </a:solidFill>
            <a:prstDash val="solid"/>
          </a:ln>
        </p:spPr>
      </p:sp>
      <p:sp>
        <p:nvSpPr>
          <p:cNvPr id="7" name="Text 5"/>
          <p:cNvSpPr txBox="1"/>
          <p:nvPr/>
        </p:nvSpPr>
        <p:spPr>
          <a:xfrm>
            <a:off x="2715768" y="1280160"/>
            <a:ext cx="160020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22</a:t>
            </a:r>
            <a:endParaRPr lang="en-US" sz="3000" dirty="0"/>
          </a:p>
        </p:txBody>
      </p:sp>
      <p:sp>
        <p:nvSpPr>
          <p:cNvPr id="8" name="Text 6"/>
          <p:cNvSpPr txBox="1"/>
          <p:nvPr/>
        </p:nvSpPr>
        <p:spPr>
          <a:xfrm>
            <a:off x="2715768" y="1993392"/>
            <a:ext cx="1600200" cy="822960"/>
          </a:xfrm>
          <a:prstGeom prst="rect">
            <a:avLst/>
          </a:prstGeom>
          <a:noFill/>
          <a:ln/>
        </p:spPr>
        <p:txBody>
          <a:bodyPr wrap="square" lIns="0" tIns="0" rIns="0" bIns="0" rtlCol="0" anchor="t"/>
          <a:lstStyle/>
          <a:p>
            <a:pPr indent="0" marL="0">
              <a:buNone/>
            </a:pPr>
            <a:r>
              <a:rPr lang="en-US" sz="1250" dirty="0">
                <a:solidFill>
                  <a:schemeClr val="tx1"/>
                </a:solidFill>
              </a:rPr>
              <a:t>findings on the infected sample</a:t>
            </a:r>
            <a:endParaRPr lang="en-US" sz="1250" dirty="0"/>
          </a:p>
        </p:txBody>
      </p:sp>
      <p:sp>
        <p:nvSpPr>
          <p:cNvPr id="9" name="Result stat 3"/>
          <p:cNvSpPr/>
          <p:nvPr/>
        </p:nvSpPr>
        <p:spPr>
          <a:xfrm>
            <a:off x="4700016" y="1188720"/>
            <a:ext cx="1874520" cy="1691640"/>
          </a:xfrm>
          <a:prstGeom prst="rect">
            <a:avLst/>
          </a:prstGeom>
          <a:solidFill>
            <a:schemeClr val="bg2"/>
          </a:solidFill>
          <a:ln w="12700">
            <a:solidFill>
              <a:schemeClr val="bg2"/>
            </a:solidFill>
            <a:prstDash val="solid"/>
          </a:ln>
        </p:spPr>
      </p:sp>
      <p:sp>
        <p:nvSpPr>
          <p:cNvPr id="10" name="Text 8"/>
          <p:cNvSpPr txBox="1"/>
          <p:nvPr/>
        </p:nvSpPr>
        <p:spPr>
          <a:xfrm>
            <a:off x="4837176" y="1280160"/>
            <a:ext cx="1600200" cy="68580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a:t>
            </a:r>
            <a:endParaRPr lang="en-US" sz="3000" dirty="0"/>
          </a:p>
        </p:txBody>
      </p:sp>
      <p:sp>
        <p:nvSpPr>
          <p:cNvPr id="11" name="Text 9"/>
          <p:cNvSpPr txBox="1"/>
          <p:nvPr/>
        </p:nvSpPr>
        <p:spPr>
          <a:xfrm>
            <a:off x="4837176" y="1993392"/>
            <a:ext cx="1600200" cy="822960"/>
          </a:xfrm>
          <a:prstGeom prst="rect">
            <a:avLst/>
          </a:prstGeom>
          <a:noFill/>
          <a:ln/>
        </p:spPr>
        <p:txBody>
          <a:bodyPr wrap="square" lIns="0" tIns="0" rIns="0" bIns="0" rtlCol="0" anchor="t"/>
          <a:lstStyle/>
          <a:p>
            <a:pPr indent="0" marL="0">
              <a:buNone/>
            </a:pPr>
            <a:r>
              <a:rPr lang="en-US" sz="1250" dirty="0">
                <a:solidFill>
                  <a:schemeClr val="tx1"/>
                </a:solidFill>
              </a:rPr>
              <a:t>false alarms on clean traffic</a:t>
            </a:r>
            <a:endParaRPr lang="en-US" sz="1250" dirty="0"/>
          </a:p>
        </p:txBody>
      </p:sp>
      <p:sp>
        <p:nvSpPr>
          <p:cNvPr id="12" name="Result stat 4"/>
          <p:cNvSpPr/>
          <p:nvPr/>
        </p:nvSpPr>
        <p:spPr>
          <a:xfrm>
            <a:off x="6821424" y="1188720"/>
            <a:ext cx="1874520" cy="1691640"/>
          </a:xfrm>
          <a:prstGeom prst="rect">
            <a:avLst/>
          </a:prstGeom>
          <a:solidFill>
            <a:schemeClr val="bg2"/>
          </a:solidFill>
          <a:ln w="12700">
            <a:solidFill>
              <a:schemeClr val="bg2"/>
            </a:solidFill>
            <a:prstDash val="solid"/>
          </a:ln>
        </p:spPr>
      </p:sp>
      <p:sp>
        <p:nvSpPr>
          <p:cNvPr id="13" name="Text 11"/>
          <p:cNvSpPr txBox="1"/>
          <p:nvPr/>
        </p:nvSpPr>
        <p:spPr>
          <a:xfrm>
            <a:off x="6958584" y="1280160"/>
            <a:ext cx="1600200" cy="68580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100</a:t>
            </a:r>
            <a:endParaRPr lang="en-US" sz="3000" dirty="0"/>
          </a:p>
        </p:txBody>
      </p:sp>
      <p:sp>
        <p:nvSpPr>
          <p:cNvPr id="14" name="Text 12"/>
          <p:cNvSpPr txBox="1"/>
          <p:nvPr/>
        </p:nvSpPr>
        <p:spPr>
          <a:xfrm>
            <a:off x="6958584" y="1993392"/>
            <a:ext cx="1600200" cy="822960"/>
          </a:xfrm>
          <a:prstGeom prst="rect">
            <a:avLst/>
          </a:prstGeom>
          <a:noFill/>
          <a:ln/>
        </p:spPr>
        <p:txBody>
          <a:bodyPr wrap="square" lIns="0" tIns="0" rIns="0" bIns="0" rtlCol="0" anchor="t"/>
          <a:lstStyle/>
          <a:p>
            <a:pPr indent="0" marL="0">
              <a:buNone/>
            </a:pPr>
            <a:r>
              <a:rPr lang="en-US" sz="1250" dirty="0">
                <a:solidFill>
                  <a:schemeClr val="tx1"/>
                </a:solidFill>
              </a:rPr>
              <a:t>risk score given to the infected camera</a:t>
            </a:r>
            <a:endParaRPr lang="en-US" sz="1250" dirty="0"/>
          </a:p>
        </p:txBody>
      </p:sp>
      <p:sp>
        <p:nvSpPr>
          <p:cNvPr id="15" name="Device cam-garage"/>
          <p:cNvSpPr/>
          <p:nvPr/>
        </p:nvSpPr>
        <p:spPr>
          <a:xfrm>
            <a:off x="457200" y="3063240"/>
            <a:ext cx="2560320" cy="777240"/>
          </a:xfrm>
          <a:prstGeom prst="roundRect">
            <a:avLst>
              <a:gd name="adj" fmla="val 14118"/>
            </a:avLst>
          </a:prstGeom>
          <a:solidFill>
            <a:srgbClr val="E4572E"/>
          </a:solidFill>
          <a:ln w="12700">
            <a:solidFill>
              <a:srgbClr val="E4572E"/>
            </a:solidFill>
            <a:prstDash val="solid"/>
          </a:ln>
        </p:spPr>
      </p:sp>
      <p:sp>
        <p:nvSpPr>
          <p:cNvPr id="16" name="Text 14"/>
          <p:cNvSpPr txBox="1"/>
          <p:nvPr/>
        </p:nvSpPr>
        <p:spPr>
          <a:xfrm>
            <a:off x="457200" y="3063240"/>
            <a:ext cx="2560320" cy="777240"/>
          </a:xfrm>
          <a:prstGeom prst="rect">
            <a:avLst/>
          </a:prstGeom>
          <a:noFill/>
          <a:ln/>
        </p:spPr>
        <p:txBody>
          <a:bodyPr wrap="square" lIns="0" tIns="0" rIns="0" bIns="0" rtlCol="0" anchor="ctr"/>
          <a:lstStyle/>
          <a:p>
            <a:pPr algn="ctr" indent="0" marL="0">
              <a:buNone/>
            </a:pPr>
            <a:r>
              <a:rPr lang="en-US" sz="1500" b="1" dirty="0">
                <a:solidFill>
                  <a:schemeClr val="bg1"/>
                </a:solidFill>
              </a:rPr>
              <a:t>cam-garage</a:t>
            </a:r>
            <a:endParaRPr lang="en-US" sz="1500" dirty="0"/>
          </a:p>
          <a:p>
            <a:pPr algn="ctr" indent="0" marL="0">
              <a:buNone/>
            </a:pPr>
            <a:r>
              <a:rPr lang="en-US" sz="1300" dirty="0">
                <a:solidFill>
                  <a:schemeClr val="bg1"/>
                </a:solidFill>
              </a:rPr>
              <a:t>compromised, score 100</a:t>
            </a:r>
            <a:endParaRPr lang="en-US" sz="1500" dirty="0"/>
          </a:p>
        </p:txBody>
      </p:sp>
      <p:sp>
        <p:nvSpPr>
          <p:cNvPr id="17" name="Device cam-lobby"/>
          <p:cNvSpPr/>
          <p:nvPr/>
        </p:nvSpPr>
        <p:spPr>
          <a:xfrm>
            <a:off x="3291840" y="3063240"/>
            <a:ext cx="2560320" cy="777240"/>
          </a:xfrm>
          <a:prstGeom prst="roundRect">
            <a:avLst>
              <a:gd name="adj" fmla="val 14118"/>
            </a:avLst>
          </a:prstGeom>
          <a:solidFill>
            <a:srgbClr val="2F6F4E"/>
          </a:solidFill>
          <a:ln w="12700">
            <a:solidFill>
              <a:srgbClr val="2F6F4E"/>
            </a:solidFill>
            <a:prstDash val="solid"/>
          </a:ln>
        </p:spPr>
      </p:sp>
      <p:sp>
        <p:nvSpPr>
          <p:cNvPr id="18" name="Text 16"/>
          <p:cNvSpPr txBox="1"/>
          <p:nvPr/>
        </p:nvSpPr>
        <p:spPr>
          <a:xfrm>
            <a:off x="3291840" y="3063240"/>
            <a:ext cx="2560320" cy="777240"/>
          </a:xfrm>
          <a:prstGeom prst="rect">
            <a:avLst/>
          </a:prstGeom>
          <a:noFill/>
          <a:ln/>
        </p:spPr>
        <p:txBody>
          <a:bodyPr wrap="square" lIns="0" tIns="0" rIns="0" bIns="0" rtlCol="0" anchor="ctr"/>
          <a:lstStyle/>
          <a:p>
            <a:pPr algn="ctr" indent="0" marL="0">
              <a:buNone/>
            </a:pPr>
            <a:r>
              <a:rPr lang="en-US" sz="1500" b="1" dirty="0">
                <a:solidFill>
                  <a:schemeClr val="bg1"/>
                </a:solidFill>
              </a:rPr>
              <a:t>cam-lobby</a:t>
            </a:r>
            <a:endParaRPr lang="en-US" sz="1500" dirty="0"/>
          </a:p>
          <a:p>
            <a:pPr algn="ctr" indent="0" marL="0">
              <a:buNone/>
            </a:pPr>
            <a:r>
              <a:rPr lang="en-US" sz="1300" dirty="0">
                <a:solidFill>
                  <a:schemeClr val="bg1"/>
                </a:solidFill>
              </a:rPr>
              <a:t>clean, score 0</a:t>
            </a:r>
            <a:endParaRPr lang="en-US" sz="1500" dirty="0"/>
          </a:p>
        </p:txBody>
      </p:sp>
      <p:sp>
        <p:nvSpPr>
          <p:cNvPr id="19" name="Device cam-office"/>
          <p:cNvSpPr/>
          <p:nvPr/>
        </p:nvSpPr>
        <p:spPr>
          <a:xfrm>
            <a:off x="6126480" y="3063240"/>
            <a:ext cx="2560320" cy="777240"/>
          </a:xfrm>
          <a:prstGeom prst="roundRect">
            <a:avLst>
              <a:gd name="adj" fmla="val 14118"/>
            </a:avLst>
          </a:prstGeom>
          <a:solidFill>
            <a:srgbClr val="2F6F4E"/>
          </a:solidFill>
          <a:ln w="12700">
            <a:solidFill>
              <a:srgbClr val="2F6F4E"/>
            </a:solidFill>
            <a:prstDash val="solid"/>
          </a:ln>
        </p:spPr>
      </p:sp>
      <p:sp>
        <p:nvSpPr>
          <p:cNvPr id="20" name="Text 18"/>
          <p:cNvSpPr txBox="1"/>
          <p:nvPr/>
        </p:nvSpPr>
        <p:spPr>
          <a:xfrm>
            <a:off x="6126480" y="3063240"/>
            <a:ext cx="2560320" cy="777240"/>
          </a:xfrm>
          <a:prstGeom prst="rect">
            <a:avLst/>
          </a:prstGeom>
          <a:noFill/>
          <a:ln/>
        </p:spPr>
        <p:txBody>
          <a:bodyPr wrap="square" lIns="0" tIns="0" rIns="0" bIns="0" rtlCol="0" anchor="ctr"/>
          <a:lstStyle/>
          <a:p>
            <a:pPr algn="ctr" indent="0" marL="0">
              <a:buNone/>
            </a:pPr>
            <a:r>
              <a:rPr lang="en-US" sz="1500" b="1" dirty="0">
                <a:solidFill>
                  <a:schemeClr val="bg1"/>
                </a:solidFill>
              </a:rPr>
              <a:t>cam-office</a:t>
            </a:r>
            <a:endParaRPr lang="en-US" sz="1500" dirty="0"/>
          </a:p>
          <a:p>
            <a:pPr algn="ctr" indent="0" marL="0">
              <a:buNone/>
            </a:pPr>
            <a:r>
              <a:rPr lang="en-US" sz="1300" dirty="0">
                <a:solidFill>
                  <a:schemeClr val="bg1"/>
                </a:solidFill>
              </a:rPr>
              <a:t>clean, score 0</a:t>
            </a:r>
            <a:endParaRPr lang="en-US" sz="1500" dirty="0"/>
          </a:p>
        </p:txBody>
      </p:sp>
      <p:sp>
        <p:nvSpPr>
          <p:cNvPr id="21" name="Text 19"/>
          <p:cNvSpPr txBox="1"/>
          <p:nvPr/>
        </p:nvSpPr>
        <p:spPr>
          <a:xfrm>
            <a:off x="457200" y="4023360"/>
            <a:ext cx="8229600" cy="411480"/>
          </a:xfrm>
          <a:prstGeom prst="rect">
            <a:avLst/>
          </a:prstGeom>
          <a:noFill/>
          <a:ln/>
        </p:spPr>
        <p:txBody>
          <a:bodyPr wrap="square" lIns="0" tIns="0" rIns="0" bIns="0" rtlCol="0" anchor="ctr"/>
          <a:lstStyle/>
          <a:p>
            <a:pPr indent="0" marL="0">
              <a:buNone/>
            </a:pPr>
            <a:r>
              <a:rPr lang="en-US" sz="1250" dirty="0">
                <a:solidFill>
                  <a:schemeClr val="tx2"/>
                </a:solidFill>
              </a:rPr>
              <a:t>Infected sample: 1,353 flows from 3 cameras.  Clean sample: 1,190 flows.  Same engine, same thresholds -- just different input.</a:t>
            </a:r>
            <a:endParaRPr lang="en-US" sz="12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bg1"/>
                </a:solidFill>
              </a:rPr>
              <a:t>Conclusion</a:t>
            </a:r>
            <a:endParaRPr lang="en-US" sz="2800" dirty="0"/>
          </a:p>
        </p:txBody>
      </p:sp>
      <p:sp>
        <p:nvSpPr>
          <p:cNvPr id="3" name="Achievements card"/>
          <p:cNvSpPr/>
          <p:nvPr/>
        </p:nvSpPr>
        <p:spPr>
          <a:xfrm>
            <a:off x="457200" y="1097280"/>
            <a:ext cx="4023360" cy="3337560"/>
          </a:xfrm>
          <a:prstGeom prst="rect">
            <a:avLst/>
          </a:prstGeom>
          <a:solidFill>
            <a:schemeClr val="tx2"/>
          </a:solidFill>
          <a:ln w="12700">
            <a:solidFill>
              <a:schemeClr val="tx2"/>
            </a:solidFill>
            <a:prstDash val="solid"/>
          </a:ln>
        </p:spPr>
      </p:sp>
      <p:sp>
        <p:nvSpPr>
          <p:cNvPr id="4" name="Text 2"/>
          <p:cNvSpPr txBox="1"/>
          <p:nvPr/>
        </p:nvSpPr>
        <p:spPr>
          <a:xfrm>
            <a:off x="685800" y="1216152"/>
            <a:ext cx="356616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What I achieved</a:t>
            </a:r>
            <a:endParaRPr lang="en-US" sz="1700" dirty="0"/>
          </a:p>
        </p:txBody>
      </p:sp>
      <p:sp>
        <p:nvSpPr>
          <p:cNvPr id="5" name="Text 3"/>
          <p:cNvSpPr txBox="1"/>
          <p:nvPr/>
        </p:nvSpPr>
        <p:spPr>
          <a:xfrm>
            <a:off x="685800" y="1645920"/>
            <a:ext cx="3566160" cy="2651760"/>
          </a:xfrm>
          <a:prstGeom prst="rect">
            <a:avLst/>
          </a:prstGeom>
          <a:noFill/>
          <a:ln/>
        </p:spPr>
        <p:txBody>
          <a:bodyPr wrap="square" lIns="0" tIns="0" rIns="0" bIns="0" rtlCol="0" anchor="t"/>
          <a:lstStyle/>
          <a:p>
            <a:pPr marL="342900" indent="-342900">
              <a:spcAft>
                <a:spcPts val="1100"/>
              </a:spcAft>
              <a:buSzPct val="100000"/>
              <a:buChar char="•"/>
            </a:pPr>
            <a:r>
              <a:rPr lang="en-US" sz="1250" dirty="0">
                <a:solidFill>
                  <a:schemeClr val="bg1"/>
                </a:solidFill>
              </a:rPr>
              <a:t>A working, tested Trojan detector for IoT flows</a:t>
            </a:r>
            <a:endParaRPr lang="en-US" sz="1250" dirty="0"/>
          </a:p>
          <a:p>
            <a:pPr marL="342900" indent="-342900">
              <a:spcAft>
                <a:spcPts val="1100"/>
              </a:spcAft>
              <a:buSzPct val="100000"/>
              <a:buChar char="•"/>
            </a:pPr>
            <a:r>
              <a:rPr lang="en-US" sz="1250" dirty="0">
                <a:solidFill>
                  <a:schemeClr val="bg1"/>
                </a:solidFill>
              </a:rPr>
              <a:t>A safe lab -- now with a camera you can watch get hacked</a:t>
            </a:r>
            <a:endParaRPr lang="en-US" sz="1250" dirty="0"/>
          </a:p>
          <a:p>
            <a:pPr marL="342900" indent="-342900">
              <a:spcAft>
                <a:spcPts val="1100"/>
              </a:spcAft>
              <a:buSzPct val="100000"/>
              <a:buChar char="•"/>
            </a:pPr>
            <a:r>
              <a:rPr lang="en-US" sz="1250" dirty="0">
                <a:solidFill>
                  <a:schemeClr val="bg1"/>
                </a:solidFill>
              </a:rPr>
              <a:t>24/24 tests, plus real positive &amp; negative evidence</a:t>
            </a:r>
            <a:endParaRPr lang="en-US" sz="1250" dirty="0"/>
          </a:p>
          <a:p>
            <a:pPr marL="342900" indent="-342900">
              <a:spcAft>
                <a:spcPts val="1100"/>
              </a:spcAft>
              <a:buSzPct val="100000"/>
              <a:buChar char="•"/>
            </a:pPr>
            <a:r>
              <a:rPr lang="en-US" sz="1250" dirty="0">
                <a:solidFill>
                  <a:schemeClr val="bg1"/>
                </a:solidFill>
              </a:rPr>
              <a:t>Practical skills: security, containers, Python, Windows, docs</a:t>
            </a:r>
            <a:endParaRPr lang="en-US" sz="1250" dirty="0"/>
          </a:p>
        </p:txBody>
      </p:sp>
      <p:sp>
        <p:nvSpPr>
          <p:cNvPr id="6" name="Recommendations card"/>
          <p:cNvSpPr/>
          <p:nvPr/>
        </p:nvSpPr>
        <p:spPr>
          <a:xfrm>
            <a:off x="4663440" y="1097280"/>
            <a:ext cx="4023360" cy="3337560"/>
          </a:xfrm>
          <a:prstGeom prst="rect">
            <a:avLst/>
          </a:prstGeom>
          <a:solidFill>
            <a:schemeClr val="accent1"/>
          </a:solidFill>
          <a:ln w="12700">
            <a:solidFill>
              <a:schemeClr val="accent1"/>
            </a:solidFill>
            <a:prstDash val="solid"/>
          </a:ln>
        </p:spPr>
      </p:sp>
      <p:sp>
        <p:nvSpPr>
          <p:cNvPr id="7" name="Text 5"/>
          <p:cNvSpPr txBox="1"/>
          <p:nvPr/>
        </p:nvSpPr>
        <p:spPr>
          <a:xfrm>
            <a:off x="4892040" y="1216152"/>
            <a:ext cx="3566160" cy="36576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Recommendations</a:t>
            </a:r>
            <a:endParaRPr lang="en-US" sz="1700" dirty="0"/>
          </a:p>
        </p:txBody>
      </p:sp>
      <p:sp>
        <p:nvSpPr>
          <p:cNvPr id="8" name="Text 6"/>
          <p:cNvSpPr txBox="1"/>
          <p:nvPr/>
        </p:nvSpPr>
        <p:spPr>
          <a:xfrm>
            <a:off x="4892040" y="1627632"/>
            <a:ext cx="3566160" cy="1828800"/>
          </a:xfrm>
          <a:prstGeom prst="rect">
            <a:avLst/>
          </a:prstGeom>
          <a:noFill/>
          <a:ln/>
        </p:spPr>
        <p:txBody>
          <a:bodyPr wrap="square" lIns="0" tIns="0" rIns="0" bIns="0" rtlCol="0" anchor="t"/>
          <a:lstStyle/>
          <a:p>
            <a:pPr marL="342900" indent="-342900">
              <a:buSzPct val="100000"/>
              <a:buChar char="•"/>
            </a:pPr>
            <a:r>
              <a:rPr lang="en-US" sz="1350" b="1" dirty="0">
                <a:solidFill>
                  <a:schemeClr val="bg1"/>
                </a:solidFill>
              </a:rPr>
              <a:t>HiiT: </a:t>
            </a:r>
            <a:pPr indent="0" marL="0">
              <a:spcAft>
                <a:spcPts val="1000"/>
              </a:spcAft>
              <a:buNone/>
            </a:pPr>
            <a:r>
              <a:rPr lang="en-US" sz="1350" dirty="0">
                <a:solidFill>
                  <a:schemeClr val="bg1"/>
                </a:solidFill>
              </a:rPr>
              <a:t>a written task schedule and a named reviewer for each intern</a:t>
            </a:r>
            <a:endParaRPr lang="en-US" sz="1350" dirty="0"/>
          </a:p>
          <a:p>
            <a:pPr marL="342900" indent="-342900">
              <a:buSzPct val="100000"/>
              <a:buChar char="•"/>
            </a:pPr>
            <a:r>
              <a:rPr lang="en-US" sz="1350" b="1" dirty="0">
                <a:solidFill>
                  <a:schemeClr val="bg1"/>
                </a:solidFill>
              </a:rPr>
              <a:t>University: </a:t>
            </a:r>
            <a:pPr indent="0" marL="0">
              <a:spcAft>
                <a:spcPts val="1000"/>
              </a:spcAft>
              <a:buNone/>
            </a:pPr>
            <a:r>
              <a:rPr lang="en-US" sz="1350" dirty="0">
                <a:solidFill>
                  <a:schemeClr val="bg1"/>
                </a:solidFill>
              </a:rPr>
              <a:t>earlier security and DevOps content, more supervisory visits</a:t>
            </a:r>
            <a:endParaRPr lang="en-US" sz="1350" dirty="0"/>
          </a:p>
          <a:p>
            <a:pPr marL="342900" indent="-342900">
              <a:buSzPct val="100000"/>
              <a:buChar char="•"/>
            </a:pPr>
            <a:r>
              <a:rPr lang="en-US" sz="1350" b="1" dirty="0">
                <a:solidFill>
                  <a:schemeClr val="bg1"/>
                </a:solidFill>
              </a:rPr>
              <a:t>ITF: </a:t>
            </a:r>
            <a:pPr indent="0" marL="0">
              <a:spcAft>
                <a:spcPts val="1000"/>
              </a:spcAft>
              <a:buNone/>
            </a:pPr>
            <a:r>
              <a:rPr lang="en-US" sz="1350" dirty="0">
                <a:solidFill>
                  <a:schemeClr val="bg1"/>
                </a:solidFill>
              </a:rPr>
              <a:t>prompt allowances and closer placement monitoring</a:t>
            </a:r>
            <a:endParaRPr lang="en-US" sz="135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50">
                <a:solidFill>
                  <a:srgbClr val="8A99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640080" y="1005840"/>
            <a:ext cx="5394960" cy="1737360"/>
          </a:xfrm>
          <a:prstGeom prst="rect">
            <a:avLst/>
          </a:prstGeom>
          <a:noFill/>
          <a:ln/>
        </p:spPr>
        <p:txBody>
          <a:bodyPr wrap="square" lIns="0" tIns="0" rIns="0" bIns="0" rtlCol="0" anchor="b"/>
          <a:lstStyle/>
          <a:p>
            <a:pPr algn="l" indent="0" marL="0">
              <a:buNone/>
            </a:pPr>
            <a:r>
              <a:rPr lang="en-US" sz="3600" b="1" dirty="0">
                <a:solidFill>
                  <a:schemeClr val="bg1"/>
                </a:solidFill>
              </a:rPr>
              <a:t>Thank you</a:t>
            </a:r>
            <a:endParaRPr lang="en-US" sz="3600" dirty="0"/>
          </a:p>
        </p:txBody>
      </p:sp>
      <p:sp>
        <p:nvSpPr>
          <p:cNvPr id="3" name="Text 1"/>
          <p:cNvSpPr/>
          <p:nvPr>
            <p:ph idx="102" type="body" hasCustomPrompt="1"/>
          </p:nvPr>
        </p:nvSpPr>
        <p:spPr>
          <a:xfrm>
            <a:off x="640080" y="2880360"/>
            <a:ext cx="5394960" cy="822960"/>
          </a:xfrm>
          <a:prstGeom prst="rect">
            <a:avLst/>
          </a:prstGeom>
          <a:noFill/>
          <a:ln/>
        </p:spPr>
        <p:txBody>
          <a:bodyPr wrap="square" lIns="0" tIns="0" rIns="0" bIns="0" rtlCol="0" anchor="t"/>
          <a:lstStyle/>
          <a:p>
            <a:pPr algn="l" indent="0" marL="0">
              <a:buNone/>
            </a:pPr>
            <a:r>
              <a:rPr lang="en-US" sz="1700" dirty="0">
                <a:solidFill>
                  <a:schemeClr val="bg2"/>
                </a:solidFill>
              </a:rPr>
              <a:t>Questions?</a:t>
            </a:r>
            <a:endParaRPr lang="en-US" sz="1700" dirty="0"/>
          </a:p>
        </p:txBody>
      </p:sp>
      <p:sp>
        <p:nvSpPr>
          <p:cNvPr id="4" name="Text 2"/>
          <p:cNvSpPr txBox="1"/>
          <p:nvPr/>
        </p:nvSpPr>
        <p:spPr>
          <a:xfrm>
            <a:off x="640080" y="416052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github.com/emmanuelekopimo/build-with-ai</a:t>
            </a:r>
            <a:endParaRPr lang="en-US" sz="1100" dirty="0"/>
          </a:p>
        </p:txBody>
      </p:sp>
      <p:sp>
        <p:nvSpPr>
          <p:cNvPr id="5" name="Shape 3"/>
          <p:cNvSpPr/>
          <p:nvPr/>
        </p:nvSpPr>
        <p:spPr>
          <a:xfrm>
            <a:off x="6400800" y="1280160"/>
            <a:ext cx="2103120" cy="2103120"/>
          </a:xfrm>
          <a:prstGeom prst="ellipse">
            <a:avLst/>
          </a:prstGeom>
          <a:solidFill>
            <a:schemeClr val="accent1"/>
          </a:solidFill>
          <a:ln w="12700">
            <a:solidFill>
              <a:schemeClr val="accent1"/>
            </a:solidFill>
            <a:prstDash val="solid"/>
          </a:ln>
        </p:spPr>
      </p:sp>
      <p:pic>
        <p:nvPicPr>
          <p:cNvPr id="6" name="Image 0" descr="Shield icon">    </p:cNvPr>
          <p:cNvPicPr>
            <a:picLocks noChangeAspect="1"/>
          </p:cNvPicPr>
          <p:nvPr/>
        </p:nvPicPr>
        <p:blipFill>
          <a:blip r:embed="rId1"/>
          <a:stretch>
            <a:fillRect/>
          </a:stretch>
        </p:blipFill>
        <p:spPr>
          <a:xfrm>
            <a:off x="6949440" y="1828800"/>
            <a:ext cx="1005840" cy="1005840"/>
          </a:xfrm>
          <a:prstGeom prst="rect">
            <a:avLst/>
          </a:prstGeom>
        </p:spPr>
      </p:pic>
    </p:spTree>
  </p:cSld>
  <p:clrMapOvr>
    <a:masterClrMapping/>
  </p:clrMapOvr>
</p:sld>
</file>

<file path=ppt/theme/theme1.xml><?xml version="1.0" encoding="utf-8"?>
<a:theme xmlns:a="http://schemas.openxmlformats.org/drawingml/2006/main" name="Cyber Lab">
  <a:themeElements>
    <a:clrScheme name="Cyber Lab">
      <a:dk1>
        <a:srgbClr val="0B1F33"/>
      </a:dk1>
      <a:lt1>
        <a:srgbClr val="FFFFFF"/>
      </a:lt1>
      <a:dk2>
        <a:srgbClr val="12385C"/>
      </a:dk2>
      <a:lt2>
        <a:srgbClr val="EAF0F6"/>
      </a:lt2>
      <a:accent1>
        <a:srgbClr val="0E7C86"/>
      </a:accent1>
      <a:accent2>
        <a:srgbClr val="E4572E"/>
      </a:accent2>
      <a:accent3>
        <a:srgbClr val="F2A541"/>
      </a:accent3>
      <a:accent4>
        <a:srgbClr val="3A6EA5"/>
      </a:accent4>
      <a:accent5>
        <a:srgbClr val="2F6F4E"/>
      </a:accent5>
      <a:accent6>
        <a:srgbClr val="8A99A8"/>
      </a:accent6>
      <a:hlink>
        <a:srgbClr val="0E7C86"/>
      </a:hlink>
      <a:folHlink>
        <a:srgbClr val="8A99A8"/>
      </a:folHlink>
    </a:clrScheme>
    <a:fontScheme name="Cyber L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SIWES Report: HiiT Plc, Network-Flow-Based Trojan Horse Detection for IoT Devices</dc:title>
  <dc:subject>PptxGenJS Presentation</dc:subject>
  <dc:creator>PptxGenJS</dc:creator>
  <cp:lastModifiedBy>PptxGenJS</cp:lastModifiedBy>
  <cp:revision>1</cp:revision>
  <dcterms:created xsi:type="dcterms:W3CDTF">2026-10-06T17:18:49Z</dcterms:created>
  <dcterms:modified xsi:type="dcterms:W3CDTF">2026-10-06T17:18:49Z</dcterms:modified>
</cp:coreProperties>
</file>
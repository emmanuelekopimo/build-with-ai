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69d5ae9-ce57-1202-bf8b-7f02358b9a70}">
          <p14:sldIdLst>
            <p14:sldId id="256"/>
            <p14:sldId id="257"/>
          </p14:sldIdLst>
        </p14:section>
        <p14:section name="SIWES &amp; HiiT Plc" id="{a125226f-5255-c21a-1533-1c26c3f32d15}">
          <p14:sldIdLst>
            <p14:sldId id="258"/>
            <p14:sldId id="259"/>
            <p14:sldId id="260"/>
          </p14:sldIdLst>
        </p14:section>
        <p14:section name="Skills Acquired" id="{b7d25df7-c952-3fb3-52e0-5c8939a78a29}">
          <p14:sldIdLst>
            <p14:sldId id="261"/>
          </p14:sldIdLst>
        </p14:section>
        <p14:section name="Mini Project" id="{675d4e76-2d01-dac5-0662-76100ae2357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Testing &amp; Evidence" id="{9d524a15-6eeb-8f73-e578-f79bc2a3437e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onclusion" id="{45bffafe-1f7f-8886-9ef8-03cdc184e63f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3"/>
                </a:solidFill>
                <a:latin typeface="+mn-lt"/>
              </a:rPr>
              <a:t>Weight added per finding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per finding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9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Critical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D5DD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3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SIWES, and the host organisation, HiiT Plc. One sentence on the mini project: a system that spots a Trojan Horse on IoT devices such as cameras by watching their network traffic,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the scheme and the company; what I learned; the project itself, including its problem and aim; a live demo of the lab; test evidence with real screenshots; and the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SIWES began in 1973 because employers complained that graduates knew theory but lacked practical skill. Five parties make it work: the ITF, the academic regulators, the university, the host company and the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HiiT Plc is an indigenous Nigerian IT company with CPN-accredited centres in four cities and more than 60,000 graduates. It works in training, software, consultancy and publishing, and runs a SIWES programme, which is where I trained. Confirm the founding year and head office from the company profile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highlighted details: branch, unit, dates and supervisors. The six work packages on the right all feed into the mini project that follows, and are the evidence base for the SIWES logbook.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areas of growth, all built while making the mini project: flow analysis, IoT security concepts, containers plus a Windows fallback, Python and Flask, testing with version control, and technical documentation generated straight from the code so it never goes stale.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from the placement overall to the main technical deliverable: the detector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 drove the design: cameras cannot host security software; malware signatures lag behind new variants; legitimate camera traffic is itself periodic, so naive rules misfire; and any demonstration must be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in one sentence: a lightweight, agentless Trojan detector that explains its findings and supports containment, demonstrable in a safe lab. Seven objectives operationalise it, from the flow schema through to the four kinds of testing in a few slides'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flow CSV goes through three stages. Parsing makes different exports uniform. The optional baseline records what each device normally does. The rules then produce findings, each mapped to MITRE ATT&amp;CK, and a risk score per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containers on an internal network with no route out. The trojan simulator shares a camera's network namespace, so its beacons carry that camera's address. Flow records go to a shared volume that the detector reads, and quarantining a device drops a marker file the simulator honours.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newest addition: a camera called cam-vault that starts already infected. Instead of just a score on a dashboard, its video feed itself glitches and overlays the virus's real fake activity. Also recently added: the whole lab now runs on Windows with one command, the cameras stream real-looking live video, and the detector is ready to be hosted online for a demo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rule families, each tied to a MITRE ATT&amp;CK technique. Beaconing is the interesting one: it measures how regular the gaps between flows are, using the coefficient of variation, and only applies to peers outside the device baseline. Thresholds are constants at the top of engine.py.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finding adds a weight: critical 40, high 25, medium 10, low 3, capped at 100. Under 10 is clean, 10-49 suspicious, 50+ compromised. The baseline is what stops false alarms: regular traffic to known peers is ignored, regular traffic to a new peer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here if possible: load the infected sample. Point to the numbered callouts: summary tiles, status pill, risk score, bytes out and the Quarantine button.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findings table explains each detection in plain words and in ATT&amp;CK terms. The same page works on a phone, which suits on-call triage. The sample has 22 findings; the screenshot shows the first seven.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kinds of evidence follow: the automated pytest suite running green, then real screenshots proving the positive cases (it catches the infected camera) and the negative cases (it leaves healthy traffic and bad input alone).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real, just-captured pytest run, not a mock-up -- every one of the 24 tests is listed here, not a sample, and all 24 pass. It covers the detection engine's rules, the web API, the Windows-compatible flow logger, and the live camera 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positive cases, each a real screenshot of the running app: the infected sample is caught and scored; the Quarantine button actually removes the simulator's persistence files; and the live lab capture is read correctly while the lab is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negative cases: a malformed CSV is rejected with a readable error instead of crashing, and the clean traffic sample -- which is just as regular as the infected one -- produces zero false alarms, because of the baseline logic shown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pass. The infected capture produces 22 findings, all on cam-garage, which scores 100. The clean capture is just as regular but produces no findings -- evidence that the baseline avoids false positives.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paid for itself: two of the three defects found changed the design before anyone else could hit them. To be upfront: the rules are heuristic, it cannot see inside encrypted traffic, it has no login screen, and the Docker layer still needs a run on a machine with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the system works on the samples, the lab makes it demonstrable and now visible, and I gained real practical skills. Recommendations: HiiT should give interns written task schedules and reviewers; the university should bring security and DevOps content earlier; the ITF should pay allowances promptly and monitor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Likely ones: why not signatures, how false positives are avoided (the baseline), and whether the trojan is real (no -- it is a harmless simulator on an isolated network).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0584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8036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SIWES Report  |  HiiT Plc  |  IoT Trojan Detector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SIWES Report  |  HiiT Plc  |  IoT Trojan Detector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058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SIWES Report: Experience at HiiT Plc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80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Mini project: a network-flow-based Trojan Horse detection system for IoT devices</a:t>
            </a:r>
            <a:endParaRPr lang="en-US" sz="1700" dirty="0"/>
          </a:p>
        </p:txBody>
      </p:sp>
      <p:sp>
        <p:nvSpPr>
          <p:cNvPr id="4" name="Presenter details"/>
          <p:cNvSpPr txBox="1"/>
          <p:nvPr/>
        </p:nvSpPr>
        <p:spPr>
          <a:xfrm>
            <a:off x="640080" y="3977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[Your name]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[Reg. No.]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Department of Computer Science, University of Uyo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[Month, Year]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2103120" cy="2103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this presentation covers</a:t>
            </a:r>
            <a:endParaRPr lang="en-US" sz="3000" dirty="0"/>
          </a:p>
        </p:txBody>
      </p:sp>
      <p:sp>
        <p:nvSpPr>
          <p:cNvPr id="3" name="Agenda card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SIWES and HiiT Plc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scheme, the company, my placement</a:t>
            </a:r>
            <a:endParaRPr lang="en-US" sz="1300" dirty="0"/>
          </a:p>
        </p:txBody>
      </p:sp>
      <p:sp>
        <p:nvSpPr>
          <p:cNvPr id="8" name="Agenda card 2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Skills acquired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the training built in me</a:t>
            </a:r>
            <a:endParaRPr lang="en-US" sz="1300" dirty="0"/>
          </a:p>
        </p:txBody>
      </p:sp>
      <p:sp>
        <p:nvSpPr>
          <p:cNvPr id="13" name="Agenda card 3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mini project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Problem, aim, design and how it works</a:t>
            </a:r>
            <a:endParaRPr lang="en-US" sz="1300" dirty="0"/>
          </a:p>
        </p:txBody>
      </p:sp>
      <p:sp>
        <p:nvSpPr>
          <p:cNvPr id="18" name="Agenda card 4"/>
          <p:cNvSpPr/>
          <p:nvPr/>
        </p:nvSpPr>
        <p:spPr>
          <a:xfrm>
            <a:off x="457200" y="29718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demonstration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lab and an infection you can watch</a:t>
            </a:r>
            <a:endParaRPr lang="en-US" sz="1300" dirty="0"/>
          </a:p>
        </p:txBody>
      </p:sp>
      <p:sp>
        <p:nvSpPr>
          <p:cNvPr id="23" name="Agenda card 5"/>
          <p:cNvSpPr/>
          <p:nvPr/>
        </p:nvSpPr>
        <p:spPr>
          <a:xfrm>
            <a:off x="3291840" y="29718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Testing and evidence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Automated, positive and negative test results</a:t>
            </a:r>
            <a:endParaRPr lang="en-US" sz="1300" dirty="0"/>
          </a:p>
        </p:txBody>
      </p:sp>
      <p:sp>
        <p:nvSpPr>
          <p:cNvPr id="28" name="Agenda card 6"/>
          <p:cNvSpPr/>
          <p:nvPr/>
        </p:nvSpPr>
        <p:spPr>
          <a:xfrm>
            <a:off x="6126480" y="297180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Results, lessons and recommendations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About SIWES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1973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77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Industrial Training Fund launched SIWES so that graduates meet real working conditions before they leave university.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ITF itself was established in 1971.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234440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1344168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983480" y="123444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ITF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administers and funds the scheme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856232"/>
            <a:ext cx="438912" cy="438912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9659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983480" y="18562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NUC, NBTE, NCCE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academic standards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89120" y="2478024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58775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83480" y="247802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Institution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places, supervises and assesses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389120" y="3099816"/>
            <a:ext cx="438912" cy="438912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20954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83480" y="309981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Host organisation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trains and mentors the student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389120" y="3721608"/>
            <a:ext cx="438912" cy="43891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831336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983480" y="372160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Student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a logbook and writes the report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About HiiT Plc, the host organisation</a:t>
            </a:r>
            <a:endParaRPr lang="en-US" sz="3000" dirty="0"/>
          </a:p>
        </p:txBody>
      </p:sp>
      <p:sp>
        <p:nvSpPr>
          <p:cNvPr id="3" name="HiiT stat 1"/>
          <p:cNvSpPr/>
          <p:nvPr/>
        </p:nvSpPr>
        <p:spPr>
          <a:xfrm>
            <a:off x="457200" y="1234440"/>
            <a:ext cx="18745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60,000+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graduates trained</a:t>
            </a:r>
            <a:endParaRPr lang="en-US" sz="1300" dirty="0"/>
          </a:p>
        </p:txBody>
      </p:sp>
      <p:sp>
        <p:nvSpPr>
          <p:cNvPr id="6" name="HiiT stat 2"/>
          <p:cNvSpPr/>
          <p:nvPr/>
        </p:nvSpPr>
        <p:spPr>
          <a:xfrm>
            <a:off x="2578608" y="1234440"/>
            <a:ext cx="18745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cities with CPN-accredited centres</a:t>
            </a:r>
            <a:endParaRPr lang="en-US" sz="1300" dirty="0"/>
          </a:p>
        </p:txBody>
      </p:sp>
      <p:sp>
        <p:nvSpPr>
          <p:cNvPr id="9" name="HiiT stat 3"/>
          <p:cNvSpPr/>
          <p:nvPr/>
        </p:nvSpPr>
        <p:spPr>
          <a:xfrm>
            <a:off x="4700016" y="1234440"/>
            <a:ext cx="18745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registered Nigerian IT company</a:t>
            </a:r>
            <a:endParaRPr lang="en-US" sz="1300" dirty="0"/>
          </a:p>
        </p:txBody>
      </p:sp>
      <p:sp>
        <p:nvSpPr>
          <p:cNvPr id="12" name="HiiT stat 4"/>
          <p:cNvSpPr/>
          <p:nvPr/>
        </p:nvSpPr>
        <p:spPr>
          <a:xfrm>
            <a:off x="6821424" y="1234440"/>
            <a:ext cx="1874520" cy="1508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58584" y="13258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2057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lines of business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Lagos, Abuja, Ibadan and Kano; instructor-led online classes reach learners elsewhere.</a:t>
            </a:r>
            <a:endParaRPr lang="en-US" sz="1300" dirty="0"/>
          </a:p>
        </p:txBody>
      </p:sp>
      <p:sp>
        <p:nvSpPr>
          <p:cNvPr id="16" name="Business line 1"/>
          <p:cNvSpPr/>
          <p:nvPr/>
        </p:nvSpPr>
        <p:spPr>
          <a:xfrm>
            <a:off x="457200" y="3337560"/>
            <a:ext cx="1481328" cy="475488"/>
          </a:xfrm>
          <a:prstGeom prst="roundRect">
            <a:avLst>
              <a:gd name="adj" fmla="val 23077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IT training</a:t>
            </a:r>
            <a:endParaRPr lang="en-US" sz="1300" dirty="0"/>
          </a:p>
        </p:txBody>
      </p:sp>
      <p:sp>
        <p:nvSpPr>
          <p:cNvPr id="18" name="Business line 2"/>
          <p:cNvSpPr/>
          <p:nvPr/>
        </p:nvSpPr>
        <p:spPr>
          <a:xfrm>
            <a:off x="2144268" y="3337560"/>
            <a:ext cx="1481328" cy="475488"/>
          </a:xfrm>
          <a:prstGeom prst="roundRect">
            <a:avLst>
              <a:gd name="adj" fmla="val 23077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44268" y="3337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Software</a:t>
            </a:r>
            <a:endParaRPr lang="en-US" sz="1300" dirty="0"/>
          </a:p>
        </p:txBody>
      </p:sp>
      <p:sp>
        <p:nvSpPr>
          <p:cNvPr id="20" name="Business line 3"/>
          <p:cNvSpPr/>
          <p:nvPr/>
        </p:nvSpPr>
        <p:spPr>
          <a:xfrm>
            <a:off x="3831336" y="3337560"/>
            <a:ext cx="1481328" cy="475488"/>
          </a:xfrm>
          <a:prstGeom prst="roundRect">
            <a:avLst>
              <a:gd name="adj" fmla="val 23077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31336" y="3337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Consultancy</a:t>
            </a:r>
            <a:endParaRPr lang="en-US" sz="1300" dirty="0"/>
          </a:p>
        </p:txBody>
      </p:sp>
      <p:sp>
        <p:nvSpPr>
          <p:cNvPr id="22" name="Business line 4"/>
          <p:cNvSpPr/>
          <p:nvPr/>
        </p:nvSpPr>
        <p:spPr>
          <a:xfrm>
            <a:off x="5518404" y="3337560"/>
            <a:ext cx="1481328" cy="475488"/>
          </a:xfrm>
          <a:prstGeom prst="roundRect">
            <a:avLst>
              <a:gd name="adj" fmla="val 23077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18404" y="3337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Publishing</a:t>
            </a:r>
            <a:endParaRPr lang="en-US" sz="1300" dirty="0"/>
          </a:p>
        </p:txBody>
      </p:sp>
      <p:sp>
        <p:nvSpPr>
          <p:cNvPr id="24" name="Business line 5"/>
          <p:cNvSpPr/>
          <p:nvPr/>
        </p:nvSpPr>
        <p:spPr>
          <a:xfrm>
            <a:off x="7205472" y="3337560"/>
            <a:ext cx="1481328" cy="475488"/>
          </a:xfrm>
          <a:prstGeom prst="roundRect">
            <a:avLst>
              <a:gd name="adj" fmla="val 23077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05472" y="333756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SIWES programme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Sources: BusinessDay (2020); HiiT Plc company profile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My placement at HiiT Plc</a:t>
            </a:r>
            <a:endParaRPr lang="en-US" sz="3000" dirty="0"/>
          </a:p>
        </p:txBody>
      </p:sp>
      <p:sp>
        <p:nvSpPr>
          <p:cNvPr id="3" name="Placement details card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Placement details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288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HiiT Plc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21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Branch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221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[branch / centre]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615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[unit / department]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083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Period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008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[start date]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to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[end date]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01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Supervisor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4015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[industry supervisor]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94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Institution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37947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highlight>
                  <a:srgbClr val="FFFF00"/>
                </a:highlight>
              </a:rPr>
              <a:t>[institution supervisor]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Work completed</a:t>
            </a:r>
            <a:endParaRPr lang="en-US" sz="1700" dirty="0"/>
          </a:p>
        </p:txBody>
      </p:sp>
      <p:pic>
        <p:nvPicPr>
          <p:cNvPr id="18" name="Image 0" descr="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755648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138928" y="171907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Flow-analysis engine in Python</a:t>
            </a:r>
            <a:endParaRPr lang="en-US" sz="1400" dirty="0"/>
          </a:p>
        </p:txBody>
      </p:sp>
      <p:pic>
        <p:nvPicPr>
          <p:cNvPr id="20" name="Image 1" descr="D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76272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38928" y="213969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 interface and JSON API (Flask)</a:t>
            </a:r>
            <a:endParaRPr lang="en-US" sz="1400" dirty="0"/>
          </a:p>
        </p:txBody>
      </p:sp>
      <p:pic>
        <p:nvPicPr>
          <p:cNvPr id="22" name="Image 2" descr="D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96896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38928" y="256032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Docker camera laboratory</a:t>
            </a:r>
            <a:endParaRPr lang="en-US" sz="1400" dirty="0"/>
          </a:p>
        </p:txBody>
      </p:sp>
      <p:pic>
        <p:nvPicPr>
          <p:cNvPr id="24" name="Image 3" descr="D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017520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38928" y="298094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Harmless trojan and fake C2 server</a:t>
            </a:r>
            <a:endParaRPr lang="en-US" sz="1400" dirty="0"/>
          </a:p>
        </p:txBody>
      </p:sp>
      <p:pic>
        <p:nvPicPr>
          <p:cNvPr id="26" name="Image 4" descr="Do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4381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38928" y="340156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24 automated tests, all passing</a:t>
            </a:r>
            <a:endParaRPr lang="en-US" sz="1400" dirty="0"/>
          </a:p>
        </p:txBody>
      </p:sp>
      <p:pic>
        <p:nvPicPr>
          <p:cNvPr id="28" name="Image 5" descr="Do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858768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138928" y="382219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README, PDF, Word and slide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Skills acquired during the placement</a:t>
            </a:r>
            <a:endParaRPr lang="en-US" sz="3000" dirty="0"/>
          </a:p>
        </p:txBody>
      </p:sp>
      <p:sp>
        <p:nvSpPr>
          <p:cNvPr id="3" name="Skill card 1"/>
          <p:cNvSpPr/>
          <p:nvPr/>
        </p:nvSpPr>
        <p:spPr>
          <a:xfrm>
            <a:off x="457200" y="12344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361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4173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Network flow analysis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Reading traffic for behaviour, not content</a:t>
            </a:r>
            <a:endParaRPr lang="en-US" sz="1250" dirty="0"/>
          </a:p>
        </p:txBody>
      </p:sp>
      <p:sp>
        <p:nvSpPr>
          <p:cNvPr id="8" name="Skill card 2"/>
          <p:cNvSpPr/>
          <p:nvPr/>
        </p:nvSpPr>
        <p:spPr>
          <a:xfrm>
            <a:off x="3291840" y="12344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17320"/>
            <a:ext cx="475488" cy="475488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53619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96512" y="14173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IoT &amp; cyber security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Trojans, command-and-control, MITRE ATT&amp;CK</a:t>
            </a:r>
            <a:endParaRPr lang="en-US" sz="1250" dirty="0"/>
          </a:p>
        </p:txBody>
      </p:sp>
      <p:sp>
        <p:nvSpPr>
          <p:cNvPr id="13" name="Skill card 3"/>
          <p:cNvSpPr/>
          <p:nvPr/>
        </p:nvSpPr>
        <p:spPr>
          <a:xfrm>
            <a:off x="6126480" y="12344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41732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5361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31152" y="14173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Containers &amp; Windows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Docker Compose lab; a Windows-compatible fallback</a:t>
            </a:r>
            <a:endParaRPr lang="en-US" sz="1250" dirty="0"/>
          </a:p>
        </p:txBody>
      </p:sp>
      <p:sp>
        <p:nvSpPr>
          <p:cNvPr id="18" name="Skill card 4"/>
          <p:cNvSpPr/>
          <p:nvPr/>
        </p:nvSpPr>
        <p:spPr>
          <a:xfrm>
            <a:off x="457200" y="28346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475488" cy="475488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13639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0175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Python &amp; Flask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Layered, testable backend and web API</a:t>
            </a:r>
            <a:endParaRPr lang="en-US" sz="1250" dirty="0"/>
          </a:p>
        </p:txBody>
      </p:sp>
      <p:sp>
        <p:nvSpPr>
          <p:cNvPr id="23" name="Skill card 5"/>
          <p:cNvSpPr/>
          <p:nvPr/>
        </p:nvSpPr>
        <p:spPr>
          <a:xfrm>
            <a:off x="3291840" y="28346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017520"/>
            <a:ext cx="475488" cy="47548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13639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96512" y="30175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Testing &amp; Git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24 pytest cases; branches and a pull request</a:t>
            </a:r>
            <a:endParaRPr lang="en-US" sz="1250" dirty="0"/>
          </a:p>
        </p:txBody>
      </p:sp>
      <p:sp>
        <p:nvSpPr>
          <p:cNvPr id="28" name="Skill card 6"/>
          <p:cNvSpPr/>
          <p:nvPr/>
        </p:nvSpPr>
        <p:spPr>
          <a:xfrm>
            <a:off x="6126480" y="2834640"/>
            <a:ext cx="25603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309360" y="3017520"/>
            <a:ext cx="475488" cy="475488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136392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31152" y="30175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Technical writing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README, PDF, Word report and slide decks, all generated from the code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The Mini Project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Design and implementation of a network-flow-based Trojan Horse detection system for IoT devices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316736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887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on-device protection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179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IoT devices cannot run endpoint security agents, so detection has to happen on the network, not on the device.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12064" cy="512064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2185416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0574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Signatures miss new malware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3865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Antivirus signatures only catch malware already analysed; a Trojan variant slips straight past them.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05409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2608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Healthy traffic looks regular too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2552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camera streams video on a fixed schedule already, so a naive "regular = suspicious" rule floods analysts with false alarms.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794760"/>
            <a:ext cx="512064" cy="512064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92277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7947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Testing needs to be safe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12394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Demonstrating detection must not involve real malware or put a real network at risk.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Aim and objectives</a:t>
            </a:r>
            <a:endParaRPr lang="en-US" sz="3000" dirty="0"/>
          </a:p>
        </p:txBody>
      </p:sp>
      <p:sp>
        <p:nvSpPr>
          <p:cNvPr id="3" name="Aim card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Aim: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design, implement and test a lightweight, agentless system that detects Trojan-like behaviour on IoT devices from network-flow data, explains each finding, and supports containment -- with a safe laboratory to demonstrate 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23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 a flow-record schema any tool (Zeek, Suricata, routers) can produce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9443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 known-bad contacts, odd ports, beaconing, scans and large transfers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655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a per-device baseline, so legitimate periodic traffic is never reported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867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 every finding to MITRE ATT&amp;CK and give each device a 0-100 risk score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423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5.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Provide a web interface and API to upload, review and quarantine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9443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6.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an isolated test lab with simulated cameras and a harmless trojan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46557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</a:rPr>
              <a:t>7.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Verify everything with automated, positive, negative and lab tests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detection works</a:t>
            </a:r>
            <a:endParaRPr lang="en-US" sz="3000" dirty="0"/>
          </a:p>
        </p:txBody>
      </p:sp>
      <p:pic>
        <p:nvPicPr>
          <p:cNvPr id="3" name="Image 0" descr="Detection pipeline: flow CSV, parse, baseline, detect, score, JSON to U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275768"/>
          </a:xfrm>
          <a:prstGeom prst="rect">
            <a:avLst/>
          </a:prstGeom>
        </p:spPr>
      </p:pic>
      <p:sp>
        <p:nvSpPr>
          <p:cNvPr id="4" name="Step card 1"/>
          <p:cNvSpPr/>
          <p:nvPr/>
        </p:nvSpPr>
        <p:spPr>
          <a:xfrm>
            <a:off x="457200" y="269748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 Parse and normalise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2735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Column aliases, ISO or epoch timestamps, and clear errors for bad files.</a:t>
            </a:r>
            <a:endParaRPr lang="en-US" sz="1300" dirty="0"/>
          </a:p>
        </p:txBody>
      </p:sp>
      <p:sp>
        <p:nvSpPr>
          <p:cNvPr id="7" name="Step card 2"/>
          <p:cNvSpPr/>
          <p:nvPr/>
        </p:nvSpPr>
        <p:spPr>
          <a:xfrm>
            <a:off x="3291840" y="269748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7472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  Compare with a baseline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32735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Known-good ports and peers per device decide what is normal.</a:t>
            </a:r>
            <a:endParaRPr lang="en-US" sz="1300" dirty="0"/>
          </a:p>
        </p:txBody>
      </p:sp>
      <p:sp>
        <p:nvSpPr>
          <p:cNvPr id="10" name="Step card 3"/>
          <p:cNvSpPr/>
          <p:nvPr/>
        </p:nvSpPr>
        <p:spPr>
          <a:xfrm>
            <a:off x="6126480" y="2697480"/>
            <a:ext cx="256032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2834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 Score and report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273552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Findings carry severity and ATT&amp;CK; each device gets a 0-100 score.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Architecture of the laboratory and detec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3255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65760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657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Docker Compose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194560" y="365760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94560" y="3657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Flask + gunicorn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31920" y="365760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12385C"/>
          </a:solidFill>
          <a:ln w="12700">
            <a:solidFill>
              <a:srgbClr val="12385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36576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MediaMTX + ffmpeg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2344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lab network is internal: no route to the internet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trojan shares a camera's network namespace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shared volume carries flows.csv and quarantine markers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Harmless: EICAR test string, fake C2, no real payload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Watch an infection happen</a:t>
            </a:r>
            <a:endParaRPr lang="en-US" sz="3000" dirty="0"/>
          </a:p>
        </p:txBody>
      </p:sp>
      <p:pic>
        <p:nvPicPr>
          <p:cNvPr id="3" name="Image 0" descr="Clean camera f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657600" cy="2057400"/>
          </a:xfrm>
          <a:prstGeom prst="rect">
            <a:avLst/>
          </a:prstGeom>
        </p:spPr>
      </p:pic>
      <p:pic>
        <p:nvPicPr>
          <p:cNvPr id="4" name="Image 1" descr="Infected camera feed, glitching, showing fake hacker activ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657600" cy="2057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Before: normal video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After: feed glitches, virus activity overlaid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</a:rPr>
              <a:t>A new camera, "cam-vault", starts already infected. Its picture visibly breaks up and shows the virus's real activity (connections, file drops) -- so an audience can SEE the infection.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57200" y="4224528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42245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Windows support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42032" y="4224528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542032" y="42245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 streaming video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26864" y="4224528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626864" y="42245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Pre-infected camera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11696" y="4224528"/>
            <a:ext cx="1901952" cy="384048"/>
          </a:xfrm>
          <a:prstGeom prst="roundRect">
            <a:avLst>
              <a:gd name="adj" fmla="val 2381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11696" y="4224528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Ready to host online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Detection rules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206240"/>
                <a:gridCol w="109728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ATT&amp;CK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Known-bad 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with a threat-intelligence listed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 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 such as 23, 4444, 6667 and 31337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Unusual 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outside the baseline and camera defaults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external peer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never seen in the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Beaconing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 flows, jitter CV &lt;= 0.25, peer outside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burst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hosts or ports within 60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T1018 / T1046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MB or more to one external address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outlier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above baseline mean + 4 sigma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Scoring and baselines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us Clean"/>
          <p:cNvSpPr/>
          <p:nvPr/>
        </p:nvSpPr>
        <p:spPr>
          <a:xfrm>
            <a:off x="457200" y="3657600"/>
            <a:ext cx="1325880" cy="594360"/>
          </a:xfrm>
          <a:prstGeom prst="roundRect">
            <a:avLst>
              <a:gd name="adj" fmla="val 15385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657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Clean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&lt; 10</a:t>
            </a:r>
            <a:endParaRPr lang="en-US" sz="1150" dirty="0"/>
          </a:p>
        </p:txBody>
      </p:sp>
      <p:sp>
        <p:nvSpPr>
          <p:cNvPr id="6" name="Status Suspicious"/>
          <p:cNvSpPr/>
          <p:nvPr/>
        </p:nvSpPr>
        <p:spPr>
          <a:xfrm>
            <a:off x="1874520" y="3657600"/>
            <a:ext cx="1325880" cy="594360"/>
          </a:xfrm>
          <a:prstGeom prst="roundRect">
            <a:avLst>
              <a:gd name="adj" fmla="val 15385"/>
            </a:avLst>
          </a:prstGeom>
          <a:solidFill>
            <a:srgbClr val="8A5A00"/>
          </a:solidFill>
          <a:ln w="12700">
            <a:solidFill>
              <a:srgbClr val="8A5A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74520" y="3657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Suspicious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10-49</a:t>
            </a:r>
            <a:endParaRPr lang="en-US" sz="1150" dirty="0"/>
          </a:p>
        </p:txBody>
      </p:sp>
      <p:sp>
        <p:nvSpPr>
          <p:cNvPr id="8" name="Status Compromised"/>
          <p:cNvSpPr/>
          <p:nvPr/>
        </p:nvSpPr>
        <p:spPr>
          <a:xfrm>
            <a:off x="3291840" y="3657600"/>
            <a:ext cx="1325880" cy="594360"/>
          </a:xfrm>
          <a:prstGeom prst="roundRect">
            <a:avLst>
              <a:gd name="adj" fmla="val 15385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3657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Compromised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50+</a:t>
            </a:r>
            <a:endParaRPr lang="en-US" sz="1150" dirty="0"/>
          </a:p>
        </p:txBody>
      </p:sp>
      <p:sp>
        <p:nvSpPr>
          <p:cNvPr id="10" name="Baseline card"/>
          <p:cNvSpPr/>
          <p:nvPr/>
        </p:nvSpPr>
        <p:spPr>
          <a:xfrm>
            <a:off x="4846320" y="1143000"/>
            <a:ext cx="3840480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74920" y="1261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baseline?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1719072"/>
            <a:ext cx="3383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Healthy cameras are periodic too: video every ~10 s, NTP, heartbeats.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Beaconing counts only for peers outside a device's baseline.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15 s beacon scores about 0.02 on jitter, far below the 0.25 limit.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07492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4E"/>
                </a:solidFill>
              </a:rPr>
              <a:t>0 findings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 on the clean capture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detector in action</a:t>
            </a:r>
            <a:endParaRPr lang="en-US" sz="3000" dirty="0"/>
          </a:p>
        </p:txBody>
      </p:sp>
      <p:pic>
        <p:nvPicPr>
          <p:cNvPr id="3" name="Image 0" descr="Results screen: summary tiles and device table with cam-garage compromi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7863840" cy="3104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3159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Infected sample: cam-garage compromised (score 100); other cameras clean.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Findings explained, and on a phone</a:t>
            </a:r>
            <a:endParaRPr lang="en-US" sz="3000" dirty="0"/>
          </a:p>
        </p:txBody>
      </p:sp>
      <p:pic>
        <p:nvPicPr>
          <p:cNvPr id="3" name="Image 0" descr="Findings table with severity, evidence and ATT&amp;CK techn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85930" cy="3200400"/>
          </a:xfrm>
          <a:prstGeom prst="rect">
            <a:avLst/>
          </a:prstGeom>
        </p:spPr>
      </p:pic>
      <p:pic>
        <p:nvPicPr>
          <p:cNvPr id="4" name="Image 1" descr="Mobile view of summary tiles and device 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1854615" cy="3200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03720" y="1234440"/>
            <a:ext cx="1783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Severity, evidence and ATT&amp;CK technique for every finding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Tables scroll inside their cards on a phone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One-click Quarantine and Release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Testing &amp; Evidence</a:t>
            </a:r>
            <a:endParaRPr lang="en-US" sz="4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Three kinds of proof: an automated test suite, and real screenshots of positive and negative cases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Evidence 1: automated test suite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Every one of the 24 tests, not a sample -- real output, captured just now</a:t>
            </a:r>
            <a:endParaRPr lang="en-US" sz="1250" dirty="0"/>
          </a:p>
        </p:txBody>
      </p:sp>
      <p:sp>
        <p:nvSpPr>
          <p:cNvPr id="4" name="Terminal window"/>
          <p:cNvSpPr/>
          <p:nvPr/>
        </p:nvSpPr>
        <p:spPr>
          <a:xfrm>
            <a:off x="548640" y="1207008"/>
            <a:ext cx="8046720" cy="3456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46304" cy="14630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325880"/>
            <a:ext cx="146304" cy="146304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1325880"/>
            <a:ext cx="146304" cy="146304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1280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-v trojan-lab/tests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5544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test_app.py::test_upload_with_baseline................................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16687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test_app.py::test_upload_rejects_bad_csv..............................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7830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test_app.py::test_no_file.............................................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8973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test_app.py::test_sample_and_quarantine_roundtrip.....................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0116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test_app.py::test_quarantine_rejects_traversal........................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1259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test_app.py::test_live_capture_missing_gives_actionable_error.........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2402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test_app.py::test_live_capture_present................................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3545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test_engine.py::test_clean_capture_has_no_findings[True]..............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4688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test_engine.py::test_clean_capture_has_no_findings[False].............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5831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test_engine.py::test_infected_device_flagged_others_clean[True].......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6974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test_engine.py::test_infected_device_flagged_others_clean[False]......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28117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test_engine.py::test_beacon_interval_reported.........................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29260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test_engine.py::test_column_aliases_and_epoch.........................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0403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test_engine.py::test_missing_columns_message..........................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1546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test_engine.py::test_empty_or_headers_only[]..........................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2689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test_engine.py::test_empty_or_headers_only[timestamp,device\n]........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3832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test_engine.py::test_irregular_traffic_not_beacon.....................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4975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test_flowlog_camera.py::test_flowlog_header_once_and_all_rows.........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36118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test_flowlog_camera.py::test_flowlog_windows_fallback_path............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7261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test_flowlog_camera.py::test_default_data_dir_env.....................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8404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test_flowlog_camera.py::test_camera_requires_login....................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39547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test_flowlog_camera.py::test_camera_snapshot_is_jpeg..................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0690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test_flowlog_camera.py::test_camera_stream_is_live_mjpeg..............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183380"/>
            <a:ext cx="7498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test_flowlog_camera.py::test_camera_shows_compromise_when_infected_marker_present</a:t>
            </a:r>
            <a:pPr indent="0" marL="0">
              <a:buNone/>
            </a:pPr>
            <a:r>
              <a:rPr lang="en-US" sz="7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352544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 24 passed in 0.48s ==============================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86600" y="4352544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35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4407408"/>
            <a:ext cx="182880" cy="18288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7342632" y="43525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24/24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Evidence 2: positive test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Proving the detector catches what it should</a:t>
            </a:r>
            <a:endParaRPr lang="en-US" sz="1300" dirty="0"/>
          </a:p>
        </p:txBody>
      </p:sp>
      <p:pic>
        <p:nvPicPr>
          <p:cNvPr id="4" name="Image 0" descr="P1: infected s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2606040" cy="10288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2606040" cy="1028823"/>
          </a:xfrm>
          <a:prstGeom prst="rect">
            <a:avLst/>
          </a:prstGeom>
          <a:ln w="19050">
            <a:solidFill>
              <a:srgbClr val="2F6F4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427855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P1: infected sample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02175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cam-garage flagged compromised, score 100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3177663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232527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3177663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pic>
        <p:nvPicPr>
          <p:cNvPr id="11" name="Image 2" descr="P6: quarantine ac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325880"/>
            <a:ext cx="2606040" cy="7663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1325880"/>
            <a:ext cx="2606040" cy="766344"/>
          </a:xfrm>
          <a:prstGeom prst="rect">
            <a:avLst/>
          </a:prstGeom>
          <a:ln w="19050">
            <a:solidFill>
              <a:srgbClr val="2F6F4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3246120" y="2165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P6: quarantine action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3246120" y="24396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click removes the simulated persistence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246120" y="2915184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16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2970048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502152" y="291518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pic>
        <p:nvPicPr>
          <p:cNvPr id="18" name="Image 4" descr="P7: live lab captu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325880"/>
            <a:ext cx="2606040" cy="644479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035040" y="1325880"/>
            <a:ext cx="2606040" cy="644479"/>
          </a:xfrm>
          <a:prstGeom prst="rect">
            <a:avLst/>
          </a:prstGeom>
          <a:ln w="19050">
            <a:solidFill>
              <a:srgbClr val="2F6F4E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6035040" y="2043511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P7: live lab capture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035040" y="2317831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Reads flows.csv written by the running lab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035040" y="2793319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23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2848183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291072" y="2793319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Evidence 3: negative test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Proving it rejects bad input and does not cry wolf</a:t>
            </a:r>
            <a:endParaRPr lang="en-US" sz="1300" dirty="0"/>
          </a:p>
        </p:txBody>
      </p:sp>
      <p:pic>
        <p:nvPicPr>
          <p:cNvPr id="4" name="Image 0" descr="N1: malformed CSV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3931920" cy="21745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3931920" cy="2174578"/>
          </a:xfrm>
          <a:prstGeom prst="rect">
            <a:avLst/>
          </a:prstGeom>
          <a:ln w="1905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59189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N1: malformed CSV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0279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Missing columns -&gt; HTTP 400 with a clear message, not a crash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41485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446972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441485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pic>
        <p:nvPicPr>
          <p:cNvPr id="11" name="Image 2" descr="N7: clean traffic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63440" y="1325880"/>
            <a:ext cx="3931920" cy="15522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63440" y="1325880"/>
            <a:ext cx="3931920" cy="1552260"/>
          </a:xfrm>
          <a:prstGeom prst="rect">
            <a:avLst/>
          </a:prstGeom>
          <a:ln w="19050">
            <a:solidFill>
              <a:srgbClr val="E4572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663440" y="29695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N7: clean traffic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663440" y="32804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 findings on 1,190 healthy flows -- no false alarms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379254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pic>
        <p:nvPicPr>
          <p:cNvPr id="16" name="Image 3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847404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919472" y="3792540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PASS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 at a glance</a:t>
            </a:r>
            <a:endParaRPr lang="en-US" sz="3000" dirty="0"/>
          </a:p>
        </p:txBody>
      </p:sp>
      <p:sp>
        <p:nvSpPr>
          <p:cNvPr id="3" name="Result stat 1"/>
          <p:cNvSpPr/>
          <p:nvPr/>
        </p:nvSpPr>
        <p:spPr>
          <a:xfrm>
            <a:off x="457200" y="1188720"/>
            <a:ext cx="18745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automated tests pass</a:t>
            </a:r>
            <a:endParaRPr lang="en-US" sz="1250" dirty="0"/>
          </a:p>
        </p:txBody>
      </p:sp>
      <p:sp>
        <p:nvSpPr>
          <p:cNvPr id="6" name="Result stat 2"/>
          <p:cNvSpPr/>
          <p:nvPr/>
        </p:nvSpPr>
        <p:spPr>
          <a:xfrm>
            <a:off x="2578608" y="1188720"/>
            <a:ext cx="18745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15768" y="1280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715768" y="19933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findings on the infected sample</a:t>
            </a:r>
            <a:endParaRPr lang="en-US" sz="1250" dirty="0"/>
          </a:p>
        </p:txBody>
      </p:sp>
      <p:sp>
        <p:nvSpPr>
          <p:cNvPr id="9" name="Result stat 3"/>
          <p:cNvSpPr/>
          <p:nvPr/>
        </p:nvSpPr>
        <p:spPr>
          <a:xfrm>
            <a:off x="4700016" y="1188720"/>
            <a:ext cx="18745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1280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19933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false alarms on clean traffic</a:t>
            </a:r>
            <a:endParaRPr lang="en-US" sz="1250" dirty="0"/>
          </a:p>
        </p:txBody>
      </p:sp>
      <p:sp>
        <p:nvSpPr>
          <p:cNvPr id="12" name="Result stat 4"/>
          <p:cNvSpPr/>
          <p:nvPr/>
        </p:nvSpPr>
        <p:spPr>
          <a:xfrm>
            <a:off x="6821424" y="1188720"/>
            <a:ext cx="1874520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58584" y="1280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58584" y="199339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risk score given to the infected camera</a:t>
            </a:r>
            <a:endParaRPr lang="en-US" sz="1250" dirty="0"/>
          </a:p>
        </p:txBody>
      </p:sp>
      <p:sp>
        <p:nvSpPr>
          <p:cNvPr id="15" name="Device cam-garage"/>
          <p:cNvSpPr/>
          <p:nvPr/>
        </p:nvSpPr>
        <p:spPr>
          <a:xfrm>
            <a:off x="457200" y="30632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cam-garage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compromised, score 100</a:t>
            </a:r>
            <a:endParaRPr lang="en-US" sz="1500" dirty="0"/>
          </a:p>
        </p:txBody>
      </p:sp>
      <p:sp>
        <p:nvSpPr>
          <p:cNvPr id="17" name="Device cam-lobby"/>
          <p:cNvSpPr/>
          <p:nvPr/>
        </p:nvSpPr>
        <p:spPr>
          <a:xfrm>
            <a:off x="3291840" y="30632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cam-lobby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clean, score 0</a:t>
            </a:r>
            <a:endParaRPr lang="en-US" sz="1500" dirty="0"/>
          </a:p>
        </p:txBody>
      </p:sp>
      <p:sp>
        <p:nvSpPr>
          <p:cNvPr id="19" name="Device cam-office"/>
          <p:cNvSpPr/>
          <p:nvPr/>
        </p:nvSpPr>
        <p:spPr>
          <a:xfrm>
            <a:off x="6126480" y="30632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2F6F4E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cam-office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clean, score 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Infected sample: 1,353 flows from 3 cameras.  Clean sample: 1,190 flows.  Same engine, same thresholds -- just different input.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testing found, and current limits</a:t>
            </a:r>
            <a:endParaRPr lang="en-US" sz="3000" dirty="0"/>
          </a:p>
        </p:txBody>
      </p:sp>
      <p:sp>
        <p:nvSpPr>
          <p:cNvPr id="3" name="Defects card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found &amp; fixed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Healthy traffic was first mistaken for beaconing -&gt; fixed with the baseline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Lab's test IPs were treated as private -&gt; LAN ranges now listed explicitly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Baseline lives in memory -&gt; noted as an open item</a:t>
            </a:r>
            <a:endParaRPr lang="en-US" sz="1350" dirty="0"/>
          </a:p>
        </p:txBody>
      </p:sp>
      <p:sp>
        <p:nvSpPr>
          <p:cNvPr id="6" name="Limits card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Heuristic rules, tuned on simulated data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Cannot inspect encrypted payloads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No built-in login -- do not expose it publicly as-is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Docker layer still needs a run on a Docker host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&amp; recommendations</a:t>
            </a:r>
            <a:endParaRPr lang="en-US" sz="3000" dirty="0"/>
          </a:p>
        </p:txBody>
      </p:sp>
      <p:sp>
        <p:nvSpPr>
          <p:cNvPr id="3" name="Achievements card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0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achieved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A working, tested Trojan detector for IoT flows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A safe, repeatable camera lab -- now with a camera you can watch get hacked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24/24 automated tests, plus real positive and negative evidence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bg1"/>
                </a:solidFill>
              </a:rPr>
              <a:t>Practical skills in security, containers, Python, Windows and documentation</a:t>
            </a:r>
            <a:endParaRPr lang="en-US" sz="1350" dirty="0"/>
          </a:p>
        </p:txBody>
      </p:sp>
      <p:sp>
        <p:nvSpPr>
          <p:cNvPr id="6" name="Recommendations card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07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HiiT: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a written task schedule and a named reviewer for each intern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University: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earlier security and DevOps content, more supervisory visits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chemeClr val="bg1"/>
                </a:solidFill>
              </a:rPr>
              <a:t>ITF: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chemeClr val="bg1"/>
                </a:solidFill>
              </a:rPr>
              <a:t>prompt allowances and closer placement monitoring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8A99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0058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80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Questions?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Code, tests and documentation: github.com/emmanuelekopimo/build-with-ai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0" y="1280160"/>
            <a:ext cx="2103120" cy="21031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yber Lab">
  <a:themeElements>
    <a:clrScheme name="Cyber Lab">
      <a:dk1>
        <a:srgbClr val="0B1F33"/>
      </a:dk1>
      <a:lt1>
        <a:srgbClr val="FFFFFF"/>
      </a:lt1>
      <a:dk2>
        <a:srgbClr val="12385C"/>
      </a:dk2>
      <a:lt2>
        <a:srgbClr val="EAF0F6"/>
      </a:lt2>
      <a:accent1>
        <a:srgbClr val="0E7C86"/>
      </a:accent1>
      <a:accent2>
        <a:srgbClr val="E4572E"/>
      </a:accent2>
      <a:accent3>
        <a:srgbClr val="F2A541"/>
      </a:accent3>
      <a:accent4>
        <a:srgbClr val="3A6EA5"/>
      </a:accent4>
      <a:accent5>
        <a:srgbClr val="2F6F4E"/>
      </a:accent5>
      <a:accent6>
        <a:srgbClr val="8A99A8"/>
      </a:accent6>
      <a:hlink>
        <a:srgbClr val="0E7C86"/>
      </a:hlink>
      <a:folHlink>
        <a:srgbClr val="8A99A8"/>
      </a:folHlink>
    </a:clrScheme>
    <a:fontScheme name="Cyber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SIWES Report: HiiT Plc, Network-Flow-Based Trojan Horse Detection for IoT Devices</dc:title>
  <dc:subject>PptxGenJS Presentation</dc:subject>
  <dc:creator>PptxGenJS</dc:creator>
  <cp:lastModifiedBy>PptxGenJS</cp:lastModifiedBy>
  <cp:revision>1</cp:revision>
  <dcterms:created xsi:type="dcterms:W3CDTF">2026-10-06T17:01:17Z</dcterms:created>
  <dcterms:modified xsi:type="dcterms:W3CDTF">2026-10-06T17:01:17Z</dcterms:modified>
</cp:coreProperties>
</file>
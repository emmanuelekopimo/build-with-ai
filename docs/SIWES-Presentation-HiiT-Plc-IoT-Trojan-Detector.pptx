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698edee-a678-16ce-0e47-823c9522a8d5}">
          <p14:sldIdLst>
            <p14:sldId id="256"/>
            <p14:sldId id="257"/>
          </p14:sldIdLst>
        </p14:section>
        <p14:section name="SIWES and HiiT Plc" id="{f54ccff6-43a5-0a7d-1881-66cd70a0f5da}">
          <p14:sldIdLst>
            <p14:sldId id="258"/>
            <p14:sldId id="259"/>
            <p14:sldId id="260"/>
          </p14:sldIdLst>
        </p14:section>
        <p14:section name="Experience" id="{fc0ce670-ad39-f1e4-d549-c2283a0aa3a6}">
          <p14:sldIdLst>
            <p14:sldId id="261"/>
          </p14:sldIdLst>
        </p14:section>
        <p14:section name="Mini project" id="{b92175b7-3fe2-57d8-d77a-ae10334ca626}">
          <p14:sldIdLst>
            <p14:sldId id="262"/>
            <p14:sldId id="263"/>
            <p14:sldId id="264"/>
            <p14:sldId id="265"/>
            <p14:sldId id="266"/>
            <p14:sldId id="267"/>
            <p14:sldId id="268"/>
            <p14:sldId id="269"/>
            <p14:sldId id="270"/>
            <p14:sldId id="271"/>
            <p14:sldId id="272"/>
          </p14:sldIdLst>
        </p14:section>
        <p14:section name="Wrap-up" id="{ab268718-055c-4046-ece0-3c6743b84032}">
          <p14:sldIdLst>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Weight added per finding</a:t>
            </a:r>
          </a:p>
        </c:rich>
      </c:tx>
      <c:layout/>
      <c:overlay val="0"/>
    </c:title>
    <c:autoTitleDeleted val="0"/>
    <c:plotArea>
      <c:layout/>
      <c:barChart>
        <c:barDir val="col"/>
        <c:grouping val="clustered"/>
        <c:varyColors val="0"/>
        <c:ser>
          <c:idx val="0"/>
          <c:order val="0"/>
          <c:tx>
            <c:strRef>
              <c:f>Sheet1!$B$1</c:f>
              <c:strCache>
                <c:ptCount val="1"/>
                <c:pt idx="0">
                  <c:v>Weight per finding</c:v>
                </c:pt>
              </c:strCache>
            </c:strRef>
          </c:tx>
          <c:spPr>
            <a:solidFill>
              <a:srgbClr val="E4572E"/>
            </a:solidFill>
            <a:effectLst/>
          </c:spPr>
          <c:invertIfNegative val="0"/>
          <c:dLbls>
            <c:numFmt formatCode="#,##0" sourceLinked="0"/>
            <c:txPr>
              <a:bodyPr/>
              <a:lstStyle/>
              <a:p>
                <a:pPr>
                  <a:defRPr b="0" i="0" strike="noStrike" sz="1200" u="none">
                    <a:solidFill>
                      <a:srgbClr val="0B1F33"/>
                    </a:solidFill>
                    <a:latin typeface="+mn-lt"/>
                  </a:defRPr>
                </a:pPr>
              </a:p>
            </c:txPr>
            <c:showLegendKey val="0"/>
            <c:showVal val="1"/>
            <c:showCatName val="0"/>
            <c:showSerName val="0"/>
            <c:showPercent val="0"/>
            <c:showBubbleSize val="0"/>
            <c:showLeaderLines val="0"/>
          </c:dLbls>
          <c:dPt>
            <c:idx val="0"/>
            <c:invertIfNegative val="0"/>
            <c:bubble3D val="0"/>
            <c:spPr>
              <a:solidFill>
                <a:srgbClr val="E4572E"/>
              </a:solidFill>
              <a:effectLst/>
            </c:spPr>
          </c:dPt>
          <c:dPt>
            <c:idx val="1"/>
            <c:invertIfNegative val="0"/>
            <c:bubble3D val="0"/>
            <c:spPr>
              <a:solidFill>
                <a:srgbClr val="F2A541"/>
              </a:solidFill>
              <a:effectLst/>
            </c:spPr>
          </c:dPt>
          <c:dPt>
            <c:idx val="2"/>
            <c:invertIfNegative val="0"/>
            <c:bubble3D val="0"/>
            <c:spPr>
              <a:solidFill>
                <a:srgbClr val="3A6EA5"/>
              </a:solidFill>
              <a:effectLst/>
            </c:spPr>
          </c:dPt>
          <c:dPt>
            <c:idx val="3"/>
            <c:invertIfNegative val="0"/>
            <c:bubble3D val="0"/>
            <c:spPr>
              <a:solidFill>
                <a:srgbClr val="8A99A8"/>
              </a:solidFill>
              <a:effectLst/>
            </c:spPr>
          </c:dPt>
          <c:cat>
            <c:multiLvlStrRef>
              <c:f>Sheet1!$A$2:$A$5</c:f>
              <c:multiLvlStrCache>
                <c:ptCount val="4"/>
                <c:lvl>
                  <c:pt idx="0">
                    <c:v>Critical</c:v>
                  </c:pt>
                  <c:pt idx="1">
                    <c:v>High</c:v>
                  </c:pt>
                  <c:pt idx="2">
                    <c:v>Medium</c:v>
                  </c:pt>
                  <c:pt idx="3">
                    <c:v>Low</c:v>
                  </c:pt>
                </c:lvl>
              </c:multiLvlStrCache>
            </c:multiLvlStrRef>
          </c:cat>
          <c:val>
            <c:numRef>
              <c:f>Sheet1!$B$2:$B$5</c:f>
              <c:numCache>
                <c:formatCode>General</c:formatCode>
                <c:ptCount val="4"/>
                <c:pt idx="0">
                  <c:v>40</c:v>
                </c:pt>
                <c:pt idx="1">
                  <c:v>25</c:v>
                </c:pt>
                <c:pt idx="2">
                  <c:v>10</c:v>
                </c:pt>
                <c:pt idx="3">
                  <c:v>3</c:v>
                </c:pt>
              </c:numCache>
            </c:numRef>
          </c:val>
        </c:ser>
        <c:dLbls>
          <c:numFmt formatCode="#,##0" sourceLinked="0"/>
          <c:txPr>
            <a:bodyPr/>
            <a:lstStyle/>
            <a:p>
              <a:pPr>
                <a:defRPr b="0" i="0" strike="noStrike" sz="12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max val="50"/>
        </c:scaling>
        <c:delete val="0"/>
        <c:axPos val="l"/>
        <c:majorGridlines>
          <c:spPr>
            <a:ln w="6350" cap="flat">
              <a:solidFill>
                <a:srgbClr val="D5DD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B1F33"/>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the scheme (SIWES) and the host organisation (HiiT Plc). One sentence on the mini project: a system that spots a Trojan Horse on IoT devices such as IP cameras by looking only at network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parts: the scheme and the company, what I learned, the mini project in detail, how I tested it, the problems I hit, and the conclusion. Roughly 15 minutes plus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SIWES began in 1973 because employers complained that graduates knew theory but lacked practical skill. Five parties make it work: the ITF, the academic regulators, the university, the host company and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HiiT Plc is an indigenous Nigerian IT company with CPN-accredited centres in four cities and more than 60,000 graduates. It works in training, software, consultancy and publishing, and runs a SIWES programme, which is where I trained. Confirm the founding year and head office from the company profile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the highlighted details: branch, unit, dates and supervisors. The six work packages on the right all feed into the mini project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areas of growth, all taken from building the mini project: flow analysis, IoT threats, containers, Python and Flask, testing with version control, and documentation. Add anything else you did at HiiT.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the placement overall to the main technical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problems: cameras cannot host security software, signatures lag behind new malware, healthy camera traffic is itself regular, and security demonstrations must be safe. The aim answers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flow CSV goes through three stages. Parsing makes different exports uniform. The optional baseline records what each device normally does. The rules then produce findings, each mapped to MITRE ATT&amp;CK, and a risk score per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in containers on an internal network with no route out. The trojan simulator shares the garage camera network namespace, so its beacons carry that camera address. Flow records go to a shared volume that the detector reads, and quarantining a device drops a marker file the simulator honours.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rule families, each tied to a MITRE ATT&amp;CK technique. The beaconing rule is the interesting one: it measures how regular the gaps between flows are using the coefficient of variation, and only applies to peers outside the device baseline. Thresholds are constants at the top of engine.py.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finding adds a weight: critical 40, high 25, medium 10, low 3. Scores are capped at 100. Under 10 is clean, 10 to 49 suspicious, 50 and above compromised. The baseline is what stops false alarms: regular traffic to known peers is ignored, regular traffic to a new peer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here if possible: load the infected sample. Point to the numbered callouts: summary tiles, status pill, risk score, bytes out and the Quarantine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findings table explains each detection in plain words and in ATT&amp;CK terms. The same page works on a phone, which suits on-call triage. The sample has 22 findings; the screenshot shows the first 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tests pass. The infected capture produces 22 findings, all on cam-garage, which scores 100. The clean capture is just as regular but produces no findings, which is the evidence that the baseline logic avoids false positives. Positive, negative and laboratory tests are in Chapter Four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paid for itself: two of the three defects changed the design. A failing test is information about the design, not just an obstacle. The third item is an honest limitation that is recorded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limits: the rules are heuristic and tuned on simulated data, and the Docker layer still needs an end-to-end run on a machine with Docker. Next steps are real telemetry, persistent baselines, real containment and tuning on real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system works on the samples, the laboratory makes it demonstrable, and I gained practical skills. Recommendations: the company should give interns written task schedules and reviewers; the university should bring security and DevOps content earlier and visit more; the ITF should pay allowances promptly and monitor placements.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questions. Likely ones: why not signatures, how false positives are avoided (the baseline), and whether the trojan is real (no, it is a harmless simulator on an isolated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chemeClr val="tx1"/>
          </a:solidFill>
          <a:ln/>
        </p:spPr>
      </p:sp>
      <p:sp>
        <p:nvSpPr>
          <p:cNvPr id="3" name="Text 1"/>
          <p:cNvSpPr/>
          <p:nvPr>
            <p:ph idx="101" type="title" hasCustomPrompt="1"/>
          </p:nvPr>
        </p:nvSpPr>
        <p:spPr>
          <a:xfrm>
            <a:off x="640080" y="1097280"/>
            <a:ext cx="5394960" cy="173736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
        <p:nvSpPr>
          <p:cNvPr id="4" name="Text 1"/>
          <p:cNvSpPr/>
          <p:nvPr>
            <p:ph idx="102" type="body" hasCustomPrompt="1"/>
          </p:nvPr>
        </p:nvSpPr>
        <p:spPr>
          <a:xfrm>
            <a:off x="640080" y="3017520"/>
            <a:ext cx="5394960" cy="82296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chemeClr val="tx2"/>
          </a:solidFill>
          <a:ln/>
        </p:spPr>
      </p:sp>
      <p:sp>
        <p:nvSpPr>
          <p:cNvPr id="3" name="Text 1"/>
          <p:cNvSpPr/>
          <p:nvPr>
            <p:ph idx="101" type="title" hasCustomPrompt="1"/>
          </p:nvPr>
        </p:nvSpPr>
        <p:spPr>
          <a:xfrm>
            <a:off x="640080" y="1463040"/>
            <a:ext cx="7863840" cy="118872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1"/>
          <p:cNvSpPr/>
          <p:nvPr>
            <p:ph idx="102" type="body" hasCustomPrompt="1"/>
          </p:nvPr>
        </p:nvSpPr>
        <p:spPr>
          <a:xfrm>
            <a:off x="640080" y="2834640"/>
            <a:ext cx="7863840" cy="91440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457200" y="4754880"/>
            <a:ext cx="5486400" cy="228600"/>
          </a:xfrm>
          <a:prstGeom prst="rect">
            <a:avLst/>
          </a:prstGeom>
          <a:noFill/>
          <a:ln/>
        </p:spPr>
        <p:txBody>
          <a:bodyPr wrap="square" lIns="0" tIns="0" rIns="0" bIns="0" rtlCol="0" anchor="ctr"/>
          <a:lstStyle/>
          <a:p>
            <a:pPr indent="0" marL="0">
              <a:buNone/>
            </a:pPr>
            <a:r>
              <a:rPr lang="en-US" sz="1000" dirty="0">
                <a:solidFill>
                  <a:schemeClr val="accent6"/>
                </a:solidFill>
              </a:rPr>
              <a:t>SIWES Report  |  HiiT Plc  |  IoT Trojan Detector</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9A8"/>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DARK">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chemeClr val="tx1"/>
          </a:solidFill>
          <a:ln/>
        </p:spPr>
      </p:sp>
      <p:sp>
        <p:nvSpPr>
          <p:cNvPr id="3" name="Text 1"/>
          <p:cNvSpPr/>
          <p:nvPr>
            <p:ph idx="101" type="title" hasCustomPrompt="1"/>
          </p:nvPr>
        </p:nvSpPr>
        <p:spPr>
          <a:xfrm>
            <a:off x="457200" y="274320"/>
            <a:ext cx="8229600" cy="7315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4" name="Text 1"/>
          <p:cNvSpPr/>
          <p:nvPr/>
        </p:nvSpPr>
        <p:spPr>
          <a:xfrm>
            <a:off x="457200" y="4754880"/>
            <a:ext cx="5486400" cy="228600"/>
          </a:xfrm>
          <a:prstGeom prst="rect">
            <a:avLst/>
          </a:prstGeom>
          <a:noFill/>
          <a:ln/>
        </p:spPr>
        <p:txBody>
          <a:bodyPr wrap="square" lIns="0" tIns="0" rIns="0" bIns="0" rtlCol="0" anchor="ctr"/>
          <a:lstStyle/>
          <a:p>
            <a:pPr indent="0" marL="0">
              <a:buNone/>
            </a:pPr>
            <a:r>
              <a:rPr lang="en-US" sz="1000" dirty="0">
                <a:solidFill>
                  <a:schemeClr val="accent6"/>
                </a:solidFill>
              </a:rPr>
              <a:t>SIWES Report  |  HiiT Plc  |  IoT Trojan Detector</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9A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9A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4.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4.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640080" y="1097280"/>
            <a:ext cx="5394960" cy="1737360"/>
          </a:xfrm>
          <a:prstGeom prst="rect">
            <a:avLst/>
          </a:prstGeom>
          <a:noFill/>
          <a:ln/>
        </p:spPr>
        <p:txBody>
          <a:bodyPr wrap="square" lIns="0" tIns="0" rIns="0" bIns="0" rtlCol="0" anchor="b"/>
          <a:lstStyle/>
          <a:p>
            <a:pPr algn="l" indent="0" marL="0">
              <a:buNone/>
            </a:pPr>
            <a:r>
              <a:rPr lang="en-US" sz="3800" b="1" dirty="0">
                <a:solidFill>
                  <a:schemeClr val="bg1"/>
                </a:solidFill>
              </a:rPr>
              <a:t>SIWES Report: Experiences at HiiT Plc</a:t>
            </a:r>
            <a:endParaRPr lang="en-US" sz="3800" dirty="0"/>
          </a:p>
        </p:txBody>
      </p:sp>
      <p:sp>
        <p:nvSpPr>
          <p:cNvPr id="3" name="Text 1"/>
          <p:cNvSpPr/>
          <p:nvPr>
            <p:ph idx="102" type="body" hasCustomPrompt="1"/>
          </p:nvPr>
        </p:nvSpPr>
        <p:spPr>
          <a:xfrm>
            <a:off x="640080" y="3017520"/>
            <a:ext cx="5394960" cy="822960"/>
          </a:xfrm>
          <a:prstGeom prst="rect">
            <a:avLst/>
          </a:prstGeom>
          <a:noFill/>
          <a:ln/>
        </p:spPr>
        <p:txBody>
          <a:bodyPr wrap="square" lIns="0" tIns="0" rIns="0" bIns="0" rtlCol="0" anchor="t"/>
          <a:lstStyle/>
          <a:p>
            <a:pPr algn="l" indent="0" marL="0">
              <a:buNone/>
            </a:pPr>
            <a:r>
              <a:rPr lang="en-US" sz="1800" dirty="0">
                <a:solidFill>
                  <a:schemeClr val="bg2"/>
                </a:solidFill>
              </a:rPr>
              <a:t>Mini project: network-flow-based Trojan Horse detection for IoT devices</a:t>
            </a:r>
            <a:endParaRPr lang="en-US" sz="1800" dirty="0"/>
          </a:p>
        </p:txBody>
      </p:sp>
      <p:sp>
        <p:nvSpPr>
          <p:cNvPr id="4" name="Presenter details"/>
          <p:cNvSpPr txBox="1"/>
          <p:nvPr/>
        </p:nvSpPr>
        <p:spPr>
          <a:xfrm>
            <a:off x="640080" y="4023360"/>
            <a:ext cx="6858000" cy="731520"/>
          </a:xfrm>
          <a:prstGeom prst="rect">
            <a:avLst/>
          </a:prstGeom>
          <a:noFill/>
          <a:ln/>
        </p:spPr>
        <p:txBody>
          <a:bodyPr wrap="square" lIns="0" tIns="0" rIns="0" bIns="0" rtlCol="0" anchor="t"/>
          <a:lstStyle/>
          <a:p>
            <a:pPr indent="0" marL="0">
              <a:buNone/>
            </a:pPr>
            <a:r>
              <a:rPr lang="en-US" sz="1400" dirty="0">
                <a:solidFill>
                  <a:srgbClr val="0B1F33"/>
                </a:solidFill>
                <a:highlight>
                  <a:srgbClr val="FFFF00"/>
                </a:highlight>
              </a:rPr>
              <a:t>[Your name]</a:t>
            </a:r>
            <a:pPr indent="0" marL="0">
              <a:buNone/>
            </a:pPr>
            <a:r>
              <a:rPr lang="en-US" sz="1400" dirty="0">
                <a:solidFill>
                  <a:schemeClr val="bg2"/>
                </a:solidFill>
              </a:rPr>
              <a:t>   </a:t>
            </a:r>
            <a:pPr indent="0" marL="0">
              <a:buNone/>
            </a:pPr>
            <a:r>
              <a:rPr lang="en-US" sz="1400" dirty="0">
                <a:solidFill>
                  <a:srgbClr val="0B1F33"/>
                </a:solidFill>
                <a:highlight>
                  <a:srgbClr val="FFFF00"/>
                </a:highlight>
              </a:rPr>
              <a:t>[Reg. No.]</a:t>
            </a:r>
            <a:pPr indent="0" marL="0">
              <a:buNone/>
            </a:pPr>
            <a:endParaRPr lang="en-US" sz="1400" dirty="0"/>
          </a:p>
          <a:p>
            <a:pPr indent="0" marL="0">
              <a:buNone/>
            </a:pPr>
            <a:r>
              <a:rPr lang="en-US" sz="1400" dirty="0">
                <a:solidFill>
                  <a:schemeClr val="bg2"/>
                </a:solidFill>
              </a:rPr>
              <a:t>Department of Computer Science, University of Uyo</a:t>
            </a:r>
            <a:endParaRPr lang="en-US" sz="1400" dirty="0"/>
          </a:p>
          <a:p>
            <a:pPr indent="0" marL="0">
              <a:buNone/>
            </a:pPr>
            <a:r>
              <a:rPr lang="en-US" sz="1400" dirty="0">
                <a:solidFill>
                  <a:srgbClr val="0B1F33"/>
                </a:solidFill>
                <a:highlight>
                  <a:srgbClr val="FFFF00"/>
                </a:highlight>
              </a:rPr>
              <a:t>[Month, Year]</a:t>
            </a:r>
            <a:endParaRPr lang="en-US" sz="1400" dirty="0"/>
          </a:p>
        </p:txBody>
      </p:sp>
      <p:sp>
        <p:nvSpPr>
          <p:cNvPr id="5" name="Shape 3"/>
          <p:cNvSpPr/>
          <p:nvPr/>
        </p:nvSpPr>
        <p:spPr>
          <a:xfrm>
            <a:off x="6400800" y="1371600"/>
            <a:ext cx="2103120" cy="2103120"/>
          </a:xfrm>
          <a:prstGeom prst="ellipse">
            <a:avLst/>
          </a:prstGeom>
          <a:solidFill>
            <a:schemeClr val="accent1"/>
          </a:solidFill>
          <a:ln w="12700">
            <a:solidFill>
              <a:schemeClr val="accent1"/>
            </a:solidFill>
            <a:prstDash val="solid"/>
          </a:ln>
        </p:spPr>
      </p:sp>
      <p:pic>
        <p:nvPicPr>
          <p:cNvPr id="6" name="Image 0" descr="Shield icon">    </p:cNvPr>
          <p:cNvPicPr>
            <a:picLocks noChangeAspect="1"/>
          </p:cNvPicPr>
          <p:nvPr/>
        </p:nvPicPr>
        <p:blipFill>
          <a:blip r:embed="rId1"/>
          <a:stretch>
            <a:fillRect/>
          </a:stretch>
        </p:blipFill>
        <p:spPr>
          <a:xfrm>
            <a:off x="6949440" y="1920240"/>
            <a:ext cx="1005840" cy="10058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What this talk covers</a:t>
            </a:r>
            <a:endParaRPr lang="en-US" sz="3400" dirty="0"/>
          </a:p>
        </p:txBody>
      </p:sp>
      <p:sp>
        <p:nvSpPr>
          <p:cNvPr id="3" name="Agenda card 1"/>
          <p:cNvSpPr/>
          <p:nvPr/>
        </p:nvSpPr>
        <p:spPr>
          <a:xfrm>
            <a:off x="457200" y="1371600"/>
            <a:ext cx="2560320" cy="1371600"/>
          </a:xfrm>
          <a:prstGeom prst="rect">
            <a:avLst/>
          </a:prstGeom>
          <a:solidFill>
            <a:schemeClr val="bg2"/>
          </a:solidFill>
          <a:ln w="12700">
            <a:solidFill>
              <a:schemeClr val="bg2"/>
            </a:solidFill>
            <a:prstDash val="solid"/>
          </a:ln>
        </p:spPr>
      </p:sp>
      <p:sp>
        <p:nvSpPr>
          <p:cNvPr id="4" name="Shape 2"/>
          <p:cNvSpPr/>
          <p:nvPr/>
        </p:nvSpPr>
        <p:spPr>
          <a:xfrm>
            <a:off x="640080" y="155448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64008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234440" y="1554480"/>
            <a:ext cx="1645920" cy="457200"/>
          </a:xfrm>
          <a:prstGeom prst="rect">
            <a:avLst/>
          </a:prstGeom>
          <a:noFill/>
          <a:ln/>
        </p:spPr>
        <p:txBody>
          <a:bodyPr wrap="square" lIns="0" tIns="0" rIns="0" bIns="0" rtlCol="0" anchor="ctr"/>
          <a:lstStyle/>
          <a:p>
            <a:pPr indent="0" marL="0">
              <a:buNone/>
            </a:pPr>
            <a:r>
              <a:rPr lang="en-US" sz="1600" b="1" dirty="0">
                <a:solidFill>
                  <a:schemeClr val="tx1"/>
                </a:solidFill>
              </a:rPr>
              <a:t>SIWES and HiiT Plc</a:t>
            </a:r>
            <a:endParaRPr lang="en-US" sz="1600" dirty="0"/>
          </a:p>
        </p:txBody>
      </p:sp>
      <p:sp>
        <p:nvSpPr>
          <p:cNvPr id="7" name="Text 5"/>
          <p:cNvSpPr txBox="1"/>
          <p:nvPr/>
        </p:nvSpPr>
        <p:spPr>
          <a:xfrm>
            <a:off x="640080" y="2148840"/>
            <a:ext cx="2194560" cy="502920"/>
          </a:xfrm>
          <a:prstGeom prst="rect">
            <a:avLst/>
          </a:prstGeom>
          <a:noFill/>
          <a:ln/>
        </p:spPr>
        <p:txBody>
          <a:bodyPr wrap="square" lIns="0" tIns="0" rIns="0" bIns="0" rtlCol="0" anchor="t"/>
          <a:lstStyle/>
          <a:p>
            <a:pPr indent="0" marL="0">
              <a:buNone/>
            </a:pPr>
            <a:r>
              <a:rPr lang="en-US" sz="1400" dirty="0">
                <a:solidFill>
                  <a:schemeClr val="tx2"/>
                </a:solidFill>
              </a:rPr>
              <a:t>Scheme, company, placement</a:t>
            </a:r>
            <a:endParaRPr lang="en-US" sz="1400" dirty="0"/>
          </a:p>
        </p:txBody>
      </p:sp>
      <p:sp>
        <p:nvSpPr>
          <p:cNvPr id="8" name="Agenda card 2"/>
          <p:cNvSpPr/>
          <p:nvPr/>
        </p:nvSpPr>
        <p:spPr>
          <a:xfrm>
            <a:off x="3291840" y="1371600"/>
            <a:ext cx="2560320" cy="1371600"/>
          </a:xfrm>
          <a:prstGeom prst="rect">
            <a:avLst/>
          </a:prstGeom>
          <a:solidFill>
            <a:schemeClr val="bg2"/>
          </a:solidFill>
          <a:ln w="12700">
            <a:solidFill>
              <a:schemeClr val="bg2"/>
            </a:solidFill>
            <a:prstDash val="solid"/>
          </a:ln>
        </p:spPr>
      </p:sp>
      <p:sp>
        <p:nvSpPr>
          <p:cNvPr id="9" name="Shape 7"/>
          <p:cNvSpPr/>
          <p:nvPr/>
        </p:nvSpPr>
        <p:spPr>
          <a:xfrm>
            <a:off x="3474720" y="1554480"/>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347472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4069080" y="1554480"/>
            <a:ext cx="1645920" cy="457200"/>
          </a:xfrm>
          <a:prstGeom prst="rect">
            <a:avLst/>
          </a:prstGeom>
          <a:noFill/>
          <a:ln/>
        </p:spPr>
        <p:txBody>
          <a:bodyPr wrap="square" lIns="0" tIns="0" rIns="0" bIns="0" rtlCol="0" anchor="ctr"/>
          <a:lstStyle/>
          <a:p>
            <a:pPr indent="0" marL="0">
              <a:buNone/>
            </a:pPr>
            <a:r>
              <a:rPr lang="en-US" sz="1600" b="1" dirty="0">
                <a:solidFill>
                  <a:schemeClr val="tx1"/>
                </a:solidFill>
              </a:rPr>
              <a:t>Experience gained</a:t>
            </a:r>
            <a:endParaRPr lang="en-US" sz="1600" dirty="0"/>
          </a:p>
        </p:txBody>
      </p:sp>
      <p:sp>
        <p:nvSpPr>
          <p:cNvPr id="12" name="Text 10"/>
          <p:cNvSpPr txBox="1"/>
          <p:nvPr/>
        </p:nvSpPr>
        <p:spPr>
          <a:xfrm>
            <a:off x="3474720" y="2148840"/>
            <a:ext cx="2194560" cy="502920"/>
          </a:xfrm>
          <a:prstGeom prst="rect">
            <a:avLst/>
          </a:prstGeom>
          <a:noFill/>
          <a:ln/>
        </p:spPr>
        <p:txBody>
          <a:bodyPr wrap="square" lIns="0" tIns="0" rIns="0" bIns="0" rtlCol="0" anchor="t"/>
          <a:lstStyle/>
          <a:p>
            <a:pPr indent="0" marL="0">
              <a:buNone/>
            </a:pPr>
            <a:r>
              <a:rPr lang="en-US" sz="1400" dirty="0">
                <a:solidFill>
                  <a:schemeClr val="tx2"/>
                </a:solidFill>
              </a:rPr>
              <a:t>Skills built during the training</a:t>
            </a:r>
            <a:endParaRPr lang="en-US" sz="1400" dirty="0"/>
          </a:p>
        </p:txBody>
      </p:sp>
      <p:sp>
        <p:nvSpPr>
          <p:cNvPr id="13" name="Agenda card 3"/>
          <p:cNvSpPr/>
          <p:nvPr/>
        </p:nvSpPr>
        <p:spPr>
          <a:xfrm>
            <a:off x="6126480" y="1371600"/>
            <a:ext cx="2560320" cy="1371600"/>
          </a:xfrm>
          <a:prstGeom prst="rect">
            <a:avLst/>
          </a:prstGeom>
          <a:solidFill>
            <a:schemeClr val="bg2"/>
          </a:solidFill>
          <a:ln w="12700">
            <a:solidFill>
              <a:schemeClr val="bg2"/>
            </a:solidFill>
            <a:prstDash val="solid"/>
          </a:ln>
        </p:spPr>
      </p:sp>
      <p:sp>
        <p:nvSpPr>
          <p:cNvPr id="14" name="Shape 12"/>
          <p:cNvSpPr/>
          <p:nvPr/>
        </p:nvSpPr>
        <p:spPr>
          <a:xfrm>
            <a:off x="6309360" y="1554480"/>
            <a:ext cx="457200" cy="457200"/>
          </a:xfrm>
          <a:prstGeom prst="ellipse">
            <a:avLst/>
          </a:prstGeom>
          <a:solidFill>
            <a:schemeClr val="accent1"/>
          </a:solidFill>
          <a:ln w="12700">
            <a:solidFill>
              <a:schemeClr val="accent1"/>
            </a:solidFill>
            <a:prstDash val="solid"/>
          </a:ln>
        </p:spPr>
      </p:sp>
      <p:sp>
        <p:nvSpPr>
          <p:cNvPr id="15" name="Text 13"/>
          <p:cNvSpPr txBox="1"/>
          <p:nvPr/>
        </p:nvSpPr>
        <p:spPr>
          <a:xfrm>
            <a:off x="630936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6903720" y="1554480"/>
            <a:ext cx="1645920" cy="457200"/>
          </a:xfrm>
          <a:prstGeom prst="rect">
            <a:avLst/>
          </a:prstGeom>
          <a:noFill/>
          <a:ln/>
        </p:spPr>
        <p:txBody>
          <a:bodyPr wrap="square" lIns="0" tIns="0" rIns="0" bIns="0" rtlCol="0" anchor="ctr"/>
          <a:lstStyle/>
          <a:p>
            <a:pPr indent="0" marL="0">
              <a:buNone/>
            </a:pPr>
            <a:r>
              <a:rPr lang="en-US" sz="1600" b="1" dirty="0">
                <a:solidFill>
                  <a:schemeClr val="tx1"/>
                </a:solidFill>
              </a:rPr>
              <a:t>The mini project</a:t>
            </a:r>
            <a:endParaRPr lang="en-US" sz="1600" dirty="0"/>
          </a:p>
        </p:txBody>
      </p:sp>
      <p:sp>
        <p:nvSpPr>
          <p:cNvPr id="17" name="Text 15"/>
          <p:cNvSpPr txBox="1"/>
          <p:nvPr/>
        </p:nvSpPr>
        <p:spPr>
          <a:xfrm>
            <a:off x="6309360" y="2148840"/>
            <a:ext cx="2194560" cy="502920"/>
          </a:xfrm>
          <a:prstGeom prst="rect">
            <a:avLst/>
          </a:prstGeom>
          <a:noFill/>
          <a:ln/>
        </p:spPr>
        <p:txBody>
          <a:bodyPr wrap="square" lIns="0" tIns="0" rIns="0" bIns="0" rtlCol="0" anchor="t"/>
          <a:lstStyle/>
          <a:p>
            <a:pPr indent="0" marL="0">
              <a:buNone/>
            </a:pPr>
            <a:r>
              <a:rPr lang="en-US" sz="1400" dirty="0">
                <a:solidFill>
                  <a:schemeClr val="tx2"/>
                </a:solidFill>
              </a:rPr>
              <a:t>Design of the Trojan detector</a:t>
            </a:r>
            <a:endParaRPr lang="en-US" sz="1400" dirty="0"/>
          </a:p>
        </p:txBody>
      </p:sp>
      <p:sp>
        <p:nvSpPr>
          <p:cNvPr id="18" name="Agenda card 4"/>
          <p:cNvSpPr/>
          <p:nvPr/>
        </p:nvSpPr>
        <p:spPr>
          <a:xfrm>
            <a:off x="457200" y="2971800"/>
            <a:ext cx="2560320" cy="1371600"/>
          </a:xfrm>
          <a:prstGeom prst="rect">
            <a:avLst/>
          </a:prstGeom>
          <a:solidFill>
            <a:schemeClr val="bg2"/>
          </a:solidFill>
          <a:ln w="12700">
            <a:solidFill>
              <a:schemeClr val="bg2"/>
            </a:solidFill>
            <a:prstDash val="solid"/>
          </a:ln>
        </p:spPr>
      </p:sp>
      <p:sp>
        <p:nvSpPr>
          <p:cNvPr id="19" name="Shape 17"/>
          <p:cNvSpPr/>
          <p:nvPr/>
        </p:nvSpPr>
        <p:spPr>
          <a:xfrm>
            <a:off x="640080" y="3154680"/>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640080" y="31546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1234440" y="3154680"/>
            <a:ext cx="1645920" cy="457200"/>
          </a:xfrm>
          <a:prstGeom prst="rect">
            <a:avLst/>
          </a:prstGeom>
          <a:noFill/>
          <a:ln/>
        </p:spPr>
        <p:txBody>
          <a:bodyPr wrap="square" lIns="0" tIns="0" rIns="0" bIns="0" rtlCol="0" anchor="ctr"/>
          <a:lstStyle/>
          <a:p>
            <a:pPr indent="0" marL="0">
              <a:buNone/>
            </a:pPr>
            <a:r>
              <a:rPr lang="en-US" sz="1600" b="1" dirty="0">
                <a:solidFill>
                  <a:schemeClr val="tx1"/>
                </a:solidFill>
              </a:rPr>
              <a:t>Testing and results</a:t>
            </a:r>
            <a:endParaRPr lang="en-US" sz="1600" dirty="0"/>
          </a:p>
        </p:txBody>
      </p:sp>
      <p:sp>
        <p:nvSpPr>
          <p:cNvPr id="22" name="Text 20"/>
          <p:cNvSpPr txBox="1"/>
          <p:nvPr/>
        </p:nvSpPr>
        <p:spPr>
          <a:xfrm>
            <a:off x="640080" y="3749040"/>
            <a:ext cx="2194560" cy="502920"/>
          </a:xfrm>
          <a:prstGeom prst="rect">
            <a:avLst/>
          </a:prstGeom>
          <a:noFill/>
          <a:ln/>
        </p:spPr>
        <p:txBody>
          <a:bodyPr wrap="square" lIns="0" tIns="0" rIns="0" bIns="0" rtlCol="0" anchor="t"/>
          <a:lstStyle/>
          <a:p>
            <a:pPr indent="0" marL="0">
              <a:buNone/>
            </a:pPr>
            <a:r>
              <a:rPr lang="en-US" sz="1400" dirty="0">
                <a:solidFill>
                  <a:schemeClr val="tx2"/>
                </a:solidFill>
              </a:rPr>
              <a:t>What the tests and samples showed</a:t>
            </a:r>
            <a:endParaRPr lang="en-US" sz="1400" dirty="0"/>
          </a:p>
        </p:txBody>
      </p:sp>
      <p:sp>
        <p:nvSpPr>
          <p:cNvPr id="23" name="Agenda card 5"/>
          <p:cNvSpPr/>
          <p:nvPr/>
        </p:nvSpPr>
        <p:spPr>
          <a:xfrm>
            <a:off x="3291840" y="2971800"/>
            <a:ext cx="2560320" cy="1371600"/>
          </a:xfrm>
          <a:prstGeom prst="rect">
            <a:avLst/>
          </a:prstGeom>
          <a:solidFill>
            <a:schemeClr val="bg2"/>
          </a:solidFill>
          <a:ln w="12700">
            <a:solidFill>
              <a:schemeClr val="bg2"/>
            </a:solidFill>
            <a:prstDash val="solid"/>
          </a:ln>
        </p:spPr>
      </p:sp>
      <p:sp>
        <p:nvSpPr>
          <p:cNvPr id="24" name="Shape 22"/>
          <p:cNvSpPr/>
          <p:nvPr/>
        </p:nvSpPr>
        <p:spPr>
          <a:xfrm>
            <a:off x="3474720" y="3154680"/>
            <a:ext cx="457200" cy="457200"/>
          </a:xfrm>
          <a:prstGeom prst="ellipse">
            <a:avLst/>
          </a:prstGeom>
          <a:solidFill>
            <a:schemeClr val="accent1"/>
          </a:solidFill>
          <a:ln w="12700">
            <a:solidFill>
              <a:schemeClr val="accent1"/>
            </a:solidFill>
            <a:prstDash val="solid"/>
          </a:ln>
        </p:spPr>
      </p:sp>
      <p:sp>
        <p:nvSpPr>
          <p:cNvPr id="25" name="Text 23"/>
          <p:cNvSpPr txBox="1"/>
          <p:nvPr/>
        </p:nvSpPr>
        <p:spPr>
          <a:xfrm>
            <a:off x="3474720" y="31546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6" name="Text 24"/>
          <p:cNvSpPr txBox="1"/>
          <p:nvPr/>
        </p:nvSpPr>
        <p:spPr>
          <a:xfrm>
            <a:off x="4069080" y="3154680"/>
            <a:ext cx="1645920" cy="457200"/>
          </a:xfrm>
          <a:prstGeom prst="rect">
            <a:avLst/>
          </a:prstGeom>
          <a:noFill/>
          <a:ln/>
        </p:spPr>
        <p:txBody>
          <a:bodyPr wrap="square" lIns="0" tIns="0" rIns="0" bIns="0" rtlCol="0" anchor="ctr"/>
          <a:lstStyle/>
          <a:p>
            <a:pPr indent="0" marL="0">
              <a:buNone/>
            </a:pPr>
            <a:r>
              <a:rPr lang="en-US" sz="1600" b="1" dirty="0">
                <a:solidFill>
                  <a:schemeClr val="tx1"/>
                </a:solidFill>
              </a:rPr>
              <a:t>Lessons and limits</a:t>
            </a:r>
            <a:endParaRPr lang="en-US" sz="1600" dirty="0"/>
          </a:p>
        </p:txBody>
      </p:sp>
      <p:sp>
        <p:nvSpPr>
          <p:cNvPr id="27" name="Text 25"/>
          <p:cNvSpPr txBox="1"/>
          <p:nvPr/>
        </p:nvSpPr>
        <p:spPr>
          <a:xfrm>
            <a:off x="3474720" y="3749040"/>
            <a:ext cx="2194560" cy="502920"/>
          </a:xfrm>
          <a:prstGeom prst="rect">
            <a:avLst/>
          </a:prstGeom>
          <a:noFill/>
          <a:ln/>
        </p:spPr>
        <p:txBody>
          <a:bodyPr wrap="square" lIns="0" tIns="0" rIns="0" bIns="0" rtlCol="0" anchor="t"/>
          <a:lstStyle/>
          <a:p>
            <a:pPr indent="0" marL="0">
              <a:buNone/>
            </a:pPr>
            <a:r>
              <a:rPr lang="en-US" sz="1400" dirty="0">
                <a:solidFill>
                  <a:schemeClr val="tx2"/>
                </a:solidFill>
              </a:rPr>
              <a:t>Defects found, what is left to do</a:t>
            </a:r>
            <a:endParaRPr lang="en-US" sz="1400" dirty="0"/>
          </a:p>
        </p:txBody>
      </p:sp>
      <p:sp>
        <p:nvSpPr>
          <p:cNvPr id="28" name="Agenda card 6"/>
          <p:cNvSpPr/>
          <p:nvPr/>
        </p:nvSpPr>
        <p:spPr>
          <a:xfrm>
            <a:off x="6126480" y="2971800"/>
            <a:ext cx="2560320" cy="1371600"/>
          </a:xfrm>
          <a:prstGeom prst="rect">
            <a:avLst/>
          </a:prstGeom>
          <a:solidFill>
            <a:schemeClr val="bg2"/>
          </a:solidFill>
          <a:ln w="12700">
            <a:solidFill>
              <a:schemeClr val="bg2"/>
            </a:solidFill>
            <a:prstDash val="solid"/>
          </a:ln>
        </p:spPr>
      </p:sp>
      <p:sp>
        <p:nvSpPr>
          <p:cNvPr id="29" name="Shape 27"/>
          <p:cNvSpPr/>
          <p:nvPr/>
        </p:nvSpPr>
        <p:spPr>
          <a:xfrm>
            <a:off x="6309360" y="3154680"/>
            <a:ext cx="457200" cy="457200"/>
          </a:xfrm>
          <a:prstGeom prst="ellipse">
            <a:avLst/>
          </a:prstGeom>
          <a:solidFill>
            <a:schemeClr val="accent1"/>
          </a:solidFill>
          <a:ln w="12700">
            <a:solidFill>
              <a:schemeClr val="accent1"/>
            </a:solidFill>
            <a:prstDash val="solid"/>
          </a:ln>
        </p:spPr>
      </p:sp>
      <p:sp>
        <p:nvSpPr>
          <p:cNvPr id="30" name="Text 28"/>
          <p:cNvSpPr txBox="1"/>
          <p:nvPr/>
        </p:nvSpPr>
        <p:spPr>
          <a:xfrm>
            <a:off x="6309360" y="31546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1" name="Text 29"/>
          <p:cNvSpPr txBox="1"/>
          <p:nvPr/>
        </p:nvSpPr>
        <p:spPr>
          <a:xfrm>
            <a:off x="6903720" y="3154680"/>
            <a:ext cx="1645920" cy="457200"/>
          </a:xfrm>
          <a:prstGeom prst="rect">
            <a:avLst/>
          </a:prstGeom>
          <a:noFill/>
          <a:ln/>
        </p:spPr>
        <p:txBody>
          <a:bodyPr wrap="square" lIns="0" tIns="0" rIns="0" bIns="0" rtlCol="0" anchor="ctr"/>
          <a:lstStyle/>
          <a:p>
            <a:pPr indent="0" marL="0">
              <a:buNone/>
            </a:pPr>
            <a:r>
              <a:rPr lang="en-US" sz="1600" b="1" dirty="0">
                <a:solidFill>
                  <a:schemeClr val="tx1"/>
                </a:solidFill>
              </a:rPr>
              <a:t>Conclusion</a:t>
            </a:r>
            <a:endParaRPr lang="en-US" sz="1600" dirty="0"/>
          </a:p>
        </p:txBody>
      </p:sp>
      <p:sp>
        <p:nvSpPr>
          <p:cNvPr id="32" name="Text 30"/>
          <p:cNvSpPr txBox="1"/>
          <p:nvPr/>
        </p:nvSpPr>
        <p:spPr>
          <a:xfrm>
            <a:off x="6309360" y="3749040"/>
            <a:ext cx="2194560" cy="502920"/>
          </a:xfrm>
          <a:prstGeom prst="rect">
            <a:avLst/>
          </a:prstGeom>
          <a:noFill/>
          <a:ln/>
        </p:spPr>
        <p:txBody>
          <a:bodyPr wrap="square" lIns="0" tIns="0" rIns="0" bIns="0" rtlCol="0" anchor="t"/>
          <a:lstStyle/>
          <a:p>
            <a:pPr indent="0" marL="0">
              <a:buNone/>
            </a:pPr>
            <a:r>
              <a:rPr lang="en-US" sz="1400" dirty="0">
                <a:solidFill>
                  <a:schemeClr val="tx2"/>
                </a:solidFill>
              </a:rPr>
              <a:t>Summary and recommendations</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9A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About SIWES</a:t>
            </a:r>
            <a:endParaRPr lang="en-US" sz="3400" dirty="0"/>
          </a:p>
        </p:txBody>
      </p:sp>
      <p:sp>
        <p:nvSpPr>
          <p:cNvPr id="3" name="Text 1"/>
          <p:cNvSpPr txBox="1"/>
          <p:nvPr/>
        </p:nvSpPr>
        <p:spPr>
          <a:xfrm>
            <a:off x="457200" y="1325880"/>
            <a:ext cx="3383280" cy="1097280"/>
          </a:xfrm>
          <a:prstGeom prst="rect">
            <a:avLst/>
          </a:prstGeom>
          <a:noFill/>
          <a:ln/>
        </p:spPr>
        <p:txBody>
          <a:bodyPr wrap="square" lIns="0" tIns="0" rIns="0" bIns="0" rtlCol="0" anchor="ctr"/>
          <a:lstStyle/>
          <a:p>
            <a:pPr indent="0" marL="0">
              <a:buNone/>
            </a:pPr>
            <a:r>
              <a:rPr lang="en-US" sz="7200" b="1" dirty="0">
                <a:solidFill>
                  <a:schemeClr val="accent1"/>
                </a:solidFill>
                <a:latin typeface="Cambria" pitchFamily="34" charset="0"/>
                <a:ea typeface="Cambria" pitchFamily="34" charset="-122"/>
                <a:cs typeface="Cambria" pitchFamily="34" charset="-120"/>
              </a:rPr>
              <a:t>1973</a:t>
            </a:r>
            <a:endParaRPr lang="en-US" sz="7200" dirty="0"/>
          </a:p>
        </p:txBody>
      </p:sp>
      <p:sp>
        <p:nvSpPr>
          <p:cNvPr id="4" name="Text 2"/>
          <p:cNvSpPr txBox="1"/>
          <p:nvPr/>
        </p:nvSpPr>
        <p:spPr>
          <a:xfrm>
            <a:off x="457200" y="2514600"/>
            <a:ext cx="3383280" cy="1280160"/>
          </a:xfrm>
          <a:prstGeom prst="rect">
            <a:avLst/>
          </a:prstGeom>
          <a:noFill/>
          <a:ln/>
        </p:spPr>
        <p:txBody>
          <a:bodyPr wrap="square" lIns="0" tIns="0" rIns="0" bIns="0" rtlCol="0" anchor="t"/>
          <a:lstStyle/>
          <a:p>
            <a:pPr indent="0" marL="0">
              <a:buNone/>
            </a:pPr>
            <a:r>
              <a:rPr lang="en-US" sz="1600" dirty="0">
                <a:solidFill>
                  <a:schemeClr val="tx1"/>
                </a:solidFill>
              </a:rPr>
              <a:t>The Industrial Training Fund launched SIWES so that graduates meet real working conditions before they leave university.</a:t>
            </a:r>
            <a:endParaRPr lang="en-US" sz="1600" dirty="0"/>
          </a:p>
        </p:txBody>
      </p:sp>
      <p:sp>
        <p:nvSpPr>
          <p:cNvPr id="5" name="Text 3"/>
          <p:cNvSpPr txBox="1"/>
          <p:nvPr/>
        </p:nvSpPr>
        <p:spPr>
          <a:xfrm>
            <a:off x="457200" y="3931920"/>
            <a:ext cx="3383280" cy="365760"/>
          </a:xfrm>
          <a:prstGeom prst="rect">
            <a:avLst/>
          </a:prstGeom>
          <a:noFill/>
          <a:ln/>
        </p:spPr>
        <p:txBody>
          <a:bodyPr wrap="square" lIns="0" tIns="0" rIns="0" bIns="0" rtlCol="0" anchor="t"/>
          <a:lstStyle/>
          <a:p>
            <a:pPr indent="0" marL="0">
              <a:buNone/>
            </a:pPr>
            <a:r>
              <a:rPr lang="en-US" sz="1400" dirty="0">
                <a:solidFill>
                  <a:schemeClr val="accent6"/>
                </a:solidFill>
              </a:rPr>
              <a:t>The ITF itself was established in 1971.</a:t>
            </a:r>
            <a:endParaRPr lang="en-US" sz="1400" dirty="0"/>
          </a:p>
        </p:txBody>
      </p:sp>
      <p:sp>
        <p:nvSpPr>
          <p:cNvPr id="6" name="Shape 4"/>
          <p:cNvSpPr/>
          <p:nvPr/>
        </p:nvSpPr>
        <p:spPr>
          <a:xfrm>
            <a:off x="4389120" y="1280160"/>
            <a:ext cx="457200" cy="457200"/>
          </a:xfrm>
          <a:prstGeom prst="ellipse">
            <a:avLst/>
          </a:prstGeom>
          <a:solidFill>
            <a:srgbClr val="0E7C86"/>
          </a:solidFill>
          <a:ln w="12700">
            <a:solidFill>
              <a:srgbClr val="0E7C86"/>
            </a:solidFill>
            <a:prstDash val="solid"/>
          </a:ln>
        </p:spPr>
      </p:sp>
      <p:pic>
        <p:nvPicPr>
          <p:cNvPr id="7" name="Image 0" descr="preencoded.png">    </p:cNvPr>
          <p:cNvPicPr>
            <a:picLocks noChangeAspect="1"/>
          </p:cNvPicPr>
          <p:nvPr/>
        </p:nvPicPr>
        <p:blipFill>
          <a:blip r:embed="rId1"/>
          <a:stretch>
            <a:fillRect/>
          </a:stretch>
        </p:blipFill>
        <p:spPr>
          <a:xfrm>
            <a:off x="4503420" y="1394460"/>
            <a:ext cx="228600" cy="228600"/>
          </a:xfrm>
          <a:prstGeom prst="rect">
            <a:avLst/>
          </a:prstGeom>
        </p:spPr>
      </p:pic>
      <p:sp>
        <p:nvSpPr>
          <p:cNvPr id="8" name="Text 5"/>
          <p:cNvSpPr txBox="1"/>
          <p:nvPr/>
        </p:nvSpPr>
        <p:spPr>
          <a:xfrm>
            <a:off x="5029200" y="1280160"/>
            <a:ext cx="3657600" cy="457200"/>
          </a:xfrm>
          <a:prstGeom prst="rect">
            <a:avLst/>
          </a:prstGeom>
          <a:noFill/>
          <a:ln/>
        </p:spPr>
        <p:txBody>
          <a:bodyPr wrap="square" lIns="0" tIns="0" rIns="0" bIns="0" rtlCol="0" anchor="ctr"/>
          <a:lstStyle/>
          <a:p>
            <a:pPr indent="0" marL="0">
              <a:buNone/>
            </a:pPr>
            <a:r>
              <a:rPr lang="en-US" sz="1500" b="1" dirty="0">
                <a:solidFill>
                  <a:schemeClr val="tx1"/>
                </a:solidFill>
              </a:rPr>
              <a:t>ITF  </a:t>
            </a:r>
            <a:pPr indent="0" marL="0">
              <a:buNone/>
            </a:pPr>
            <a:r>
              <a:rPr lang="en-US" sz="1500" dirty="0">
                <a:solidFill>
                  <a:schemeClr val="tx1"/>
                </a:solidFill>
              </a:rPr>
              <a:t>administers and funds the scheme</a:t>
            </a:r>
            <a:endParaRPr lang="en-US" sz="1500" dirty="0"/>
          </a:p>
        </p:txBody>
      </p:sp>
      <p:sp>
        <p:nvSpPr>
          <p:cNvPr id="9" name="Shape 6"/>
          <p:cNvSpPr/>
          <p:nvPr/>
        </p:nvSpPr>
        <p:spPr>
          <a:xfrm>
            <a:off x="4389120" y="1920240"/>
            <a:ext cx="457200" cy="457200"/>
          </a:xfrm>
          <a:prstGeom prst="ellipse">
            <a:avLst/>
          </a:prstGeom>
          <a:solidFill>
            <a:srgbClr val="3A6EA5"/>
          </a:solidFill>
          <a:ln w="12700">
            <a:solidFill>
              <a:srgbClr val="3A6EA5"/>
            </a:solidFill>
            <a:prstDash val="solid"/>
          </a:ln>
        </p:spPr>
      </p:sp>
      <p:pic>
        <p:nvPicPr>
          <p:cNvPr id="10" name="Image 1" descr="preencoded.png">    </p:cNvPr>
          <p:cNvPicPr>
            <a:picLocks noChangeAspect="1"/>
          </p:cNvPicPr>
          <p:nvPr/>
        </p:nvPicPr>
        <p:blipFill>
          <a:blip r:embed="rId2"/>
          <a:stretch>
            <a:fillRect/>
          </a:stretch>
        </p:blipFill>
        <p:spPr>
          <a:xfrm>
            <a:off x="4503420" y="2034540"/>
            <a:ext cx="228600" cy="228600"/>
          </a:xfrm>
          <a:prstGeom prst="rect">
            <a:avLst/>
          </a:prstGeom>
        </p:spPr>
      </p:pic>
      <p:sp>
        <p:nvSpPr>
          <p:cNvPr id="11" name="Text 7"/>
          <p:cNvSpPr txBox="1"/>
          <p:nvPr/>
        </p:nvSpPr>
        <p:spPr>
          <a:xfrm>
            <a:off x="5029200" y="1920240"/>
            <a:ext cx="3657600" cy="457200"/>
          </a:xfrm>
          <a:prstGeom prst="rect">
            <a:avLst/>
          </a:prstGeom>
          <a:noFill/>
          <a:ln/>
        </p:spPr>
        <p:txBody>
          <a:bodyPr wrap="square" lIns="0" tIns="0" rIns="0" bIns="0" rtlCol="0" anchor="ctr"/>
          <a:lstStyle/>
          <a:p>
            <a:pPr indent="0" marL="0">
              <a:buNone/>
            </a:pPr>
            <a:r>
              <a:rPr lang="en-US" sz="1500" b="1" dirty="0">
                <a:solidFill>
                  <a:schemeClr val="tx1"/>
                </a:solidFill>
              </a:rPr>
              <a:t>NUC, NBTE, NCCE  </a:t>
            </a:r>
            <a:pPr indent="0" marL="0">
              <a:buNone/>
            </a:pPr>
            <a:r>
              <a:rPr lang="en-US" sz="1500" dirty="0">
                <a:solidFill>
                  <a:schemeClr val="tx1"/>
                </a:solidFill>
              </a:rPr>
              <a:t>set academic standards</a:t>
            </a:r>
            <a:endParaRPr lang="en-US" sz="1500" dirty="0"/>
          </a:p>
        </p:txBody>
      </p:sp>
      <p:sp>
        <p:nvSpPr>
          <p:cNvPr id="12" name="Shape 8"/>
          <p:cNvSpPr/>
          <p:nvPr/>
        </p:nvSpPr>
        <p:spPr>
          <a:xfrm>
            <a:off x="4389120" y="2560320"/>
            <a:ext cx="457200" cy="457200"/>
          </a:xfrm>
          <a:prstGeom prst="ellipse">
            <a:avLst/>
          </a:prstGeom>
          <a:solidFill>
            <a:srgbClr val="0E7C86"/>
          </a:solidFill>
          <a:ln w="12700">
            <a:solidFill>
              <a:srgbClr val="0E7C86"/>
            </a:solidFill>
            <a:prstDash val="solid"/>
          </a:ln>
        </p:spPr>
      </p:sp>
      <p:pic>
        <p:nvPicPr>
          <p:cNvPr id="13" name="Image 2" descr="preencoded.png">    </p:cNvPr>
          <p:cNvPicPr>
            <a:picLocks noChangeAspect="1"/>
          </p:cNvPicPr>
          <p:nvPr/>
        </p:nvPicPr>
        <p:blipFill>
          <a:blip r:embed="rId3"/>
          <a:stretch>
            <a:fillRect/>
          </a:stretch>
        </p:blipFill>
        <p:spPr>
          <a:xfrm>
            <a:off x="4503420" y="2674620"/>
            <a:ext cx="228600" cy="228600"/>
          </a:xfrm>
          <a:prstGeom prst="rect">
            <a:avLst/>
          </a:prstGeom>
        </p:spPr>
      </p:pic>
      <p:sp>
        <p:nvSpPr>
          <p:cNvPr id="14" name="Text 9"/>
          <p:cNvSpPr txBox="1"/>
          <p:nvPr/>
        </p:nvSpPr>
        <p:spPr>
          <a:xfrm>
            <a:off x="5029200" y="2560320"/>
            <a:ext cx="3657600" cy="457200"/>
          </a:xfrm>
          <a:prstGeom prst="rect">
            <a:avLst/>
          </a:prstGeom>
          <a:noFill/>
          <a:ln/>
        </p:spPr>
        <p:txBody>
          <a:bodyPr wrap="square" lIns="0" tIns="0" rIns="0" bIns="0" rtlCol="0" anchor="ctr"/>
          <a:lstStyle/>
          <a:p>
            <a:pPr indent="0" marL="0">
              <a:buNone/>
            </a:pPr>
            <a:r>
              <a:rPr lang="en-US" sz="1500" b="1" dirty="0">
                <a:solidFill>
                  <a:schemeClr val="tx1"/>
                </a:solidFill>
              </a:rPr>
              <a:t>Institution  </a:t>
            </a:r>
            <a:pPr indent="0" marL="0">
              <a:buNone/>
            </a:pPr>
            <a:r>
              <a:rPr lang="en-US" sz="1500" dirty="0">
                <a:solidFill>
                  <a:schemeClr val="tx1"/>
                </a:solidFill>
              </a:rPr>
              <a:t>places, supervises and assesses</a:t>
            </a:r>
            <a:endParaRPr lang="en-US" sz="1500" dirty="0"/>
          </a:p>
        </p:txBody>
      </p:sp>
      <p:sp>
        <p:nvSpPr>
          <p:cNvPr id="15" name="Shape 10"/>
          <p:cNvSpPr/>
          <p:nvPr/>
        </p:nvSpPr>
        <p:spPr>
          <a:xfrm>
            <a:off x="4389120" y="3200400"/>
            <a:ext cx="457200" cy="457200"/>
          </a:xfrm>
          <a:prstGeom prst="ellipse">
            <a:avLst/>
          </a:prstGeom>
          <a:solidFill>
            <a:srgbClr val="3A6EA5"/>
          </a:solidFill>
          <a:ln w="12700">
            <a:solidFill>
              <a:srgbClr val="3A6EA5"/>
            </a:solidFill>
            <a:prstDash val="solid"/>
          </a:ln>
        </p:spPr>
      </p:sp>
      <p:pic>
        <p:nvPicPr>
          <p:cNvPr id="16" name="Image 3" descr="preencoded.png">    </p:cNvPr>
          <p:cNvPicPr>
            <a:picLocks noChangeAspect="1"/>
          </p:cNvPicPr>
          <p:nvPr/>
        </p:nvPicPr>
        <p:blipFill>
          <a:blip r:embed="rId4"/>
          <a:stretch>
            <a:fillRect/>
          </a:stretch>
        </p:blipFill>
        <p:spPr>
          <a:xfrm>
            <a:off x="4503420" y="3314700"/>
            <a:ext cx="228600" cy="228600"/>
          </a:xfrm>
          <a:prstGeom prst="rect">
            <a:avLst/>
          </a:prstGeom>
        </p:spPr>
      </p:pic>
      <p:sp>
        <p:nvSpPr>
          <p:cNvPr id="17" name="Text 11"/>
          <p:cNvSpPr txBox="1"/>
          <p:nvPr/>
        </p:nvSpPr>
        <p:spPr>
          <a:xfrm>
            <a:off x="5029200" y="3200400"/>
            <a:ext cx="3657600" cy="457200"/>
          </a:xfrm>
          <a:prstGeom prst="rect">
            <a:avLst/>
          </a:prstGeom>
          <a:noFill/>
          <a:ln/>
        </p:spPr>
        <p:txBody>
          <a:bodyPr wrap="square" lIns="0" tIns="0" rIns="0" bIns="0" rtlCol="0" anchor="ctr"/>
          <a:lstStyle/>
          <a:p>
            <a:pPr indent="0" marL="0">
              <a:buNone/>
            </a:pPr>
            <a:r>
              <a:rPr lang="en-US" sz="1500" b="1" dirty="0">
                <a:solidFill>
                  <a:schemeClr val="tx1"/>
                </a:solidFill>
              </a:rPr>
              <a:t>Host organisation  </a:t>
            </a:r>
            <a:pPr indent="0" marL="0">
              <a:buNone/>
            </a:pPr>
            <a:r>
              <a:rPr lang="en-US" sz="1500" dirty="0">
                <a:solidFill>
                  <a:schemeClr val="tx1"/>
                </a:solidFill>
              </a:rPr>
              <a:t>trains and mentors the student</a:t>
            </a:r>
            <a:endParaRPr lang="en-US" sz="1500" dirty="0"/>
          </a:p>
        </p:txBody>
      </p:sp>
      <p:sp>
        <p:nvSpPr>
          <p:cNvPr id="18" name="Shape 12"/>
          <p:cNvSpPr/>
          <p:nvPr/>
        </p:nvSpPr>
        <p:spPr>
          <a:xfrm>
            <a:off x="4389120" y="3840480"/>
            <a:ext cx="457200" cy="457200"/>
          </a:xfrm>
          <a:prstGeom prst="ellipse">
            <a:avLst/>
          </a:prstGeom>
          <a:solidFill>
            <a:srgbClr val="0E7C86"/>
          </a:solidFill>
          <a:ln w="12700">
            <a:solidFill>
              <a:srgbClr val="0E7C86"/>
            </a:solidFill>
            <a:prstDash val="solid"/>
          </a:ln>
        </p:spPr>
      </p:sp>
      <p:pic>
        <p:nvPicPr>
          <p:cNvPr id="19" name="Image 4" descr="preencoded.png">    </p:cNvPr>
          <p:cNvPicPr>
            <a:picLocks noChangeAspect="1"/>
          </p:cNvPicPr>
          <p:nvPr/>
        </p:nvPicPr>
        <p:blipFill>
          <a:blip r:embed="rId5"/>
          <a:stretch>
            <a:fillRect/>
          </a:stretch>
        </p:blipFill>
        <p:spPr>
          <a:xfrm>
            <a:off x="4503420" y="3954780"/>
            <a:ext cx="228600" cy="228600"/>
          </a:xfrm>
          <a:prstGeom prst="rect">
            <a:avLst/>
          </a:prstGeom>
        </p:spPr>
      </p:pic>
      <p:sp>
        <p:nvSpPr>
          <p:cNvPr id="20" name="Text 13"/>
          <p:cNvSpPr txBox="1"/>
          <p:nvPr/>
        </p:nvSpPr>
        <p:spPr>
          <a:xfrm>
            <a:off x="5029200" y="3840480"/>
            <a:ext cx="3657600" cy="457200"/>
          </a:xfrm>
          <a:prstGeom prst="rect">
            <a:avLst/>
          </a:prstGeom>
          <a:noFill/>
          <a:ln/>
        </p:spPr>
        <p:txBody>
          <a:bodyPr wrap="square" lIns="0" tIns="0" rIns="0" bIns="0" rtlCol="0" anchor="ctr"/>
          <a:lstStyle/>
          <a:p>
            <a:pPr indent="0" marL="0">
              <a:buNone/>
            </a:pPr>
            <a:r>
              <a:rPr lang="en-US" sz="1500" b="1" dirty="0">
                <a:solidFill>
                  <a:schemeClr val="tx1"/>
                </a:solidFill>
              </a:rPr>
              <a:t>Student  </a:t>
            </a:r>
            <a:pPr indent="0" marL="0">
              <a:buNone/>
            </a:pPr>
            <a:r>
              <a:rPr lang="en-US" sz="1500" dirty="0">
                <a:solidFill>
                  <a:schemeClr val="tx1"/>
                </a:solidFill>
              </a:rPr>
              <a:t>keeps a logbook and writes the report</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9A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About HiiT Plc</a:t>
            </a:r>
            <a:endParaRPr lang="en-US" sz="3400" dirty="0"/>
          </a:p>
        </p:txBody>
      </p:sp>
      <p:sp>
        <p:nvSpPr>
          <p:cNvPr id="3" name="HiiT stat 1"/>
          <p:cNvSpPr/>
          <p:nvPr/>
        </p:nvSpPr>
        <p:spPr>
          <a:xfrm>
            <a:off x="457200" y="1280160"/>
            <a:ext cx="1874520" cy="1600200"/>
          </a:xfrm>
          <a:prstGeom prst="rect">
            <a:avLst/>
          </a:prstGeom>
          <a:solidFill>
            <a:schemeClr val="bg2"/>
          </a:solidFill>
          <a:ln w="12700">
            <a:solidFill>
              <a:schemeClr val="bg2"/>
            </a:solidFill>
            <a:prstDash val="solid"/>
          </a:ln>
        </p:spPr>
      </p:sp>
      <p:sp>
        <p:nvSpPr>
          <p:cNvPr id="4" name="Text 2"/>
          <p:cNvSpPr txBox="1"/>
          <p:nvPr/>
        </p:nvSpPr>
        <p:spPr>
          <a:xfrm>
            <a:off x="594360" y="1371600"/>
            <a:ext cx="1600200" cy="82296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60,000+</a:t>
            </a:r>
            <a:endParaRPr lang="en-US" sz="2400" dirty="0"/>
          </a:p>
        </p:txBody>
      </p:sp>
      <p:sp>
        <p:nvSpPr>
          <p:cNvPr id="5" name="Text 3"/>
          <p:cNvSpPr txBox="1"/>
          <p:nvPr/>
        </p:nvSpPr>
        <p:spPr>
          <a:xfrm>
            <a:off x="594360" y="2194560"/>
            <a:ext cx="1600200" cy="594360"/>
          </a:xfrm>
          <a:prstGeom prst="rect">
            <a:avLst/>
          </a:prstGeom>
          <a:noFill/>
          <a:ln/>
        </p:spPr>
        <p:txBody>
          <a:bodyPr wrap="square" lIns="0" tIns="0" rIns="0" bIns="0" rtlCol="0" anchor="t"/>
          <a:lstStyle/>
          <a:p>
            <a:pPr indent="0" marL="0">
              <a:buNone/>
            </a:pPr>
            <a:r>
              <a:rPr lang="en-US" sz="1400" dirty="0">
                <a:solidFill>
                  <a:schemeClr val="tx1"/>
                </a:solidFill>
              </a:rPr>
              <a:t>graduates trained</a:t>
            </a:r>
            <a:endParaRPr lang="en-US" sz="1400" dirty="0"/>
          </a:p>
        </p:txBody>
      </p:sp>
      <p:sp>
        <p:nvSpPr>
          <p:cNvPr id="6" name="HiiT stat 2"/>
          <p:cNvSpPr/>
          <p:nvPr/>
        </p:nvSpPr>
        <p:spPr>
          <a:xfrm>
            <a:off x="2578608" y="1280160"/>
            <a:ext cx="1874520" cy="1600200"/>
          </a:xfrm>
          <a:prstGeom prst="rect">
            <a:avLst/>
          </a:prstGeom>
          <a:solidFill>
            <a:schemeClr val="bg2"/>
          </a:solidFill>
          <a:ln w="12700">
            <a:solidFill>
              <a:schemeClr val="bg2"/>
            </a:solidFill>
            <a:prstDash val="solid"/>
          </a:ln>
        </p:spPr>
      </p:sp>
      <p:sp>
        <p:nvSpPr>
          <p:cNvPr id="7" name="Text 5"/>
          <p:cNvSpPr txBox="1"/>
          <p:nvPr/>
        </p:nvSpPr>
        <p:spPr>
          <a:xfrm>
            <a:off x="2715768" y="1371600"/>
            <a:ext cx="1600200" cy="82296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4</a:t>
            </a:r>
            <a:endParaRPr lang="en-US" sz="2400" dirty="0"/>
          </a:p>
        </p:txBody>
      </p:sp>
      <p:sp>
        <p:nvSpPr>
          <p:cNvPr id="8" name="Text 6"/>
          <p:cNvSpPr txBox="1"/>
          <p:nvPr/>
        </p:nvSpPr>
        <p:spPr>
          <a:xfrm>
            <a:off x="2715768" y="2194560"/>
            <a:ext cx="1600200" cy="594360"/>
          </a:xfrm>
          <a:prstGeom prst="rect">
            <a:avLst/>
          </a:prstGeom>
          <a:noFill/>
          <a:ln/>
        </p:spPr>
        <p:txBody>
          <a:bodyPr wrap="square" lIns="0" tIns="0" rIns="0" bIns="0" rtlCol="0" anchor="t"/>
          <a:lstStyle/>
          <a:p>
            <a:pPr indent="0" marL="0">
              <a:buNone/>
            </a:pPr>
            <a:r>
              <a:rPr lang="en-US" sz="1400" dirty="0">
                <a:solidFill>
                  <a:schemeClr val="tx1"/>
                </a:solidFill>
              </a:rPr>
              <a:t>cities with CPN-accredited centres</a:t>
            </a:r>
            <a:endParaRPr lang="en-US" sz="1400" dirty="0"/>
          </a:p>
        </p:txBody>
      </p:sp>
      <p:sp>
        <p:nvSpPr>
          <p:cNvPr id="9" name="HiiT stat 3"/>
          <p:cNvSpPr/>
          <p:nvPr/>
        </p:nvSpPr>
        <p:spPr>
          <a:xfrm>
            <a:off x="4700016" y="1280160"/>
            <a:ext cx="1874520" cy="1600200"/>
          </a:xfrm>
          <a:prstGeom prst="rect">
            <a:avLst/>
          </a:prstGeom>
          <a:solidFill>
            <a:schemeClr val="bg2"/>
          </a:solidFill>
          <a:ln w="12700">
            <a:solidFill>
              <a:schemeClr val="bg2"/>
            </a:solidFill>
            <a:prstDash val="solid"/>
          </a:ln>
        </p:spPr>
      </p:sp>
      <p:sp>
        <p:nvSpPr>
          <p:cNvPr id="10" name="Text 8"/>
          <p:cNvSpPr txBox="1"/>
          <p:nvPr/>
        </p:nvSpPr>
        <p:spPr>
          <a:xfrm>
            <a:off x="4837176" y="1371600"/>
            <a:ext cx="1600200" cy="82296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CPN</a:t>
            </a:r>
            <a:endParaRPr lang="en-US" sz="2400" dirty="0"/>
          </a:p>
        </p:txBody>
      </p:sp>
      <p:sp>
        <p:nvSpPr>
          <p:cNvPr id="11" name="Text 9"/>
          <p:cNvSpPr txBox="1"/>
          <p:nvPr/>
        </p:nvSpPr>
        <p:spPr>
          <a:xfrm>
            <a:off x="4837176" y="2194560"/>
            <a:ext cx="1600200" cy="594360"/>
          </a:xfrm>
          <a:prstGeom prst="rect">
            <a:avLst/>
          </a:prstGeom>
          <a:noFill/>
          <a:ln/>
        </p:spPr>
        <p:txBody>
          <a:bodyPr wrap="square" lIns="0" tIns="0" rIns="0" bIns="0" rtlCol="0" anchor="t"/>
          <a:lstStyle/>
          <a:p>
            <a:pPr indent="0" marL="0">
              <a:buNone/>
            </a:pPr>
            <a:r>
              <a:rPr lang="en-US" sz="1400" dirty="0">
                <a:solidFill>
                  <a:schemeClr val="tx1"/>
                </a:solidFill>
              </a:rPr>
              <a:t>registered Nigerian IT company</a:t>
            </a:r>
            <a:endParaRPr lang="en-US" sz="1400" dirty="0"/>
          </a:p>
        </p:txBody>
      </p:sp>
      <p:sp>
        <p:nvSpPr>
          <p:cNvPr id="12" name="HiiT stat 4"/>
          <p:cNvSpPr/>
          <p:nvPr/>
        </p:nvSpPr>
        <p:spPr>
          <a:xfrm>
            <a:off x="6821424" y="1280160"/>
            <a:ext cx="1874520" cy="1600200"/>
          </a:xfrm>
          <a:prstGeom prst="rect">
            <a:avLst/>
          </a:prstGeom>
          <a:solidFill>
            <a:schemeClr val="bg2"/>
          </a:solidFill>
          <a:ln w="12700">
            <a:solidFill>
              <a:schemeClr val="bg2"/>
            </a:solidFill>
            <a:prstDash val="solid"/>
          </a:ln>
        </p:spPr>
      </p:sp>
      <p:sp>
        <p:nvSpPr>
          <p:cNvPr id="13" name="Text 11"/>
          <p:cNvSpPr txBox="1"/>
          <p:nvPr/>
        </p:nvSpPr>
        <p:spPr>
          <a:xfrm>
            <a:off x="6958584" y="1371600"/>
            <a:ext cx="1600200" cy="82296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4</a:t>
            </a:r>
            <a:endParaRPr lang="en-US" sz="2400" dirty="0"/>
          </a:p>
        </p:txBody>
      </p:sp>
      <p:sp>
        <p:nvSpPr>
          <p:cNvPr id="14" name="Text 12"/>
          <p:cNvSpPr txBox="1"/>
          <p:nvPr/>
        </p:nvSpPr>
        <p:spPr>
          <a:xfrm>
            <a:off x="6958584" y="2194560"/>
            <a:ext cx="1600200" cy="594360"/>
          </a:xfrm>
          <a:prstGeom prst="rect">
            <a:avLst/>
          </a:prstGeom>
          <a:noFill/>
          <a:ln/>
        </p:spPr>
        <p:txBody>
          <a:bodyPr wrap="square" lIns="0" tIns="0" rIns="0" bIns="0" rtlCol="0" anchor="t"/>
          <a:lstStyle/>
          <a:p>
            <a:pPr indent="0" marL="0">
              <a:buNone/>
            </a:pPr>
            <a:r>
              <a:rPr lang="en-US" sz="1400" dirty="0">
                <a:solidFill>
                  <a:schemeClr val="tx1"/>
                </a:solidFill>
              </a:rPr>
              <a:t>lines of business</a:t>
            </a:r>
            <a:endParaRPr lang="en-US" sz="1400" dirty="0"/>
          </a:p>
        </p:txBody>
      </p:sp>
      <p:sp>
        <p:nvSpPr>
          <p:cNvPr id="15" name="Text 13"/>
          <p:cNvSpPr txBox="1"/>
          <p:nvPr/>
        </p:nvSpPr>
        <p:spPr>
          <a:xfrm>
            <a:off x="457200" y="3017520"/>
            <a:ext cx="8229600" cy="320040"/>
          </a:xfrm>
          <a:prstGeom prst="rect">
            <a:avLst/>
          </a:prstGeom>
          <a:noFill/>
          <a:ln/>
        </p:spPr>
        <p:txBody>
          <a:bodyPr wrap="square" lIns="0" tIns="0" rIns="0" bIns="0" rtlCol="0" anchor="ctr"/>
          <a:lstStyle/>
          <a:p>
            <a:pPr indent="0" marL="0">
              <a:buNone/>
            </a:pPr>
            <a:r>
              <a:rPr lang="en-US" sz="1400" dirty="0">
                <a:solidFill>
                  <a:schemeClr val="tx2"/>
                </a:solidFill>
              </a:rPr>
              <a:t>Lagos, Abuja, Ibadan and Kano; instructor-led online classes reach learners elsewhere.</a:t>
            </a:r>
            <a:endParaRPr lang="en-US" sz="1400" dirty="0"/>
          </a:p>
        </p:txBody>
      </p:sp>
      <p:sp>
        <p:nvSpPr>
          <p:cNvPr id="16" name="Business line 1"/>
          <p:cNvSpPr/>
          <p:nvPr/>
        </p:nvSpPr>
        <p:spPr>
          <a:xfrm>
            <a:off x="457200" y="3520440"/>
            <a:ext cx="1481328" cy="502920"/>
          </a:xfrm>
          <a:prstGeom prst="roundRect">
            <a:avLst>
              <a:gd name="adj" fmla="val 21818"/>
            </a:avLst>
          </a:prstGeom>
          <a:solidFill>
            <a:srgbClr val="12385C"/>
          </a:solidFill>
          <a:ln w="12700">
            <a:solidFill>
              <a:srgbClr val="12385C"/>
            </a:solidFill>
            <a:prstDash val="solid"/>
          </a:ln>
        </p:spPr>
      </p:sp>
      <p:sp>
        <p:nvSpPr>
          <p:cNvPr id="17" name="Text 15"/>
          <p:cNvSpPr txBox="1"/>
          <p:nvPr/>
        </p:nvSpPr>
        <p:spPr>
          <a:xfrm>
            <a:off x="457200" y="3520440"/>
            <a:ext cx="1481328" cy="502920"/>
          </a:xfrm>
          <a:prstGeom prst="rect">
            <a:avLst/>
          </a:prstGeom>
          <a:noFill/>
          <a:ln/>
        </p:spPr>
        <p:txBody>
          <a:bodyPr wrap="square" lIns="0" tIns="0" rIns="0" bIns="0" rtlCol="0" anchor="ctr"/>
          <a:lstStyle/>
          <a:p>
            <a:pPr algn="ctr" indent="0" marL="0">
              <a:buNone/>
            </a:pPr>
            <a:r>
              <a:rPr lang="en-US" sz="1400" b="1" dirty="0">
                <a:solidFill>
                  <a:schemeClr val="bg1"/>
                </a:solidFill>
              </a:rPr>
              <a:t>IT training</a:t>
            </a:r>
            <a:endParaRPr lang="en-US" sz="1400" dirty="0"/>
          </a:p>
        </p:txBody>
      </p:sp>
      <p:sp>
        <p:nvSpPr>
          <p:cNvPr id="18" name="Business line 2"/>
          <p:cNvSpPr/>
          <p:nvPr/>
        </p:nvSpPr>
        <p:spPr>
          <a:xfrm>
            <a:off x="2144268" y="3520440"/>
            <a:ext cx="1481328" cy="502920"/>
          </a:xfrm>
          <a:prstGeom prst="roundRect">
            <a:avLst>
              <a:gd name="adj" fmla="val 21818"/>
            </a:avLst>
          </a:prstGeom>
          <a:solidFill>
            <a:srgbClr val="12385C"/>
          </a:solidFill>
          <a:ln w="12700">
            <a:solidFill>
              <a:srgbClr val="12385C"/>
            </a:solidFill>
            <a:prstDash val="solid"/>
          </a:ln>
        </p:spPr>
      </p:sp>
      <p:sp>
        <p:nvSpPr>
          <p:cNvPr id="19" name="Text 17"/>
          <p:cNvSpPr txBox="1"/>
          <p:nvPr/>
        </p:nvSpPr>
        <p:spPr>
          <a:xfrm>
            <a:off x="2144268" y="3520440"/>
            <a:ext cx="1481328" cy="502920"/>
          </a:xfrm>
          <a:prstGeom prst="rect">
            <a:avLst/>
          </a:prstGeom>
          <a:noFill/>
          <a:ln/>
        </p:spPr>
        <p:txBody>
          <a:bodyPr wrap="square" lIns="0" tIns="0" rIns="0" bIns="0" rtlCol="0" anchor="ctr"/>
          <a:lstStyle/>
          <a:p>
            <a:pPr algn="ctr" indent="0" marL="0">
              <a:buNone/>
            </a:pPr>
            <a:r>
              <a:rPr lang="en-US" sz="1400" b="1" dirty="0">
                <a:solidFill>
                  <a:schemeClr val="bg1"/>
                </a:solidFill>
              </a:rPr>
              <a:t>Software</a:t>
            </a:r>
            <a:endParaRPr lang="en-US" sz="1400" dirty="0"/>
          </a:p>
        </p:txBody>
      </p:sp>
      <p:sp>
        <p:nvSpPr>
          <p:cNvPr id="20" name="Business line 3"/>
          <p:cNvSpPr/>
          <p:nvPr/>
        </p:nvSpPr>
        <p:spPr>
          <a:xfrm>
            <a:off x="3831336" y="3520440"/>
            <a:ext cx="1481328" cy="502920"/>
          </a:xfrm>
          <a:prstGeom prst="roundRect">
            <a:avLst>
              <a:gd name="adj" fmla="val 21818"/>
            </a:avLst>
          </a:prstGeom>
          <a:solidFill>
            <a:srgbClr val="12385C"/>
          </a:solidFill>
          <a:ln w="12700">
            <a:solidFill>
              <a:srgbClr val="12385C"/>
            </a:solidFill>
            <a:prstDash val="solid"/>
          </a:ln>
        </p:spPr>
      </p:sp>
      <p:sp>
        <p:nvSpPr>
          <p:cNvPr id="21" name="Text 19"/>
          <p:cNvSpPr txBox="1"/>
          <p:nvPr/>
        </p:nvSpPr>
        <p:spPr>
          <a:xfrm>
            <a:off x="3831336" y="3520440"/>
            <a:ext cx="1481328" cy="502920"/>
          </a:xfrm>
          <a:prstGeom prst="rect">
            <a:avLst/>
          </a:prstGeom>
          <a:noFill/>
          <a:ln/>
        </p:spPr>
        <p:txBody>
          <a:bodyPr wrap="square" lIns="0" tIns="0" rIns="0" bIns="0" rtlCol="0" anchor="ctr"/>
          <a:lstStyle/>
          <a:p>
            <a:pPr algn="ctr" indent="0" marL="0">
              <a:buNone/>
            </a:pPr>
            <a:r>
              <a:rPr lang="en-US" sz="1400" b="1" dirty="0">
                <a:solidFill>
                  <a:schemeClr val="bg1"/>
                </a:solidFill>
              </a:rPr>
              <a:t>Consultancy</a:t>
            </a:r>
            <a:endParaRPr lang="en-US" sz="1400" dirty="0"/>
          </a:p>
        </p:txBody>
      </p:sp>
      <p:sp>
        <p:nvSpPr>
          <p:cNvPr id="22" name="Business line 4"/>
          <p:cNvSpPr/>
          <p:nvPr/>
        </p:nvSpPr>
        <p:spPr>
          <a:xfrm>
            <a:off x="5518404" y="3520440"/>
            <a:ext cx="1481328" cy="502920"/>
          </a:xfrm>
          <a:prstGeom prst="roundRect">
            <a:avLst>
              <a:gd name="adj" fmla="val 21818"/>
            </a:avLst>
          </a:prstGeom>
          <a:solidFill>
            <a:srgbClr val="12385C"/>
          </a:solidFill>
          <a:ln w="12700">
            <a:solidFill>
              <a:srgbClr val="12385C"/>
            </a:solidFill>
            <a:prstDash val="solid"/>
          </a:ln>
        </p:spPr>
      </p:sp>
      <p:sp>
        <p:nvSpPr>
          <p:cNvPr id="23" name="Text 21"/>
          <p:cNvSpPr txBox="1"/>
          <p:nvPr/>
        </p:nvSpPr>
        <p:spPr>
          <a:xfrm>
            <a:off x="5518404" y="3520440"/>
            <a:ext cx="1481328" cy="502920"/>
          </a:xfrm>
          <a:prstGeom prst="rect">
            <a:avLst/>
          </a:prstGeom>
          <a:noFill/>
          <a:ln/>
        </p:spPr>
        <p:txBody>
          <a:bodyPr wrap="square" lIns="0" tIns="0" rIns="0" bIns="0" rtlCol="0" anchor="ctr"/>
          <a:lstStyle/>
          <a:p>
            <a:pPr algn="ctr" indent="0" marL="0">
              <a:buNone/>
            </a:pPr>
            <a:r>
              <a:rPr lang="en-US" sz="1400" b="1" dirty="0">
                <a:solidFill>
                  <a:schemeClr val="bg1"/>
                </a:solidFill>
              </a:rPr>
              <a:t>Publishing</a:t>
            </a:r>
            <a:endParaRPr lang="en-US" sz="1400" dirty="0"/>
          </a:p>
        </p:txBody>
      </p:sp>
      <p:sp>
        <p:nvSpPr>
          <p:cNvPr id="24" name="Business line 5"/>
          <p:cNvSpPr/>
          <p:nvPr/>
        </p:nvSpPr>
        <p:spPr>
          <a:xfrm>
            <a:off x="7205472" y="3520440"/>
            <a:ext cx="1481328" cy="502920"/>
          </a:xfrm>
          <a:prstGeom prst="roundRect">
            <a:avLst>
              <a:gd name="adj" fmla="val 21818"/>
            </a:avLst>
          </a:prstGeom>
          <a:solidFill>
            <a:srgbClr val="0E7C86"/>
          </a:solidFill>
          <a:ln w="12700">
            <a:solidFill>
              <a:srgbClr val="0E7C86"/>
            </a:solidFill>
            <a:prstDash val="solid"/>
          </a:ln>
        </p:spPr>
      </p:sp>
      <p:sp>
        <p:nvSpPr>
          <p:cNvPr id="25" name="Text 23"/>
          <p:cNvSpPr txBox="1"/>
          <p:nvPr/>
        </p:nvSpPr>
        <p:spPr>
          <a:xfrm>
            <a:off x="7205472" y="3520440"/>
            <a:ext cx="1481328" cy="502920"/>
          </a:xfrm>
          <a:prstGeom prst="rect">
            <a:avLst/>
          </a:prstGeom>
          <a:noFill/>
          <a:ln/>
        </p:spPr>
        <p:txBody>
          <a:bodyPr wrap="square" lIns="0" tIns="0" rIns="0" bIns="0" rtlCol="0" anchor="ctr"/>
          <a:lstStyle/>
          <a:p>
            <a:pPr algn="ctr" indent="0" marL="0">
              <a:buNone/>
            </a:pPr>
            <a:r>
              <a:rPr lang="en-US" sz="1400" b="1" dirty="0">
                <a:solidFill>
                  <a:schemeClr val="bg1"/>
                </a:solidFill>
              </a:rPr>
              <a:t>SIWES programme</a:t>
            </a:r>
            <a:endParaRPr lang="en-US" sz="1400" dirty="0"/>
          </a:p>
        </p:txBody>
      </p:sp>
      <p:sp>
        <p:nvSpPr>
          <p:cNvPr id="26" name="Text 24"/>
          <p:cNvSpPr txBox="1"/>
          <p:nvPr/>
        </p:nvSpPr>
        <p:spPr>
          <a:xfrm>
            <a:off x="457200" y="4297680"/>
            <a:ext cx="8229600" cy="274320"/>
          </a:xfrm>
          <a:prstGeom prst="rect">
            <a:avLst/>
          </a:prstGeom>
          <a:noFill/>
          <a:ln/>
        </p:spPr>
        <p:txBody>
          <a:bodyPr wrap="square" lIns="0" tIns="0" rIns="0" bIns="0" rtlCol="0" anchor="ctr"/>
          <a:lstStyle/>
          <a:p>
            <a:pPr indent="0" marL="0">
              <a:buNone/>
            </a:pPr>
            <a:r>
              <a:rPr lang="en-US" sz="1100" dirty="0">
                <a:solidFill>
                  <a:schemeClr val="accent6"/>
                </a:solidFill>
              </a:rPr>
              <a:t>Sources: BusinessDay (2020); HiiT Plc company profile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9A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My placement at HiiT</a:t>
            </a:r>
            <a:endParaRPr lang="en-US" sz="3400" dirty="0"/>
          </a:p>
        </p:txBody>
      </p:sp>
      <p:sp>
        <p:nvSpPr>
          <p:cNvPr id="3" name="Placement details card"/>
          <p:cNvSpPr/>
          <p:nvPr/>
        </p:nvSpPr>
        <p:spPr>
          <a:xfrm>
            <a:off x="457200" y="1280160"/>
            <a:ext cx="3931920" cy="3200400"/>
          </a:xfrm>
          <a:prstGeom prst="rect">
            <a:avLst/>
          </a:prstGeom>
          <a:solidFill>
            <a:schemeClr val="bg2"/>
          </a:solidFill>
          <a:ln w="12700">
            <a:solidFill>
              <a:schemeClr val="bg2"/>
            </a:solidFill>
            <a:prstDash val="solid"/>
          </a:ln>
        </p:spPr>
      </p:sp>
      <p:sp>
        <p:nvSpPr>
          <p:cNvPr id="4" name="Text 2"/>
          <p:cNvSpPr txBox="1"/>
          <p:nvPr/>
        </p:nvSpPr>
        <p:spPr>
          <a:xfrm>
            <a:off x="640080" y="1417320"/>
            <a:ext cx="3566160" cy="365760"/>
          </a:xfrm>
          <a:prstGeom prst="rect">
            <a:avLst/>
          </a:prstGeom>
          <a:noFill/>
          <a:ln/>
        </p:spPr>
        <p:txBody>
          <a:bodyPr wrap="square" lIns="0" tIns="0" rIns="0" bIns="0" rtlCol="0" anchor="ctr"/>
          <a:lstStyle/>
          <a:p>
            <a:pPr indent="0" marL="0">
              <a:buNone/>
            </a:pPr>
            <a:r>
              <a:rPr lang="en-US" sz="1800" b="1" dirty="0">
                <a:solidFill>
                  <a:schemeClr val="tx1"/>
                </a:solidFill>
              </a:rPr>
              <a:t>Placement details</a:t>
            </a:r>
            <a:endParaRPr lang="en-US" sz="1800" dirty="0"/>
          </a:p>
        </p:txBody>
      </p:sp>
      <p:sp>
        <p:nvSpPr>
          <p:cNvPr id="5" name="Text 3"/>
          <p:cNvSpPr txBox="1"/>
          <p:nvPr/>
        </p:nvSpPr>
        <p:spPr>
          <a:xfrm>
            <a:off x="640080" y="1920240"/>
            <a:ext cx="1097280" cy="329184"/>
          </a:xfrm>
          <a:prstGeom prst="rect">
            <a:avLst/>
          </a:prstGeom>
          <a:noFill/>
          <a:ln/>
        </p:spPr>
        <p:txBody>
          <a:bodyPr wrap="square" lIns="0" tIns="0" rIns="0" bIns="0" rtlCol="0" anchor="ctr"/>
          <a:lstStyle/>
          <a:p>
            <a:pPr indent="0" marL="0">
              <a:buNone/>
            </a:pPr>
            <a:r>
              <a:rPr lang="en-US" sz="1400" b="1" dirty="0">
                <a:solidFill>
                  <a:schemeClr val="accent1"/>
                </a:solidFill>
              </a:rPr>
              <a:t>Host</a:t>
            </a:r>
            <a:endParaRPr lang="en-US" sz="1400" dirty="0"/>
          </a:p>
        </p:txBody>
      </p:sp>
      <p:sp>
        <p:nvSpPr>
          <p:cNvPr id="6" name="Text 4"/>
          <p:cNvSpPr txBox="1"/>
          <p:nvPr/>
        </p:nvSpPr>
        <p:spPr>
          <a:xfrm>
            <a:off x="1783080" y="1920240"/>
            <a:ext cx="2468880" cy="329184"/>
          </a:xfrm>
          <a:prstGeom prst="rect">
            <a:avLst/>
          </a:prstGeom>
          <a:noFill/>
          <a:ln/>
        </p:spPr>
        <p:txBody>
          <a:bodyPr wrap="square" lIns="0" tIns="0" rIns="0" bIns="0" rtlCol="0" anchor="ctr"/>
          <a:lstStyle/>
          <a:p>
            <a:pPr indent="0" marL="0">
              <a:buNone/>
            </a:pPr>
            <a:r>
              <a:rPr lang="en-US" sz="1400" dirty="0">
                <a:solidFill>
                  <a:schemeClr val="tx1"/>
                </a:solidFill>
              </a:rPr>
              <a:t>HiiT Plc</a:t>
            </a:r>
            <a:endParaRPr lang="en-US" sz="1400" dirty="0"/>
          </a:p>
        </p:txBody>
      </p:sp>
      <p:sp>
        <p:nvSpPr>
          <p:cNvPr id="7" name="Text 5"/>
          <p:cNvSpPr txBox="1"/>
          <p:nvPr/>
        </p:nvSpPr>
        <p:spPr>
          <a:xfrm>
            <a:off x="640080" y="2322576"/>
            <a:ext cx="1097280" cy="329184"/>
          </a:xfrm>
          <a:prstGeom prst="rect">
            <a:avLst/>
          </a:prstGeom>
          <a:noFill/>
          <a:ln/>
        </p:spPr>
        <p:txBody>
          <a:bodyPr wrap="square" lIns="0" tIns="0" rIns="0" bIns="0" rtlCol="0" anchor="ctr"/>
          <a:lstStyle/>
          <a:p>
            <a:pPr indent="0" marL="0">
              <a:buNone/>
            </a:pPr>
            <a:r>
              <a:rPr lang="en-US" sz="1400" b="1" dirty="0">
                <a:solidFill>
                  <a:schemeClr val="accent1"/>
                </a:solidFill>
              </a:rPr>
              <a:t>Branch</a:t>
            </a:r>
            <a:endParaRPr lang="en-US" sz="1400" dirty="0"/>
          </a:p>
        </p:txBody>
      </p:sp>
      <p:sp>
        <p:nvSpPr>
          <p:cNvPr id="8" name="Text 6"/>
          <p:cNvSpPr txBox="1"/>
          <p:nvPr/>
        </p:nvSpPr>
        <p:spPr>
          <a:xfrm>
            <a:off x="1783080" y="2322576"/>
            <a:ext cx="2468880" cy="329184"/>
          </a:xfrm>
          <a:prstGeom prst="rect">
            <a:avLst/>
          </a:prstGeom>
          <a:noFill/>
          <a:ln/>
        </p:spPr>
        <p:txBody>
          <a:bodyPr wrap="square" lIns="0" tIns="0" rIns="0" bIns="0" rtlCol="0" anchor="ctr"/>
          <a:lstStyle/>
          <a:p>
            <a:pPr indent="0" marL="0">
              <a:buNone/>
            </a:pPr>
            <a:r>
              <a:rPr lang="en-US" sz="1400" dirty="0">
                <a:solidFill>
                  <a:srgbClr val="0B1F33"/>
                </a:solidFill>
                <a:highlight>
                  <a:srgbClr val="FFFF00"/>
                </a:highlight>
              </a:rPr>
              <a:t>[branch / centre]</a:t>
            </a:r>
            <a:endParaRPr lang="en-US" sz="1400" dirty="0"/>
          </a:p>
        </p:txBody>
      </p:sp>
      <p:sp>
        <p:nvSpPr>
          <p:cNvPr id="9" name="Text 7"/>
          <p:cNvSpPr txBox="1"/>
          <p:nvPr/>
        </p:nvSpPr>
        <p:spPr>
          <a:xfrm>
            <a:off x="640080" y="2724912"/>
            <a:ext cx="1097280" cy="329184"/>
          </a:xfrm>
          <a:prstGeom prst="rect">
            <a:avLst/>
          </a:prstGeom>
          <a:noFill/>
          <a:ln/>
        </p:spPr>
        <p:txBody>
          <a:bodyPr wrap="square" lIns="0" tIns="0" rIns="0" bIns="0" rtlCol="0" anchor="ctr"/>
          <a:lstStyle/>
          <a:p>
            <a:pPr indent="0" marL="0">
              <a:buNone/>
            </a:pPr>
            <a:r>
              <a:rPr lang="en-US" sz="1400" b="1" dirty="0">
                <a:solidFill>
                  <a:schemeClr val="accent1"/>
                </a:solidFill>
              </a:rPr>
              <a:t>Unit</a:t>
            </a:r>
            <a:endParaRPr lang="en-US" sz="1400" dirty="0"/>
          </a:p>
        </p:txBody>
      </p:sp>
      <p:sp>
        <p:nvSpPr>
          <p:cNvPr id="10" name="Text 8"/>
          <p:cNvSpPr txBox="1"/>
          <p:nvPr/>
        </p:nvSpPr>
        <p:spPr>
          <a:xfrm>
            <a:off x="1783080" y="2724912"/>
            <a:ext cx="2468880" cy="329184"/>
          </a:xfrm>
          <a:prstGeom prst="rect">
            <a:avLst/>
          </a:prstGeom>
          <a:noFill/>
          <a:ln/>
        </p:spPr>
        <p:txBody>
          <a:bodyPr wrap="square" lIns="0" tIns="0" rIns="0" bIns="0" rtlCol="0" anchor="ctr"/>
          <a:lstStyle/>
          <a:p>
            <a:pPr indent="0" marL="0">
              <a:buNone/>
            </a:pPr>
            <a:r>
              <a:rPr lang="en-US" sz="1400" dirty="0">
                <a:solidFill>
                  <a:srgbClr val="0B1F33"/>
                </a:solidFill>
                <a:highlight>
                  <a:srgbClr val="FFFF00"/>
                </a:highlight>
              </a:rPr>
              <a:t>[unit / department]</a:t>
            </a:r>
            <a:endParaRPr lang="en-US" sz="1400" dirty="0"/>
          </a:p>
        </p:txBody>
      </p:sp>
      <p:sp>
        <p:nvSpPr>
          <p:cNvPr id="11" name="Text 9"/>
          <p:cNvSpPr txBox="1"/>
          <p:nvPr/>
        </p:nvSpPr>
        <p:spPr>
          <a:xfrm>
            <a:off x="640080" y="3127248"/>
            <a:ext cx="1097280" cy="329184"/>
          </a:xfrm>
          <a:prstGeom prst="rect">
            <a:avLst/>
          </a:prstGeom>
          <a:noFill/>
          <a:ln/>
        </p:spPr>
        <p:txBody>
          <a:bodyPr wrap="square" lIns="0" tIns="0" rIns="0" bIns="0" rtlCol="0" anchor="ctr"/>
          <a:lstStyle/>
          <a:p>
            <a:pPr indent="0" marL="0">
              <a:buNone/>
            </a:pPr>
            <a:r>
              <a:rPr lang="en-US" sz="1400" b="1" dirty="0">
                <a:solidFill>
                  <a:schemeClr val="accent1"/>
                </a:solidFill>
              </a:rPr>
              <a:t>Period</a:t>
            </a:r>
            <a:endParaRPr lang="en-US" sz="1400" dirty="0"/>
          </a:p>
        </p:txBody>
      </p:sp>
      <p:sp>
        <p:nvSpPr>
          <p:cNvPr id="12" name="Text 10"/>
          <p:cNvSpPr txBox="1"/>
          <p:nvPr/>
        </p:nvSpPr>
        <p:spPr>
          <a:xfrm>
            <a:off x="1783080" y="3127248"/>
            <a:ext cx="2468880" cy="329184"/>
          </a:xfrm>
          <a:prstGeom prst="rect">
            <a:avLst/>
          </a:prstGeom>
          <a:noFill/>
          <a:ln/>
        </p:spPr>
        <p:txBody>
          <a:bodyPr wrap="square" lIns="0" tIns="0" rIns="0" bIns="0" rtlCol="0" anchor="ctr"/>
          <a:lstStyle/>
          <a:p>
            <a:pPr indent="0" marL="0">
              <a:buNone/>
            </a:pPr>
            <a:r>
              <a:rPr lang="en-US" sz="1400" dirty="0">
                <a:solidFill>
                  <a:srgbClr val="0B1F33"/>
                </a:solidFill>
                <a:highlight>
                  <a:srgbClr val="FFFF00"/>
                </a:highlight>
              </a:rPr>
              <a:t>[start date]</a:t>
            </a:r>
            <a:pPr indent="0" marL="0">
              <a:buNone/>
            </a:pPr>
            <a:r>
              <a:rPr lang="en-US" sz="1400" dirty="0">
                <a:solidFill>
                  <a:schemeClr val="tx1"/>
                </a:solidFill>
              </a:rPr>
              <a:t> to </a:t>
            </a:r>
            <a:pPr indent="0" marL="0">
              <a:buNone/>
            </a:pPr>
            <a:r>
              <a:rPr lang="en-US" sz="1400" dirty="0">
                <a:solidFill>
                  <a:srgbClr val="0B1F33"/>
                </a:solidFill>
                <a:highlight>
                  <a:srgbClr val="FFFF00"/>
                </a:highlight>
              </a:rPr>
              <a:t>[end date]</a:t>
            </a:r>
            <a:endParaRPr lang="en-US" sz="1400" dirty="0"/>
          </a:p>
        </p:txBody>
      </p:sp>
      <p:sp>
        <p:nvSpPr>
          <p:cNvPr id="13" name="Text 11"/>
          <p:cNvSpPr txBox="1"/>
          <p:nvPr/>
        </p:nvSpPr>
        <p:spPr>
          <a:xfrm>
            <a:off x="640080" y="3529584"/>
            <a:ext cx="1097280" cy="329184"/>
          </a:xfrm>
          <a:prstGeom prst="rect">
            <a:avLst/>
          </a:prstGeom>
          <a:noFill/>
          <a:ln/>
        </p:spPr>
        <p:txBody>
          <a:bodyPr wrap="square" lIns="0" tIns="0" rIns="0" bIns="0" rtlCol="0" anchor="ctr"/>
          <a:lstStyle/>
          <a:p>
            <a:pPr indent="0" marL="0">
              <a:buNone/>
            </a:pPr>
            <a:r>
              <a:rPr lang="en-US" sz="1400" b="1" dirty="0">
                <a:solidFill>
                  <a:schemeClr val="accent1"/>
                </a:solidFill>
              </a:rPr>
              <a:t>Supervisor</a:t>
            </a:r>
            <a:endParaRPr lang="en-US" sz="1400" dirty="0"/>
          </a:p>
        </p:txBody>
      </p:sp>
      <p:sp>
        <p:nvSpPr>
          <p:cNvPr id="14" name="Text 12"/>
          <p:cNvSpPr txBox="1"/>
          <p:nvPr/>
        </p:nvSpPr>
        <p:spPr>
          <a:xfrm>
            <a:off x="1783080" y="3529584"/>
            <a:ext cx="2468880" cy="329184"/>
          </a:xfrm>
          <a:prstGeom prst="rect">
            <a:avLst/>
          </a:prstGeom>
          <a:noFill/>
          <a:ln/>
        </p:spPr>
        <p:txBody>
          <a:bodyPr wrap="square" lIns="0" tIns="0" rIns="0" bIns="0" rtlCol="0" anchor="ctr"/>
          <a:lstStyle/>
          <a:p>
            <a:pPr indent="0" marL="0">
              <a:buNone/>
            </a:pPr>
            <a:r>
              <a:rPr lang="en-US" sz="1400" dirty="0">
                <a:solidFill>
                  <a:srgbClr val="0B1F33"/>
                </a:solidFill>
                <a:highlight>
                  <a:srgbClr val="FFFF00"/>
                </a:highlight>
              </a:rPr>
              <a:t>[industry supervisor]</a:t>
            </a:r>
            <a:endParaRPr lang="en-US" sz="1400" dirty="0"/>
          </a:p>
        </p:txBody>
      </p:sp>
      <p:sp>
        <p:nvSpPr>
          <p:cNvPr id="15" name="Text 13"/>
          <p:cNvSpPr txBox="1"/>
          <p:nvPr/>
        </p:nvSpPr>
        <p:spPr>
          <a:xfrm>
            <a:off x="640080" y="3931920"/>
            <a:ext cx="1097280" cy="329184"/>
          </a:xfrm>
          <a:prstGeom prst="rect">
            <a:avLst/>
          </a:prstGeom>
          <a:noFill/>
          <a:ln/>
        </p:spPr>
        <p:txBody>
          <a:bodyPr wrap="square" lIns="0" tIns="0" rIns="0" bIns="0" rtlCol="0" anchor="ctr"/>
          <a:lstStyle/>
          <a:p>
            <a:pPr indent="0" marL="0">
              <a:buNone/>
            </a:pPr>
            <a:r>
              <a:rPr lang="en-US" sz="1400" b="1" dirty="0">
                <a:solidFill>
                  <a:schemeClr val="accent1"/>
                </a:solidFill>
              </a:rPr>
              <a:t>University</a:t>
            </a:r>
            <a:endParaRPr lang="en-US" sz="1400" dirty="0"/>
          </a:p>
        </p:txBody>
      </p:sp>
      <p:sp>
        <p:nvSpPr>
          <p:cNvPr id="16" name="Text 14"/>
          <p:cNvSpPr txBox="1"/>
          <p:nvPr/>
        </p:nvSpPr>
        <p:spPr>
          <a:xfrm>
            <a:off x="1783080" y="3931920"/>
            <a:ext cx="2468880" cy="329184"/>
          </a:xfrm>
          <a:prstGeom prst="rect">
            <a:avLst/>
          </a:prstGeom>
          <a:noFill/>
          <a:ln/>
        </p:spPr>
        <p:txBody>
          <a:bodyPr wrap="square" lIns="0" tIns="0" rIns="0" bIns="0" rtlCol="0" anchor="ctr"/>
          <a:lstStyle/>
          <a:p>
            <a:pPr indent="0" marL="0">
              <a:buNone/>
            </a:pPr>
            <a:r>
              <a:rPr lang="en-US" sz="1400" dirty="0">
                <a:solidFill>
                  <a:srgbClr val="0B1F33"/>
                </a:solidFill>
                <a:highlight>
                  <a:srgbClr val="FFFF00"/>
                </a:highlight>
              </a:rPr>
              <a:t>[institution supervisor]</a:t>
            </a:r>
            <a:endParaRPr lang="en-US" sz="1400" dirty="0"/>
          </a:p>
        </p:txBody>
      </p:sp>
      <p:sp>
        <p:nvSpPr>
          <p:cNvPr id="17" name="Text 15"/>
          <p:cNvSpPr txBox="1"/>
          <p:nvPr/>
        </p:nvSpPr>
        <p:spPr>
          <a:xfrm>
            <a:off x="4754880" y="1325880"/>
            <a:ext cx="3931920" cy="365760"/>
          </a:xfrm>
          <a:prstGeom prst="rect">
            <a:avLst/>
          </a:prstGeom>
          <a:noFill/>
          <a:ln/>
        </p:spPr>
        <p:txBody>
          <a:bodyPr wrap="square" lIns="0" tIns="0" rIns="0" bIns="0" rtlCol="0" anchor="ctr"/>
          <a:lstStyle/>
          <a:p>
            <a:pPr indent="0" marL="0">
              <a:buNone/>
            </a:pPr>
            <a:r>
              <a:rPr lang="en-US" sz="1800" b="1" dirty="0">
                <a:solidFill>
                  <a:schemeClr val="tx1"/>
                </a:solidFill>
              </a:rPr>
              <a:t>Work completed</a:t>
            </a:r>
            <a:endParaRPr lang="en-US" sz="1800" dirty="0"/>
          </a:p>
        </p:txBody>
      </p:sp>
      <p:pic>
        <p:nvPicPr>
          <p:cNvPr id="18" name="Image 0" descr="Done">    </p:cNvPr>
          <p:cNvPicPr>
            <a:picLocks noChangeAspect="1"/>
          </p:cNvPicPr>
          <p:nvPr/>
        </p:nvPicPr>
        <p:blipFill>
          <a:blip r:embed="rId1"/>
          <a:stretch>
            <a:fillRect/>
          </a:stretch>
        </p:blipFill>
        <p:spPr>
          <a:xfrm>
            <a:off x="4754880" y="1828800"/>
            <a:ext cx="274320" cy="274320"/>
          </a:xfrm>
          <a:prstGeom prst="rect">
            <a:avLst/>
          </a:prstGeom>
        </p:spPr>
      </p:pic>
      <p:sp>
        <p:nvSpPr>
          <p:cNvPr id="19" name="Text 16"/>
          <p:cNvSpPr txBox="1"/>
          <p:nvPr/>
        </p:nvSpPr>
        <p:spPr>
          <a:xfrm>
            <a:off x="5166360" y="1783080"/>
            <a:ext cx="3520440" cy="365760"/>
          </a:xfrm>
          <a:prstGeom prst="rect">
            <a:avLst/>
          </a:prstGeom>
          <a:noFill/>
          <a:ln/>
        </p:spPr>
        <p:txBody>
          <a:bodyPr wrap="square" lIns="0" tIns="0" rIns="0" bIns="0" rtlCol="0" anchor="ctr"/>
          <a:lstStyle/>
          <a:p>
            <a:pPr indent="0" marL="0">
              <a:buNone/>
            </a:pPr>
            <a:r>
              <a:rPr lang="en-US" sz="1500" dirty="0">
                <a:solidFill>
                  <a:schemeClr val="tx1"/>
                </a:solidFill>
              </a:rPr>
              <a:t>Flow-analysis engine in Python</a:t>
            </a:r>
            <a:endParaRPr lang="en-US" sz="1500" dirty="0"/>
          </a:p>
        </p:txBody>
      </p:sp>
      <p:pic>
        <p:nvPicPr>
          <p:cNvPr id="20" name="Image 1" descr="Done">    </p:cNvPr>
          <p:cNvPicPr>
            <a:picLocks noChangeAspect="1"/>
          </p:cNvPicPr>
          <p:nvPr/>
        </p:nvPicPr>
        <p:blipFill>
          <a:blip r:embed="rId2"/>
          <a:stretch>
            <a:fillRect/>
          </a:stretch>
        </p:blipFill>
        <p:spPr>
          <a:xfrm>
            <a:off x="4754880" y="2267712"/>
            <a:ext cx="274320" cy="274320"/>
          </a:xfrm>
          <a:prstGeom prst="rect">
            <a:avLst/>
          </a:prstGeom>
        </p:spPr>
      </p:pic>
      <p:sp>
        <p:nvSpPr>
          <p:cNvPr id="21" name="Text 17"/>
          <p:cNvSpPr txBox="1"/>
          <p:nvPr/>
        </p:nvSpPr>
        <p:spPr>
          <a:xfrm>
            <a:off x="5166360" y="2221992"/>
            <a:ext cx="3520440" cy="365760"/>
          </a:xfrm>
          <a:prstGeom prst="rect">
            <a:avLst/>
          </a:prstGeom>
          <a:noFill/>
          <a:ln/>
        </p:spPr>
        <p:txBody>
          <a:bodyPr wrap="square" lIns="0" tIns="0" rIns="0" bIns="0" rtlCol="0" anchor="ctr"/>
          <a:lstStyle/>
          <a:p>
            <a:pPr indent="0" marL="0">
              <a:buNone/>
            </a:pPr>
            <a:r>
              <a:rPr lang="en-US" sz="1500" dirty="0">
                <a:solidFill>
                  <a:schemeClr val="tx1"/>
                </a:solidFill>
              </a:rPr>
              <a:t>Web interface and JSON API (Flask)</a:t>
            </a:r>
            <a:endParaRPr lang="en-US" sz="1500" dirty="0"/>
          </a:p>
        </p:txBody>
      </p:sp>
      <p:pic>
        <p:nvPicPr>
          <p:cNvPr id="22" name="Image 2" descr="Done">    </p:cNvPr>
          <p:cNvPicPr>
            <a:picLocks noChangeAspect="1"/>
          </p:cNvPicPr>
          <p:nvPr/>
        </p:nvPicPr>
        <p:blipFill>
          <a:blip r:embed="rId3"/>
          <a:stretch>
            <a:fillRect/>
          </a:stretch>
        </p:blipFill>
        <p:spPr>
          <a:xfrm>
            <a:off x="4754880" y="2706624"/>
            <a:ext cx="274320" cy="274320"/>
          </a:xfrm>
          <a:prstGeom prst="rect">
            <a:avLst/>
          </a:prstGeom>
        </p:spPr>
      </p:pic>
      <p:sp>
        <p:nvSpPr>
          <p:cNvPr id="23" name="Text 18"/>
          <p:cNvSpPr txBox="1"/>
          <p:nvPr/>
        </p:nvSpPr>
        <p:spPr>
          <a:xfrm>
            <a:off x="5166360" y="2660904"/>
            <a:ext cx="3520440" cy="365760"/>
          </a:xfrm>
          <a:prstGeom prst="rect">
            <a:avLst/>
          </a:prstGeom>
          <a:noFill/>
          <a:ln/>
        </p:spPr>
        <p:txBody>
          <a:bodyPr wrap="square" lIns="0" tIns="0" rIns="0" bIns="0" rtlCol="0" anchor="ctr"/>
          <a:lstStyle/>
          <a:p>
            <a:pPr indent="0" marL="0">
              <a:buNone/>
            </a:pPr>
            <a:r>
              <a:rPr lang="en-US" sz="1500" dirty="0">
                <a:solidFill>
                  <a:schemeClr val="tx1"/>
                </a:solidFill>
              </a:rPr>
              <a:t>Docker camera laboratory</a:t>
            </a:r>
            <a:endParaRPr lang="en-US" sz="1500" dirty="0"/>
          </a:p>
        </p:txBody>
      </p:sp>
      <p:pic>
        <p:nvPicPr>
          <p:cNvPr id="24" name="Image 3" descr="Done">    </p:cNvPr>
          <p:cNvPicPr>
            <a:picLocks noChangeAspect="1"/>
          </p:cNvPicPr>
          <p:nvPr/>
        </p:nvPicPr>
        <p:blipFill>
          <a:blip r:embed="rId4"/>
          <a:stretch>
            <a:fillRect/>
          </a:stretch>
        </p:blipFill>
        <p:spPr>
          <a:xfrm>
            <a:off x="4754880" y="3145536"/>
            <a:ext cx="274320" cy="274320"/>
          </a:xfrm>
          <a:prstGeom prst="rect">
            <a:avLst/>
          </a:prstGeom>
        </p:spPr>
      </p:pic>
      <p:sp>
        <p:nvSpPr>
          <p:cNvPr id="25" name="Text 19"/>
          <p:cNvSpPr txBox="1"/>
          <p:nvPr/>
        </p:nvSpPr>
        <p:spPr>
          <a:xfrm>
            <a:off x="5166360" y="3099816"/>
            <a:ext cx="3520440" cy="365760"/>
          </a:xfrm>
          <a:prstGeom prst="rect">
            <a:avLst/>
          </a:prstGeom>
          <a:noFill/>
          <a:ln/>
        </p:spPr>
        <p:txBody>
          <a:bodyPr wrap="square" lIns="0" tIns="0" rIns="0" bIns="0" rtlCol="0" anchor="ctr"/>
          <a:lstStyle/>
          <a:p>
            <a:pPr indent="0" marL="0">
              <a:buNone/>
            </a:pPr>
            <a:r>
              <a:rPr lang="en-US" sz="1500" dirty="0">
                <a:solidFill>
                  <a:schemeClr val="tx1"/>
                </a:solidFill>
              </a:rPr>
              <a:t>Harmless trojan and fake C2 server</a:t>
            </a:r>
            <a:endParaRPr lang="en-US" sz="1500" dirty="0"/>
          </a:p>
        </p:txBody>
      </p:sp>
      <p:pic>
        <p:nvPicPr>
          <p:cNvPr id="26" name="Image 4" descr="Done">    </p:cNvPr>
          <p:cNvPicPr>
            <a:picLocks noChangeAspect="1"/>
          </p:cNvPicPr>
          <p:nvPr/>
        </p:nvPicPr>
        <p:blipFill>
          <a:blip r:embed="rId5"/>
          <a:stretch>
            <a:fillRect/>
          </a:stretch>
        </p:blipFill>
        <p:spPr>
          <a:xfrm>
            <a:off x="4754880" y="3584448"/>
            <a:ext cx="274320" cy="274320"/>
          </a:xfrm>
          <a:prstGeom prst="rect">
            <a:avLst/>
          </a:prstGeom>
        </p:spPr>
      </p:pic>
      <p:sp>
        <p:nvSpPr>
          <p:cNvPr id="27" name="Text 20"/>
          <p:cNvSpPr txBox="1"/>
          <p:nvPr/>
        </p:nvSpPr>
        <p:spPr>
          <a:xfrm>
            <a:off x="5166360" y="3538728"/>
            <a:ext cx="3520440" cy="365760"/>
          </a:xfrm>
          <a:prstGeom prst="rect">
            <a:avLst/>
          </a:prstGeom>
          <a:noFill/>
          <a:ln/>
        </p:spPr>
        <p:txBody>
          <a:bodyPr wrap="square" lIns="0" tIns="0" rIns="0" bIns="0" rtlCol="0" anchor="ctr"/>
          <a:lstStyle/>
          <a:p>
            <a:pPr indent="0" marL="0">
              <a:buNone/>
            </a:pPr>
            <a:r>
              <a:rPr lang="en-US" sz="1500" dirty="0">
                <a:solidFill>
                  <a:schemeClr val="tx1"/>
                </a:solidFill>
              </a:rPr>
              <a:t>15 automated tests</a:t>
            </a:r>
            <a:endParaRPr lang="en-US" sz="1500" dirty="0"/>
          </a:p>
        </p:txBody>
      </p:sp>
      <p:pic>
        <p:nvPicPr>
          <p:cNvPr id="28" name="Image 5" descr="Done">    </p:cNvPr>
          <p:cNvPicPr>
            <a:picLocks noChangeAspect="1"/>
          </p:cNvPicPr>
          <p:nvPr/>
        </p:nvPicPr>
        <p:blipFill>
          <a:blip r:embed="rId6"/>
          <a:stretch>
            <a:fillRect/>
          </a:stretch>
        </p:blipFill>
        <p:spPr>
          <a:xfrm>
            <a:off x="4754880" y="4023360"/>
            <a:ext cx="274320" cy="274320"/>
          </a:xfrm>
          <a:prstGeom prst="rect">
            <a:avLst/>
          </a:prstGeom>
        </p:spPr>
      </p:pic>
      <p:sp>
        <p:nvSpPr>
          <p:cNvPr id="29" name="Text 21"/>
          <p:cNvSpPr txBox="1"/>
          <p:nvPr/>
        </p:nvSpPr>
        <p:spPr>
          <a:xfrm>
            <a:off x="5166360" y="3977640"/>
            <a:ext cx="3520440" cy="365760"/>
          </a:xfrm>
          <a:prstGeom prst="rect">
            <a:avLst/>
          </a:prstGeom>
          <a:noFill/>
          <a:ln/>
        </p:spPr>
        <p:txBody>
          <a:bodyPr wrap="square" lIns="0" tIns="0" rIns="0" bIns="0" rtlCol="0" anchor="ctr"/>
          <a:lstStyle/>
          <a:p>
            <a:pPr indent="0" marL="0">
              <a:buNone/>
            </a:pPr>
            <a:r>
              <a:rPr lang="en-US" sz="1500" dirty="0">
                <a:solidFill>
                  <a:schemeClr val="tx1"/>
                </a:solidFill>
              </a:rPr>
              <a:t>README, PDF and Word documentation</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9A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Experience gained</a:t>
            </a:r>
            <a:endParaRPr lang="en-US" sz="3400" dirty="0"/>
          </a:p>
        </p:txBody>
      </p:sp>
      <p:sp>
        <p:nvSpPr>
          <p:cNvPr id="3" name="Skill card 1"/>
          <p:cNvSpPr/>
          <p:nvPr/>
        </p:nvSpPr>
        <p:spPr>
          <a:xfrm>
            <a:off x="457200" y="1280160"/>
            <a:ext cx="2560320" cy="1463040"/>
          </a:xfrm>
          <a:prstGeom prst="rect">
            <a:avLst/>
          </a:prstGeom>
          <a:solidFill>
            <a:schemeClr val="bg2"/>
          </a:solidFill>
          <a:ln w="12700">
            <a:solidFill>
              <a:schemeClr val="bg2"/>
            </a:solidFill>
            <a:prstDash val="solid"/>
          </a:ln>
        </p:spPr>
      </p:sp>
      <p:sp>
        <p:nvSpPr>
          <p:cNvPr id="4" name="Shape 2"/>
          <p:cNvSpPr/>
          <p:nvPr/>
        </p:nvSpPr>
        <p:spPr>
          <a:xfrm>
            <a:off x="640080" y="1463040"/>
            <a:ext cx="502920" cy="502920"/>
          </a:xfrm>
          <a:prstGeom prst="ellipse">
            <a:avLst/>
          </a:prstGeom>
          <a:solidFill>
            <a:srgbClr val="0E7C86"/>
          </a:solidFill>
          <a:ln w="12700">
            <a:solidFill>
              <a:srgbClr val="0E7C86"/>
            </a:solidFill>
            <a:prstDash val="solid"/>
          </a:ln>
        </p:spPr>
      </p:sp>
      <p:pic>
        <p:nvPicPr>
          <p:cNvPr id="5" name="Image 0" descr="preencoded.png">    </p:cNvPr>
          <p:cNvPicPr>
            <a:picLocks noChangeAspect="1"/>
          </p:cNvPicPr>
          <p:nvPr/>
        </p:nvPicPr>
        <p:blipFill>
          <a:blip r:embed="rId1"/>
          <a:stretch>
            <a:fillRect/>
          </a:stretch>
        </p:blipFill>
        <p:spPr>
          <a:xfrm>
            <a:off x="765810" y="1588770"/>
            <a:ext cx="251460" cy="251460"/>
          </a:xfrm>
          <a:prstGeom prst="rect">
            <a:avLst/>
          </a:prstGeom>
        </p:spPr>
      </p:pic>
      <p:sp>
        <p:nvSpPr>
          <p:cNvPr id="6" name="Text 3"/>
          <p:cNvSpPr txBox="1"/>
          <p:nvPr/>
        </p:nvSpPr>
        <p:spPr>
          <a:xfrm>
            <a:off x="1280160" y="1463040"/>
            <a:ext cx="1645920" cy="502920"/>
          </a:xfrm>
          <a:prstGeom prst="rect">
            <a:avLst/>
          </a:prstGeom>
          <a:noFill/>
          <a:ln/>
        </p:spPr>
        <p:txBody>
          <a:bodyPr wrap="square" lIns="0" tIns="0" rIns="0" bIns="0" rtlCol="0" anchor="ctr"/>
          <a:lstStyle/>
          <a:p>
            <a:pPr indent="0" marL="0">
              <a:buNone/>
            </a:pPr>
            <a:r>
              <a:rPr lang="en-US" sz="1600" b="1" dirty="0">
                <a:solidFill>
                  <a:schemeClr val="tx1"/>
                </a:solidFill>
              </a:rPr>
              <a:t>Network flows</a:t>
            </a:r>
            <a:endParaRPr lang="en-US" sz="1600" dirty="0"/>
          </a:p>
        </p:txBody>
      </p:sp>
      <p:sp>
        <p:nvSpPr>
          <p:cNvPr id="7" name="Text 4"/>
          <p:cNvSpPr txBox="1"/>
          <p:nvPr/>
        </p:nvSpPr>
        <p:spPr>
          <a:xfrm>
            <a:off x="640080" y="2103120"/>
            <a:ext cx="2240280" cy="548640"/>
          </a:xfrm>
          <a:prstGeom prst="rect">
            <a:avLst/>
          </a:prstGeom>
          <a:noFill/>
          <a:ln/>
        </p:spPr>
        <p:txBody>
          <a:bodyPr wrap="square" lIns="0" tIns="0" rIns="0" bIns="0" rtlCol="0" anchor="t"/>
          <a:lstStyle/>
          <a:p>
            <a:pPr indent="0" marL="0">
              <a:buNone/>
            </a:pPr>
            <a:r>
              <a:rPr lang="en-US" sz="1400" dirty="0">
                <a:solidFill>
                  <a:schemeClr val="tx2"/>
                </a:solidFill>
              </a:rPr>
              <a:t>Reading traffic for behaviour, not content</a:t>
            </a:r>
            <a:endParaRPr lang="en-US" sz="1400" dirty="0"/>
          </a:p>
        </p:txBody>
      </p:sp>
      <p:sp>
        <p:nvSpPr>
          <p:cNvPr id="8" name="Skill card 2"/>
          <p:cNvSpPr/>
          <p:nvPr/>
        </p:nvSpPr>
        <p:spPr>
          <a:xfrm>
            <a:off x="3291840" y="1280160"/>
            <a:ext cx="2560320" cy="1463040"/>
          </a:xfrm>
          <a:prstGeom prst="rect">
            <a:avLst/>
          </a:prstGeom>
          <a:solidFill>
            <a:schemeClr val="bg2"/>
          </a:solidFill>
          <a:ln w="12700">
            <a:solidFill>
              <a:schemeClr val="bg2"/>
            </a:solidFill>
            <a:prstDash val="solid"/>
          </a:ln>
        </p:spPr>
      </p:sp>
      <p:sp>
        <p:nvSpPr>
          <p:cNvPr id="9" name="Shape 6"/>
          <p:cNvSpPr/>
          <p:nvPr/>
        </p:nvSpPr>
        <p:spPr>
          <a:xfrm>
            <a:off x="3474720" y="1463040"/>
            <a:ext cx="502920" cy="502920"/>
          </a:xfrm>
          <a:prstGeom prst="ellipse">
            <a:avLst/>
          </a:prstGeom>
          <a:solidFill>
            <a:srgbClr val="3A6EA5"/>
          </a:solidFill>
          <a:ln w="12700">
            <a:solidFill>
              <a:srgbClr val="3A6EA5"/>
            </a:solidFill>
            <a:prstDash val="solid"/>
          </a:ln>
        </p:spPr>
      </p:sp>
      <p:pic>
        <p:nvPicPr>
          <p:cNvPr id="10" name="Image 1" descr="preencoded.png">    </p:cNvPr>
          <p:cNvPicPr>
            <a:picLocks noChangeAspect="1"/>
          </p:cNvPicPr>
          <p:nvPr/>
        </p:nvPicPr>
        <p:blipFill>
          <a:blip r:embed="rId2"/>
          <a:stretch>
            <a:fillRect/>
          </a:stretch>
        </p:blipFill>
        <p:spPr>
          <a:xfrm>
            <a:off x="3600450" y="1588770"/>
            <a:ext cx="251460" cy="251460"/>
          </a:xfrm>
          <a:prstGeom prst="rect">
            <a:avLst/>
          </a:prstGeom>
        </p:spPr>
      </p:pic>
      <p:sp>
        <p:nvSpPr>
          <p:cNvPr id="11" name="Text 7"/>
          <p:cNvSpPr txBox="1"/>
          <p:nvPr/>
        </p:nvSpPr>
        <p:spPr>
          <a:xfrm>
            <a:off x="4114800" y="1463040"/>
            <a:ext cx="1645920" cy="502920"/>
          </a:xfrm>
          <a:prstGeom prst="rect">
            <a:avLst/>
          </a:prstGeom>
          <a:noFill/>
          <a:ln/>
        </p:spPr>
        <p:txBody>
          <a:bodyPr wrap="square" lIns="0" tIns="0" rIns="0" bIns="0" rtlCol="0" anchor="ctr"/>
          <a:lstStyle/>
          <a:p>
            <a:pPr indent="0" marL="0">
              <a:buNone/>
            </a:pPr>
            <a:r>
              <a:rPr lang="en-US" sz="1600" b="1" dirty="0">
                <a:solidFill>
                  <a:schemeClr val="tx1"/>
                </a:solidFill>
              </a:rPr>
              <a:t>IoT security</a:t>
            </a:r>
            <a:endParaRPr lang="en-US" sz="1600" dirty="0"/>
          </a:p>
        </p:txBody>
      </p:sp>
      <p:sp>
        <p:nvSpPr>
          <p:cNvPr id="12" name="Text 8"/>
          <p:cNvSpPr txBox="1"/>
          <p:nvPr/>
        </p:nvSpPr>
        <p:spPr>
          <a:xfrm>
            <a:off x="3474720" y="2103120"/>
            <a:ext cx="2240280" cy="548640"/>
          </a:xfrm>
          <a:prstGeom prst="rect">
            <a:avLst/>
          </a:prstGeom>
          <a:noFill/>
          <a:ln/>
        </p:spPr>
        <p:txBody>
          <a:bodyPr wrap="square" lIns="0" tIns="0" rIns="0" bIns="0" rtlCol="0" anchor="t"/>
          <a:lstStyle/>
          <a:p>
            <a:pPr indent="0" marL="0">
              <a:buNone/>
            </a:pPr>
            <a:r>
              <a:rPr lang="en-US" sz="1400" dirty="0">
                <a:solidFill>
                  <a:schemeClr val="tx2"/>
                </a:solidFill>
              </a:rPr>
              <a:t>Trojans, C2 and MITRE ATT&amp;CK</a:t>
            </a:r>
            <a:endParaRPr lang="en-US" sz="1400" dirty="0"/>
          </a:p>
        </p:txBody>
      </p:sp>
      <p:sp>
        <p:nvSpPr>
          <p:cNvPr id="13" name="Skill card 3"/>
          <p:cNvSpPr/>
          <p:nvPr/>
        </p:nvSpPr>
        <p:spPr>
          <a:xfrm>
            <a:off x="6126480" y="1280160"/>
            <a:ext cx="2560320" cy="1463040"/>
          </a:xfrm>
          <a:prstGeom prst="rect">
            <a:avLst/>
          </a:prstGeom>
          <a:solidFill>
            <a:schemeClr val="bg2"/>
          </a:solidFill>
          <a:ln w="12700">
            <a:solidFill>
              <a:schemeClr val="bg2"/>
            </a:solidFill>
            <a:prstDash val="solid"/>
          </a:ln>
        </p:spPr>
      </p:sp>
      <p:sp>
        <p:nvSpPr>
          <p:cNvPr id="14" name="Shape 10"/>
          <p:cNvSpPr/>
          <p:nvPr/>
        </p:nvSpPr>
        <p:spPr>
          <a:xfrm>
            <a:off x="6309360" y="1463040"/>
            <a:ext cx="502920" cy="502920"/>
          </a:xfrm>
          <a:prstGeom prst="ellipse">
            <a:avLst/>
          </a:prstGeom>
          <a:solidFill>
            <a:srgbClr val="0E7C86"/>
          </a:solidFill>
          <a:ln w="12700">
            <a:solidFill>
              <a:srgbClr val="0E7C86"/>
            </a:solidFill>
            <a:prstDash val="solid"/>
          </a:ln>
        </p:spPr>
      </p:sp>
      <p:pic>
        <p:nvPicPr>
          <p:cNvPr id="15" name="Image 2" descr="preencoded.png">    </p:cNvPr>
          <p:cNvPicPr>
            <a:picLocks noChangeAspect="1"/>
          </p:cNvPicPr>
          <p:nvPr/>
        </p:nvPicPr>
        <p:blipFill>
          <a:blip r:embed="rId3"/>
          <a:stretch>
            <a:fillRect/>
          </a:stretch>
        </p:blipFill>
        <p:spPr>
          <a:xfrm>
            <a:off x="6435090" y="1588770"/>
            <a:ext cx="251460" cy="251460"/>
          </a:xfrm>
          <a:prstGeom prst="rect">
            <a:avLst/>
          </a:prstGeom>
        </p:spPr>
      </p:pic>
      <p:sp>
        <p:nvSpPr>
          <p:cNvPr id="16" name="Text 11"/>
          <p:cNvSpPr txBox="1"/>
          <p:nvPr/>
        </p:nvSpPr>
        <p:spPr>
          <a:xfrm>
            <a:off x="6949440" y="1463040"/>
            <a:ext cx="1645920" cy="502920"/>
          </a:xfrm>
          <a:prstGeom prst="rect">
            <a:avLst/>
          </a:prstGeom>
          <a:noFill/>
          <a:ln/>
        </p:spPr>
        <p:txBody>
          <a:bodyPr wrap="square" lIns="0" tIns="0" rIns="0" bIns="0" rtlCol="0" anchor="ctr"/>
          <a:lstStyle/>
          <a:p>
            <a:pPr indent="0" marL="0">
              <a:buNone/>
            </a:pPr>
            <a:r>
              <a:rPr lang="en-US" sz="1600" b="1" dirty="0">
                <a:solidFill>
                  <a:schemeClr val="tx1"/>
                </a:solidFill>
              </a:rPr>
              <a:t>Containers</a:t>
            </a:r>
            <a:endParaRPr lang="en-US" sz="1600" dirty="0"/>
          </a:p>
        </p:txBody>
      </p:sp>
      <p:sp>
        <p:nvSpPr>
          <p:cNvPr id="17" name="Text 12"/>
          <p:cNvSpPr txBox="1"/>
          <p:nvPr/>
        </p:nvSpPr>
        <p:spPr>
          <a:xfrm>
            <a:off x="6309360" y="2103120"/>
            <a:ext cx="2240280" cy="548640"/>
          </a:xfrm>
          <a:prstGeom prst="rect">
            <a:avLst/>
          </a:prstGeom>
          <a:noFill/>
          <a:ln/>
        </p:spPr>
        <p:txBody>
          <a:bodyPr wrap="square" lIns="0" tIns="0" rIns="0" bIns="0" rtlCol="0" anchor="t"/>
          <a:lstStyle/>
          <a:p>
            <a:pPr indent="0" marL="0">
              <a:buNone/>
            </a:pPr>
            <a:r>
              <a:rPr lang="en-US" sz="1400" dirty="0">
                <a:solidFill>
                  <a:schemeClr val="tx2"/>
                </a:solidFill>
              </a:rPr>
              <a:t>An isolated Docker Compose lab</a:t>
            </a:r>
            <a:endParaRPr lang="en-US" sz="1400" dirty="0"/>
          </a:p>
        </p:txBody>
      </p:sp>
      <p:sp>
        <p:nvSpPr>
          <p:cNvPr id="18" name="Skill card 4"/>
          <p:cNvSpPr/>
          <p:nvPr/>
        </p:nvSpPr>
        <p:spPr>
          <a:xfrm>
            <a:off x="457200" y="2926080"/>
            <a:ext cx="2560320" cy="1463040"/>
          </a:xfrm>
          <a:prstGeom prst="rect">
            <a:avLst/>
          </a:prstGeom>
          <a:solidFill>
            <a:schemeClr val="bg2"/>
          </a:solidFill>
          <a:ln w="12700">
            <a:solidFill>
              <a:schemeClr val="bg2"/>
            </a:solidFill>
            <a:prstDash val="solid"/>
          </a:ln>
        </p:spPr>
      </p:sp>
      <p:sp>
        <p:nvSpPr>
          <p:cNvPr id="19" name="Shape 14"/>
          <p:cNvSpPr/>
          <p:nvPr/>
        </p:nvSpPr>
        <p:spPr>
          <a:xfrm>
            <a:off x="640080" y="3108960"/>
            <a:ext cx="502920" cy="502920"/>
          </a:xfrm>
          <a:prstGeom prst="ellipse">
            <a:avLst/>
          </a:prstGeom>
          <a:solidFill>
            <a:srgbClr val="3A6EA5"/>
          </a:solidFill>
          <a:ln w="12700">
            <a:solidFill>
              <a:srgbClr val="3A6EA5"/>
            </a:solidFill>
            <a:prstDash val="solid"/>
          </a:ln>
        </p:spPr>
      </p:sp>
      <p:pic>
        <p:nvPicPr>
          <p:cNvPr id="20" name="Image 3" descr="preencoded.png">    </p:cNvPr>
          <p:cNvPicPr>
            <a:picLocks noChangeAspect="1"/>
          </p:cNvPicPr>
          <p:nvPr/>
        </p:nvPicPr>
        <p:blipFill>
          <a:blip r:embed="rId4"/>
          <a:stretch>
            <a:fillRect/>
          </a:stretch>
        </p:blipFill>
        <p:spPr>
          <a:xfrm>
            <a:off x="765810" y="3234690"/>
            <a:ext cx="251460" cy="251460"/>
          </a:xfrm>
          <a:prstGeom prst="rect">
            <a:avLst/>
          </a:prstGeom>
        </p:spPr>
      </p:pic>
      <p:sp>
        <p:nvSpPr>
          <p:cNvPr id="21" name="Text 15"/>
          <p:cNvSpPr txBox="1"/>
          <p:nvPr/>
        </p:nvSpPr>
        <p:spPr>
          <a:xfrm>
            <a:off x="1280160" y="3108960"/>
            <a:ext cx="1645920" cy="502920"/>
          </a:xfrm>
          <a:prstGeom prst="rect">
            <a:avLst/>
          </a:prstGeom>
          <a:noFill/>
          <a:ln/>
        </p:spPr>
        <p:txBody>
          <a:bodyPr wrap="square" lIns="0" tIns="0" rIns="0" bIns="0" rtlCol="0" anchor="ctr"/>
          <a:lstStyle/>
          <a:p>
            <a:pPr indent="0" marL="0">
              <a:buNone/>
            </a:pPr>
            <a:r>
              <a:rPr lang="en-US" sz="1600" b="1" dirty="0">
                <a:solidFill>
                  <a:schemeClr val="tx1"/>
                </a:solidFill>
              </a:rPr>
              <a:t>Python and Flask</a:t>
            </a:r>
            <a:endParaRPr lang="en-US" sz="1600" dirty="0"/>
          </a:p>
        </p:txBody>
      </p:sp>
      <p:sp>
        <p:nvSpPr>
          <p:cNvPr id="22" name="Text 16"/>
          <p:cNvSpPr txBox="1"/>
          <p:nvPr/>
        </p:nvSpPr>
        <p:spPr>
          <a:xfrm>
            <a:off x="640080" y="3749040"/>
            <a:ext cx="2240280" cy="548640"/>
          </a:xfrm>
          <a:prstGeom prst="rect">
            <a:avLst/>
          </a:prstGeom>
          <a:noFill/>
          <a:ln/>
        </p:spPr>
        <p:txBody>
          <a:bodyPr wrap="square" lIns="0" tIns="0" rIns="0" bIns="0" rtlCol="0" anchor="t"/>
          <a:lstStyle/>
          <a:p>
            <a:pPr indent="0" marL="0">
              <a:buNone/>
            </a:pPr>
            <a:r>
              <a:rPr lang="en-US" sz="1400" dirty="0">
                <a:solidFill>
                  <a:schemeClr val="tx2"/>
                </a:solidFill>
              </a:rPr>
              <a:t>Layered, testable code</a:t>
            </a:r>
            <a:endParaRPr lang="en-US" sz="1400" dirty="0"/>
          </a:p>
        </p:txBody>
      </p:sp>
      <p:sp>
        <p:nvSpPr>
          <p:cNvPr id="23" name="Skill card 5"/>
          <p:cNvSpPr/>
          <p:nvPr/>
        </p:nvSpPr>
        <p:spPr>
          <a:xfrm>
            <a:off x="3291840" y="2926080"/>
            <a:ext cx="2560320" cy="1463040"/>
          </a:xfrm>
          <a:prstGeom prst="rect">
            <a:avLst/>
          </a:prstGeom>
          <a:solidFill>
            <a:schemeClr val="bg2"/>
          </a:solidFill>
          <a:ln w="12700">
            <a:solidFill>
              <a:schemeClr val="bg2"/>
            </a:solidFill>
            <a:prstDash val="solid"/>
          </a:ln>
        </p:spPr>
      </p:sp>
      <p:sp>
        <p:nvSpPr>
          <p:cNvPr id="24" name="Shape 18"/>
          <p:cNvSpPr/>
          <p:nvPr/>
        </p:nvSpPr>
        <p:spPr>
          <a:xfrm>
            <a:off x="3474720" y="3108960"/>
            <a:ext cx="502920" cy="502920"/>
          </a:xfrm>
          <a:prstGeom prst="ellipse">
            <a:avLst/>
          </a:prstGeom>
          <a:solidFill>
            <a:srgbClr val="0E7C86"/>
          </a:solidFill>
          <a:ln w="12700">
            <a:solidFill>
              <a:srgbClr val="0E7C86"/>
            </a:solidFill>
            <a:prstDash val="solid"/>
          </a:ln>
        </p:spPr>
      </p:sp>
      <p:pic>
        <p:nvPicPr>
          <p:cNvPr id="25" name="Image 4" descr="preencoded.png">    </p:cNvPr>
          <p:cNvPicPr>
            <a:picLocks noChangeAspect="1"/>
          </p:cNvPicPr>
          <p:nvPr/>
        </p:nvPicPr>
        <p:blipFill>
          <a:blip r:embed="rId5"/>
          <a:stretch>
            <a:fillRect/>
          </a:stretch>
        </p:blipFill>
        <p:spPr>
          <a:xfrm>
            <a:off x="3600450" y="3234690"/>
            <a:ext cx="251460" cy="251460"/>
          </a:xfrm>
          <a:prstGeom prst="rect">
            <a:avLst/>
          </a:prstGeom>
        </p:spPr>
      </p:pic>
      <p:sp>
        <p:nvSpPr>
          <p:cNvPr id="26" name="Text 19"/>
          <p:cNvSpPr txBox="1"/>
          <p:nvPr/>
        </p:nvSpPr>
        <p:spPr>
          <a:xfrm>
            <a:off x="4114800" y="3108960"/>
            <a:ext cx="1645920" cy="502920"/>
          </a:xfrm>
          <a:prstGeom prst="rect">
            <a:avLst/>
          </a:prstGeom>
          <a:noFill/>
          <a:ln/>
        </p:spPr>
        <p:txBody>
          <a:bodyPr wrap="square" lIns="0" tIns="0" rIns="0" bIns="0" rtlCol="0" anchor="ctr"/>
          <a:lstStyle/>
          <a:p>
            <a:pPr indent="0" marL="0">
              <a:buNone/>
            </a:pPr>
            <a:r>
              <a:rPr lang="en-US" sz="1600" b="1" dirty="0">
                <a:solidFill>
                  <a:schemeClr val="tx1"/>
                </a:solidFill>
              </a:rPr>
              <a:t>Testing and Git</a:t>
            </a:r>
            <a:endParaRPr lang="en-US" sz="1600" dirty="0"/>
          </a:p>
        </p:txBody>
      </p:sp>
      <p:sp>
        <p:nvSpPr>
          <p:cNvPr id="27" name="Text 20"/>
          <p:cNvSpPr txBox="1"/>
          <p:nvPr/>
        </p:nvSpPr>
        <p:spPr>
          <a:xfrm>
            <a:off x="3474720" y="3749040"/>
            <a:ext cx="2240280" cy="548640"/>
          </a:xfrm>
          <a:prstGeom prst="rect">
            <a:avLst/>
          </a:prstGeom>
          <a:noFill/>
          <a:ln/>
        </p:spPr>
        <p:txBody>
          <a:bodyPr wrap="square" lIns="0" tIns="0" rIns="0" bIns="0" rtlCol="0" anchor="t"/>
          <a:lstStyle/>
          <a:p>
            <a:pPr indent="0" marL="0">
              <a:buNone/>
            </a:pPr>
            <a:r>
              <a:rPr lang="en-US" sz="1400" dirty="0">
                <a:solidFill>
                  <a:schemeClr val="tx2"/>
                </a:solidFill>
              </a:rPr>
              <a:t>pytest, branches, pull request</a:t>
            </a:r>
            <a:endParaRPr lang="en-US" sz="1400" dirty="0"/>
          </a:p>
        </p:txBody>
      </p:sp>
      <p:sp>
        <p:nvSpPr>
          <p:cNvPr id="28" name="Skill card 6"/>
          <p:cNvSpPr/>
          <p:nvPr/>
        </p:nvSpPr>
        <p:spPr>
          <a:xfrm>
            <a:off x="6126480" y="2926080"/>
            <a:ext cx="2560320" cy="1463040"/>
          </a:xfrm>
          <a:prstGeom prst="rect">
            <a:avLst/>
          </a:prstGeom>
          <a:solidFill>
            <a:schemeClr val="bg2"/>
          </a:solidFill>
          <a:ln w="12700">
            <a:solidFill>
              <a:schemeClr val="bg2"/>
            </a:solidFill>
            <a:prstDash val="solid"/>
          </a:ln>
        </p:spPr>
      </p:sp>
      <p:sp>
        <p:nvSpPr>
          <p:cNvPr id="29" name="Shape 22"/>
          <p:cNvSpPr/>
          <p:nvPr/>
        </p:nvSpPr>
        <p:spPr>
          <a:xfrm>
            <a:off x="6309360" y="3108960"/>
            <a:ext cx="502920" cy="502920"/>
          </a:xfrm>
          <a:prstGeom prst="ellipse">
            <a:avLst/>
          </a:prstGeom>
          <a:solidFill>
            <a:srgbClr val="3A6EA5"/>
          </a:solidFill>
          <a:ln w="12700">
            <a:solidFill>
              <a:srgbClr val="3A6EA5"/>
            </a:solidFill>
            <a:prstDash val="solid"/>
          </a:ln>
        </p:spPr>
      </p:sp>
      <p:pic>
        <p:nvPicPr>
          <p:cNvPr id="30" name="Image 5" descr="preencoded.png">    </p:cNvPr>
          <p:cNvPicPr>
            <a:picLocks noChangeAspect="1"/>
          </p:cNvPicPr>
          <p:nvPr/>
        </p:nvPicPr>
        <p:blipFill>
          <a:blip r:embed="rId6"/>
          <a:stretch>
            <a:fillRect/>
          </a:stretch>
        </p:blipFill>
        <p:spPr>
          <a:xfrm>
            <a:off x="6435090" y="3234690"/>
            <a:ext cx="251460" cy="251460"/>
          </a:xfrm>
          <a:prstGeom prst="rect">
            <a:avLst/>
          </a:prstGeom>
        </p:spPr>
      </p:pic>
      <p:sp>
        <p:nvSpPr>
          <p:cNvPr id="31" name="Text 23"/>
          <p:cNvSpPr txBox="1"/>
          <p:nvPr/>
        </p:nvSpPr>
        <p:spPr>
          <a:xfrm>
            <a:off x="6949440" y="3108960"/>
            <a:ext cx="1645920" cy="502920"/>
          </a:xfrm>
          <a:prstGeom prst="rect">
            <a:avLst/>
          </a:prstGeom>
          <a:noFill/>
          <a:ln/>
        </p:spPr>
        <p:txBody>
          <a:bodyPr wrap="square" lIns="0" tIns="0" rIns="0" bIns="0" rtlCol="0" anchor="ctr"/>
          <a:lstStyle/>
          <a:p>
            <a:pPr indent="0" marL="0">
              <a:buNone/>
            </a:pPr>
            <a:r>
              <a:rPr lang="en-US" sz="1600" b="1" dirty="0">
                <a:solidFill>
                  <a:schemeClr val="tx1"/>
                </a:solidFill>
              </a:rPr>
              <a:t>Technical writing</a:t>
            </a:r>
            <a:endParaRPr lang="en-US" sz="1600" dirty="0"/>
          </a:p>
        </p:txBody>
      </p:sp>
      <p:sp>
        <p:nvSpPr>
          <p:cNvPr id="32" name="Text 24"/>
          <p:cNvSpPr txBox="1"/>
          <p:nvPr/>
        </p:nvSpPr>
        <p:spPr>
          <a:xfrm>
            <a:off x="6309360" y="3749040"/>
            <a:ext cx="2240280" cy="548640"/>
          </a:xfrm>
          <a:prstGeom prst="rect">
            <a:avLst/>
          </a:prstGeom>
          <a:noFill/>
          <a:ln/>
        </p:spPr>
        <p:txBody>
          <a:bodyPr wrap="square" lIns="0" tIns="0" rIns="0" bIns="0" rtlCol="0" anchor="t"/>
          <a:lstStyle/>
          <a:p>
            <a:pPr indent="0" marL="0">
              <a:buNone/>
            </a:pPr>
            <a:r>
              <a:rPr lang="en-US" sz="1400" dirty="0">
                <a:solidFill>
                  <a:schemeClr val="tx2"/>
                </a:solidFill>
              </a:rPr>
              <a:t>README, PDF and Word reports</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9A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640080" y="1463040"/>
            <a:ext cx="7863840" cy="1188720"/>
          </a:xfrm>
          <a:prstGeom prst="rect">
            <a:avLst/>
          </a:prstGeom>
          <a:noFill/>
          <a:ln/>
        </p:spPr>
        <p:txBody>
          <a:bodyPr wrap="square" lIns="0" tIns="0" rIns="0" bIns="0" rtlCol="0" anchor="b"/>
          <a:lstStyle/>
          <a:p>
            <a:pPr algn="l" indent="0" marL="0">
              <a:buNone/>
            </a:pPr>
            <a:r>
              <a:rPr lang="en-US" sz="4400" b="1" dirty="0">
                <a:solidFill>
                  <a:schemeClr val="bg1"/>
                </a:solidFill>
              </a:rPr>
              <a:t>Mini project</a:t>
            </a:r>
            <a:endParaRPr lang="en-US" sz="4400" dirty="0"/>
          </a:p>
        </p:txBody>
      </p:sp>
      <p:sp>
        <p:nvSpPr>
          <p:cNvPr id="3" name="Text 1"/>
          <p:cNvSpPr/>
          <p:nvPr>
            <p:ph idx="102" type="body" hasCustomPrompt="1"/>
          </p:nvPr>
        </p:nvSpPr>
        <p:spPr>
          <a:xfrm>
            <a:off x="640080" y="2834640"/>
            <a:ext cx="7863840" cy="914400"/>
          </a:xfrm>
          <a:prstGeom prst="rect">
            <a:avLst/>
          </a:prstGeom>
          <a:noFill/>
          <a:ln/>
        </p:spPr>
        <p:txBody>
          <a:bodyPr wrap="square" lIns="0" tIns="0" rIns="0" bIns="0" rtlCol="0" anchor="t"/>
          <a:lstStyle/>
          <a:p>
            <a:pPr algn="l" indent="0" marL="0">
              <a:buNone/>
            </a:pPr>
            <a:r>
              <a:rPr lang="en-US" sz="2000" dirty="0">
                <a:solidFill>
                  <a:schemeClr val="bg2"/>
                </a:solidFill>
              </a:rPr>
              <a:t>Design and implementation of a network-flow-based Trojan Horse detection system for IoT devices</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The problem and the aim</a:t>
            </a:r>
            <a:endParaRPr lang="en-US" sz="3400" dirty="0"/>
          </a:p>
        </p:txBody>
      </p:sp>
      <p:sp>
        <p:nvSpPr>
          <p:cNvPr id="3" name="Shape 1"/>
          <p:cNvSpPr/>
          <p:nvPr/>
        </p:nvSpPr>
        <p:spPr>
          <a:xfrm>
            <a:off x="457200" y="1280160"/>
            <a:ext cx="548640" cy="548640"/>
          </a:xfrm>
          <a:prstGeom prst="ellipse">
            <a:avLst/>
          </a:prstGeom>
          <a:solidFill>
            <a:srgbClr val="0E7C86"/>
          </a:solidFill>
          <a:ln w="12700">
            <a:solidFill>
              <a:srgbClr val="0E7C86"/>
            </a:solidFill>
            <a:prstDash val="solid"/>
          </a:ln>
        </p:spPr>
      </p:sp>
      <p:pic>
        <p:nvPicPr>
          <p:cNvPr id="4" name="Image 0" descr="preencoded.png">    </p:cNvPr>
          <p:cNvPicPr>
            <a:picLocks noChangeAspect="1"/>
          </p:cNvPicPr>
          <p:nvPr/>
        </p:nvPicPr>
        <p:blipFill>
          <a:blip r:embed="rId1"/>
          <a:stretch>
            <a:fillRect/>
          </a:stretch>
        </p:blipFill>
        <p:spPr>
          <a:xfrm>
            <a:off x="594360" y="1417320"/>
            <a:ext cx="274320" cy="274320"/>
          </a:xfrm>
          <a:prstGeom prst="rect">
            <a:avLst/>
          </a:prstGeom>
        </p:spPr>
      </p:pic>
      <p:sp>
        <p:nvSpPr>
          <p:cNvPr id="5" name="Text 2"/>
          <p:cNvSpPr txBox="1"/>
          <p:nvPr/>
        </p:nvSpPr>
        <p:spPr>
          <a:xfrm>
            <a:off x="1188720" y="1280160"/>
            <a:ext cx="4023360" cy="320040"/>
          </a:xfrm>
          <a:prstGeom prst="rect">
            <a:avLst/>
          </a:prstGeom>
          <a:noFill/>
          <a:ln/>
        </p:spPr>
        <p:txBody>
          <a:bodyPr wrap="square" lIns="0" tIns="0" rIns="0" bIns="0" rtlCol="0" anchor="ctr"/>
          <a:lstStyle/>
          <a:p>
            <a:pPr indent="0" marL="0">
              <a:buNone/>
            </a:pPr>
            <a:r>
              <a:rPr lang="en-US" sz="1600" b="1" dirty="0">
                <a:solidFill>
                  <a:schemeClr val="tx1"/>
                </a:solidFill>
              </a:rPr>
              <a:t>No on-device protection</a:t>
            </a:r>
            <a:endParaRPr lang="en-US" sz="1600" dirty="0"/>
          </a:p>
        </p:txBody>
      </p:sp>
      <p:sp>
        <p:nvSpPr>
          <p:cNvPr id="6" name="Text 3"/>
          <p:cNvSpPr txBox="1"/>
          <p:nvPr/>
        </p:nvSpPr>
        <p:spPr>
          <a:xfrm>
            <a:off x="1188720" y="1600200"/>
            <a:ext cx="4023360" cy="274320"/>
          </a:xfrm>
          <a:prstGeom prst="rect">
            <a:avLst/>
          </a:prstGeom>
          <a:noFill/>
          <a:ln/>
        </p:spPr>
        <p:txBody>
          <a:bodyPr wrap="square" lIns="0" tIns="0" rIns="0" bIns="0" rtlCol="0" anchor="t"/>
          <a:lstStyle/>
          <a:p>
            <a:pPr indent="0" marL="0">
              <a:buNone/>
            </a:pPr>
            <a:r>
              <a:rPr lang="en-US" sz="1400" dirty="0">
                <a:solidFill>
                  <a:schemeClr val="tx2"/>
                </a:solidFill>
              </a:rPr>
              <a:t>Cameras cannot run security agents</a:t>
            </a:r>
            <a:endParaRPr lang="en-US" sz="1400" dirty="0"/>
          </a:p>
        </p:txBody>
      </p:sp>
      <p:sp>
        <p:nvSpPr>
          <p:cNvPr id="7" name="Shape 4"/>
          <p:cNvSpPr/>
          <p:nvPr/>
        </p:nvSpPr>
        <p:spPr>
          <a:xfrm>
            <a:off x="457200" y="2084832"/>
            <a:ext cx="548640" cy="548640"/>
          </a:xfrm>
          <a:prstGeom prst="ellipse">
            <a:avLst/>
          </a:prstGeom>
          <a:solidFill>
            <a:srgbClr val="3A6EA5"/>
          </a:solidFill>
          <a:ln w="12700">
            <a:solidFill>
              <a:srgbClr val="3A6EA5"/>
            </a:solidFill>
            <a:prstDash val="solid"/>
          </a:ln>
        </p:spPr>
      </p:sp>
      <p:pic>
        <p:nvPicPr>
          <p:cNvPr id="8" name="Image 1" descr="preencoded.png">    </p:cNvPr>
          <p:cNvPicPr>
            <a:picLocks noChangeAspect="1"/>
          </p:cNvPicPr>
          <p:nvPr/>
        </p:nvPicPr>
        <p:blipFill>
          <a:blip r:embed="rId2"/>
          <a:stretch>
            <a:fillRect/>
          </a:stretch>
        </p:blipFill>
        <p:spPr>
          <a:xfrm>
            <a:off x="594360" y="2221992"/>
            <a:ext cx="274320" cy="274320"/>
          </a:xfrm>
          <a:prstGeom prst="rect">
            <a:avLst/>
          </a:prstGeom>
        </p:spPr>
      </p:pic>
      <p:sp>
        <p:nvSpPr>
          <p:cNvPr id="9" name="Text 5"/>
          <p:cNvSpPr txBox="1"/>
          <p:nvPr/>
        </p:nvSpPr>
        <p:spPr>
          <a:xfrm>
            <a:off x="1188720" y="2084832"/>
            <a:ext cx="4023360" cy="320040"/>
          </a:xfrm>
          <a:prstGeom prst="rect">
            <a:avLst/>
          </a:prstGeom>
          <a:noFill/>
          <a:ln/>
        </p:spPr>
        <p:txBody>
          <a:bodyPr wrap="square" lIns="0" tIns="0" rIns="0" bIns="0" rtlCol="0" anchor="ctr"/>
          <a:lstStyle/>
          <a:p>
            <a:pPr indent="0" marL="0">
              <a:buNone/>
            </a:pPr>
            <a:r>
              <a:rPr lang="en-US" sz="1600" b="1" dirty="0">
                <a:solidFill>
                  <a:schemeClr val="tx1"/>
                </a:solidFill>
              </a:rPr>
              <a:t>Signatures miss new variants</a:t>
            </a:r>
            <a:endParaRPr lang="en-US" sz="1600" dirty="0"/>
          </a:p>
        </p:txBody>
      </p:sp>
      <p:sp>
        <p:nvSpPr>
          <p:cNvPr id="10" name="Text 6"/>
          <p:cNvSpPr txBox="1"/>
          <p:nvPr/>
        </p:nvSpPr>
        <p:spPr>
          <a:xfrm>
            <a:off x="1188720" y="2404872"/>
            <a:ext cx="4023360" cy="274320"/>
          </a:xfrm>
          <a:prstGeom prst="rect">
            <a:avLst/>
          </a:prstGeom>
          <a:noFill/>
          <a:ln/>
        </p:spPr>
        <p:txBody>
          <a:bodyPr wrap="square" lIns="0" tIns="0" rIns="0" bIns="0" rtlCol="0" anchor="t"/>
          <a:lstStyle/>
          <a:p>
            <a:pPr indent="0" marL="0">
              <a:buNone/>
            </a:pPr>
            <a:r>
              <a:rPr lang="en-US" sz="1400" dirty="0">
                <a:solidFill>
                  <a:schemeClr val="tx2"/>
                </a:solidFill>
              </a:rPr>
              <a:t>Behaviour lasts longer than hashes</a:t>
            </a:r>
            <a:endParaRPr lang="en-US" sz="1400" dirty="0"/>
          </a:p>
        </p:txBody>
      </p:sp>
      <p:sp>
        <p:nvSpPr>
          <p:cNvPr id="11" name="Shape 7"/>
          <p:cNvSpPr/>
          <p:nvPr/>
        </p:nvSpPr>
        <p:spPr>
          <a:xfrm>
            <a:off x="457200" y="2889504"/>
            <a:ext cx="548640" cy="548640"/>
          </a:xfrm>
          <a:prstGeom prst="ellipse">
            <a:avLst/>
          </a:prstGeom>
          <a:solidFill>
            <a:srgbClr val="0E7C86"/>
          </a:solidFill>
          <a:ln w="12700">
            <a:solidFill>
              <a:srgbClr val="0E7C86"/>
            </a:solidFill>
            <a:prstDash val="solid"/>
          </a:ln>
        </p:spPr>
      </p:sp>
      <p:pic>
        <p:nvPicPr>
          <p:cNvPr id="12" name="Image 2" descr="preencoded.png">    </p:cNvPr>
          <p:cNvPicPr>
            <a:picLocks noChangeAspect="1"/>
          </p:cNvPicPr>
          <p:nvPr/>
        </p:nvPicPr>
        <p:blipFill>
          <a:blip r:embed="rId3"/>
          <a:stretch>
            <a:fillRect/>
          </a:stretch>
        </p:blipFill>
        <p:spPr>
          <a:xfrm>
            <a:off x="594360" y="3026664"/>
            <a:ext cx="274320" cy="274320"/>
          </a:xfrm>
          <a:prstGeom prst="rect">
            <a:avLst/>
          </a:prstGeom>
        </p:spPr>
      </p:pic>
      <p:sp>
        <p:nvSpPr>
          <p:cNvPr id="13" name="Text 8"/>
          <p:cNvSpPr txBox="1"/>
          <p:nvPr/>
        </p:nvSpPr>
        <p:spPr>
          <a:xfrm>
            <a:off x="1188720" y="2889504"/>
            <a:ext cx="4023360" cy="320040"/>
          </a:xfrm>
          <a:prstGeom prst="rect">
            <a:avLst/>
          </a:prstGeom>
          <a:noFill/>
          <a:ln/>
        </p:spPr>
        <p:txBody>
          <a:bodyPr wrap="square" lIns="0" tIns="0" rIns="0" bIns="0" rtlCol="0" anchor="ctr"/>
          <a:lstStyle/>
          <a:p>
            <a:pPr indent="0" marL="0">
              <a:buNone/>
            </a:pPr>
            <a:r>
              <a:rPr lang="en-US" sz="1600" b="1" dirty="0">
                <a:solidFill>
                  <a:schemeClr val="tx1"/>
                </a:solidFill>
              </a:rPr>
              <a:t>Healthy traffic is periodic too</a:t>
            </a:r>
            <a:endParaRPr lang="en-US" sz="1600" dirty="0"/>
          </a:p>
        </p:txBody>
      </p:sp>
      <p:sp>
        <p:nvSpPr>
          <p:cNvPr id="14" name="Text 9"/>
          <p:cNvSpPr txBox="1"/>
          <p:nvPr/>
        </p:nvSpPr>
        <p:spPr>
          <a:xfrm>
            <a:off x="1188720" y="3209544"/>
            <a:ext cx="4023360" cy="274320"/>
          </a:xfrm>
          <a:prstGeom prst="rect">
            <a:avLst/>
          </a:prstGeom>
          <a:noFill/>
          <a:ln/>
        </p:spPr>
        <p:txBody>
          <a:bodyPr wrap="square" lIns="0" tIns="0" rIns="0" bIns="0" rtlCol="0" anchor="t"/>
          <a:lstStyle/>
          <a:p>
            <a:pPr indent="0" marL="0">
              <a:buNone/>
            </a:pPr>
            <a:r>
              <a:rPr lang="en-US" sz="1400" dirty="0">
                <a:solidFill>
                  <a:schemeClr val="tx2"/>
                </a:solidFill>
              </a:rPr>
              <a:t>Naive beacon detection gives false alarms</a:t>
            </a:r>
            <a:endParaRPr lang="en-US" sz="1400" dirty="0"/>
          </a:p>
        </p:txBody>
      </p:sp>
      <p:sp>
        <p:nvSpPr>
          <p:cNvPr id="15" name="Shape 10"/>
          <p:cNvSpPr/>
          <p:nvPr/>
        </p:nvSpPr>
        <p:spPr>
          <a:xfrm>
            <a:off x="457200" y="3694176"/>
            <a:ext cx="548640" cy="548640"/>
          </a:xfrm>
          <a:prstGeom prst="ellipse">
            <a:avLst/>
          </a:prstGeom>
          <a:solidFill>
            <a:srgbClr val="3A6EA5"/>
          </a:solidFill>
          <a:ln w="12700">
            <a:solidFill>
              <a:srgbClr val="3A6EA5"/>
            </a:solidFill>
            <a:prstDash val="solid"/>
          </a:ln>
        </p:spPr>
      </p:sp>
      <p:pic>
        <p:nvPicPr>
          <p:cNvPr id="16" name="Image 3" descr="preencoded.png">    </p:cNvPr>
          <p:cNvPicPr>
            <a:picLocks noChangeAspect="1"/>
          </p:cNvPicPr>
          <p:nvPr/>
        </p:nvPicPr>
        <p:blipFill>
          <a:blip r:embed="rId4"/>
          <a:stretch>
            <a:fillRect/>
          </a:stretch>
        </p:blipFill>
        <p:spPr>
          <a:xfrm>
            <a:off x="594360" y="3831336"/>
            <a:ext cx="274320" cy="274320"/>
          </a:xfrm>
          <a:prstGeom prst="rect">
            <a:avLst/>
          </a:prstGeom>
        </p:spPr>
      </p:pic>
      <p:sp>
        <p:nvSpPr>
          <p:cNvPr id="17" name="Text 11"/>
          <p:cNvSpPr txBox="1"/>
          <p:nvPr/>
        </p:nvSpPr>
        <p:spPr>
          <a:xfrm>
            <a:off x="1188720" y="3694176"/>
            <a:ext cx="4023360" cy="320040"/>
          </a:xfrm>
          <a:prstGeom prst="rect">
            <a:avLst/>
          </a:prstGeom>
          <a:noFill/>
          <a:ln/>
        </p:spPr>
        <p:txBody>
          <a:bodyPr wrap="square" lIns="0" tIns="0" rIns="0" bIns="0" rtlCol="0" anchor="ctr"/>
          <a:lstStyle/>
          <a:p>
            <a:pPr indent="0" marL="0">
              <a:buNone/>
            </a:pPr>
            <a:r>
              <a:rPr lang="en-US" sz="1600" b="1" dirty="0">
                <a:solidFill>
                  <a:schemeClr val="tx1"/>
                </a:solidFill>
              </a:rPr>
              <a:t>Safe evaluation needed</a:t>
            </a:r>
            <a:endParaRPr lang="en-US" sz="1600" dirty="0"/>
          </a:p>
        </p:txBody>
      </p:sp>
      <p:sp>
        <p:nvSpPr>
          <p:cNvPr id="18" name="Text 12"/>
          <p:cNvSpPr txBox="1"/>
          <p:nvPr/>
        </p:nvSpPr>
        <p:spPr>
          <a:xfrm>
            <a:off x="1188720" y="4014216"/>
            <a:ext cx="4023360" cy="274320"/>
          </a:xfrm>
          <a:prstGeom prst="rect">
            <a:avLst/>
          </a:prstGeom>
          <a:noFill/>
          <a:ln/>
        </p:spPr>
        <p:txBody>
          <a:bodyPr wrap="square" lIns="0" tIns="0" rIns="0" bIns="0" rtlCol="0" anchor="t"/>
          <a:lstStyle/>
          <a:p>
            <a:pPr indent="0" marL="0">
              <a:buNone/>
            </a:pPr>
            <a:r>
              <a:rPr lang="en-US" sz="1400" dirty="0">
                <a:solidFill>
                  <a:schemeClr val="tx2"/>
                </a:solidFill>
              </a:rPr>
              <a:t>No real malware, no risk to real networks</a:t>
            </a:r>
            <a:endParaRPr lang="en-US" sz="1400" dirty="0"/>
          </a:p>
        </p:txBody>
      </p:sp>
      <p:sp>
        <p:nvSpPr>
          <p:cNvPr id="19" name="Aim card"/>
          <p:cNvSpPr/>
          <p:nvPr/>
        </p:nvSpPr>
        <p:spPr>
          <a:xfrm>
            <a:off x="5486400" y="1280160"/>
            <a:ext cx="3200400" cy="3108960"/>
          </a:xfrm>
          <a:prstGeom prst="rect">
            <a:avLst/>
          </a:prstGeom>
          <a:solidFill>
            <a:schemeClr val="accent1"/>
          </a:solidFill>
          <a:ln w="12700">
            <a:solidFill>
              <a:schemeClr val="accent1"/>
            </a:solidFill>
            <a:prstDash val="solid"/>
          </a:ln>
        </p:spPr>
      </p:sp>
      <p:sp>
        <p:nvSpPr>
          <p:cNvPr id="20" name="Text 14"/>
          <p:cNvSpPr txBox="1"/>
          <p:nvPr/>
        </p:nvSpPr>
        <p:spPr>
          <a:xfrm>
            <a:off x="5715000" y="1463040"/>
            <a:ext cx="2743200" cy="411480"/>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Aim</a:t>
            </a:r>
            <a:endParaRPr lang="en-US" sz="2200" dirty="0"/>
          </a:p>
        </p:txBody>
      </p:sp>
      <p:sp>
        <p:nvSpPr>
          <p:cNvPr id="21" name="Text 15"/>
          <p:cNvSpPr txBox="1"/>
          <p:nvPr/>
        </p:nvSpPr>
        <p:spPr>
          <a:xfrm>
            <a:off x="5715000" y="1965960"/>
            <a:ext cx="2743200" cy="2286000"/>
          </a:xfrm>
          <a:prstGeom prst="rect">
            <a:avLst/>
          </a:prstGeom>
          <a:noFill/>
          <a:ln/>
        </p:spPr>
        <p:txBody>
          <a:bodyPr wrap="square" lIns="0" tIns="0" rIns="0" bIns="0" rtlCol="0" anchor="t"/>
          <a:lstStyle/>
          <a:p>
            <a:pPr indent="0" marL="0">
              <a:buNone/>
            </a:pPr>
            <a:r>
              <a:rPr lang="en-US" sz="1600" dirty="0">
                <a:solidFill>
                  <a:schemeClr val="bg1"/>
                </a:solidFill>
              </a:rPr>
              <a:t>Design, implement and test an agentless system that detects trojan-like behaviour from network-flow data, explains each finding and supports containment, with a safe laboratory to demonstrate it.</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9A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How detection works</a:t>
            </a:r>
            <a:endParaRPr lang="en-US" sz="3400" dirty="0"/>
          </a:p>
        </p:txBody>
      </p:sp>
      <p:pic>
        <p:nvPicPr>
          <p:cNvPr id="3" name="Image 0" descr="Detection pipeline: flow CSV, parse, baseline, detect, score, JSON to UI">    </p:cNvPr>
          <p:cNvPicPr>
            <a:picLocks noChangeAspect="1"/>
          </p:cNvPicPr>
          <p:nvPr/>
        </p:nvPicPr>
        <p:blipFill>
          <a:blip r:embed="rId1"/>
          <a:stretch>
            <a:fillRect/>
          </a:stretch>
        </p:blipFill>
        <p:spPr>
          <a:xfrm>
            <a:off x="457200" y="1188720"/>
            <a:ext cx="8229600" cy="1275768"/>
          </a:xfrm>
          <a:prstGeom prst="rect">
            <a:avLst/>
          </a:prstGeom>
        </p:spPr>
      </p:pic>
      <p:sp>
        <p:nvSpPr>
          <p:cNvPr id="4" name="Step card 1"/>
          <p:cNvSpPr/>
          <p:nvPr/>
        </p:nvSpPr>
        <p:spPr>
          <a:xfrm>
            <a:off x="457200" y="2788920"/>
            <a:ext cx="2560320" cy="1691640"/>
          </a:xfrm>
          <a:prstGeom prst="rect">
            <a:avLst/>
          </a:prstGeom>
          <a:solidFill>
            <a:schemeClr val="bg2"/>
          </a:solidFill>
          <a:ln w="12700">
            <a:solidFill>
              <a:schemeClr val="bg2"/>
            </a:solidFill>
            <a:prstDash val="solid"/>
          </a:ln>
        </p:spPr>
      </p:sp>
      <p:sp>
        <p:nvSpPr>
          <p:cNvPr id="5" name="Text 2"/>
          <p:cNvSpPr txBox="1"/>
          <p:nvPr/>
        </p:nvSpPr>
        <p:spPr>
          <a:xfrm>
            <a:off x="640080" y="2926080"/>
            <a:ext cx="2240280" cy="365760"/>
          </a:xfrm>
          <a:prstGeom prst="rect">
            <a:avLst/>
          </a:prstGeom>
          <a:noFill/>
          <a:ln/>
        </p:spPr>
        <p:txBody>
          <a:bodyPr wrap="square" lIns="0" tIns="0" rIns="0" bIns="0" rtlCol="0" anchor="ctr"/>
          <a:lstStyle/>
          <a:p>
            <a:pPr indent="0" marL="0">
              <a:buNone/>
            </a:pPr>
            <a:r>
              <a:rPr lang="en-US" sz="1600" b="1" dirty="0">
                <a:solidFill>
                  <a:schemeClr val="accent1"/>
                </a:solidFill>
              </a:rPr>
              <a:t>1  Parse and normalise</a:t>
            </a:r>
            <a:endParaRPr lang="en-US" sz="1600" dirty="0"/>
          </a:p>
        </p:txBody>
      </p:sp>
      <p:sp>
        <p:nvSpPr>
          <p:cNvPr id="6" name="Text 3"/>
          <p:cNvSpPr txBox="1"/>
          <p:nvPr/>
        </p:nvSpPr>
        <p:spPr>
          <a:xfrm>
            <a:off x="640080" y="3383280"/>
            <a:ext cx="2240280" cy="1005840"/>
          </a:xfrm>
          <a:prstGeom prst="rect">
            <a:avLst/>
          </a:prstGeom>
          <a:noFill/>
          <a:ln/>
        </p:spPr>
        <p:txBody>
          <a:bodyPr wrap="square" lIns="0" tIns="0" rIns="0" bIns="0" rtlCol="0" anchor="t"/>
          <a:lstStyle/>
          <a:p>
            <a:pPr indent="0" marL="0">
              <a:buNone/>
            </a:pPr>
            <a:r>
              <a:rPr lang="en-US" sz="1400" dirty="0">
                <a:solidFill>
                  <a:schemeClr val="tx1"/>
                </a:solidFill>
              </a:rPr>
              <a:t>Column aliases, ISO or epoch timestamps, and clear errors for bad files.</a:t>
            </a:r>
            <a:endParaRPr lang="en-US" sz="1400" dirty="0"/>
          </a:p>
        </p:txBody>
      </p:sp>
      <p:sp>
        <p:nvSpPr>
          <p:cNvPr id="7" name="Step card 2"/>
          <p:cNvSpPr/>
          <p:nvPr/>
        </p:nvSpPr>
        <p:spPr>
          <a:xfrm>
            <a:off x="3291840" y="2788920"/>
            <a:ext cx="2560320" cy="1691640"/>
          </a:xfrm>
          <a:prstGeom prst="rect">
            <a:avLst/>
          </a:prstGeom>
          <a:solidFill>
            <a:schemeClr val="bg2"/>
          </a:solidFill>
          <a:ln w="12700">
            <a:solidFill>
              <a:schemeClr val="bg2"/>
            </a:solidFill>
            <a:prstDash val="solid"/>
          </a:ln>
        </p:spPr>
      </p:sp>
      <p:sp>
        <p:nvSpPr>
          <p:cNvPr id="8" name="Text 5"/>
          <p:cNvSpPr txBox="1"/>
          <p:nvPr/>
        </p:nvSpPr>
        <p:spPr>
          <a:xfrm>
            <a:off x="3474720" y="2926080"/>
            <a:ext cx="2240280" cy="365760"/>
          </a:xfrm>
          <a:prstGeom prst="rect">
            <a:avLst/>
          </a:prstGeom>
          <a:noFill/>
          <a:ln/>
        </p:spPr>
        <p:txBody>
          <a:bodyPr wrap="square" lIns="0" tIns="0" rIns="0" bIns="0" rtlCol="0" anchor="ctr"/>
          <a:lstStyle/>
          <a:p>
            <a:pPr indent="0" marL="0">
              <a:buNone/>
            </a:pPr>
            <a:r>
              <a:rPr lang="en-US" sz="1600" b="1" dirty="0">
                <a:solidFill>
                  <a:schemeClr val="accent1"/>
                </a:solidFill>
              </a:rPr>
              <a:t>2  Compare with a baseline</a:t>
            </a:r>
            <a:endParaRPr lang="en-US" sz="1600" dirty="0"/>
          </a:p>
        </p:txBody>
      </p:sp>
      <p:sp>
        <p:nvSpPr>
          <p:cNvPr id="9" name="Text 6"/>
          <p:cNvSpPr txBox="1"/>
          <p:nvPr/>
        </p:nvSpPr>
        <p:spPr>
          <a:xfrm>
            <a:off x="3474720" y="3383280"/>
            <a:ext cx="2240280" cy="1005840"/>
          </a:xfrm>
          <a:prstGeom prst="rect">
            <a:avLst/>
          </a:prstGeom>
          <a:noFill/>
          <a:ln/>
        </p:spPr>
        <p:txBody>
          <a:bodyPr wrap="square" lIns="0" tIns="0" rIns="0" bIns="0" rtlCol="0" anchor="t"/>
          <a:lstStyle/>
          <a:p>
            <a:pPr indent="0" marL="0">
              <a:buNone/>
            </a:pPr>
            <a:r>
              <a:rPr lang="en-US" sz="1400" dirty="0">
                <a:solidFill>
                  <a:schemeClr val="tx1"/>
                </a:solidFill>
              </a:rPr>
              <a:t>Known-good ports and peers per device decide what is normal.</a:t>
            </a:r>
            <a:endParaRPr lang="en-US" sz="1400" dirty="0"/>
          </a:p>
        </p:txBody>
      </p:sp>
      <p:sp>
        <p:nvSpPr>
          <p:cNvPr id="10" name="Step card 3"/>
          <p:cNvSpPr/>
          <p:nvPr/>
        </p:nvSpPr>
        <p:spPr>
          <a:xfrm>
            <a:off x="6126480" y="2788920"/>
            <a:ext cx="2560320" cy="1691640"/>
          </a:xfrm>
          <a:prstGeom prst="rect">
            <a:avLst/>
          </a:prstGeom>
          <a:solidFill>
            <a:schemeClr val="bg2"/>
          </a:solidFill>
          <a:ln w="12700">
            <a:solidFill>
              <a:schemeClr val="bg2"/>
            </a:solidFill>
            <a:prstDash val="solid"/>
          </a:ln>
        </p:spPr>
      </p:sp>
      <p:sp>
        <p:nvSpPr>
          <p:cNvPr id="11" name="Text 8"/>
          <p:cNvSpPr txBox="1"/>
          <p:nvPr/>
        </p:nvSpPr>
        <p:spPr>
          <a:xfrm>
            <a:off x="6309360" y="2926080"/>
            <a:ext cx="2240280" cy="365760"/>
          </a:xfrm>
          <a:prstGeom prst="rect">
            <a:avLst/>
          </a:prstGeom>
          <a:noFill/>
          <a:ln/>
        </p:spPr>
        <p:txBody>
          <a:bodyPr wrap="square" lIns="0" tIns="0" rIns="0" bIns="0" rtlCol="0" anchor="ctr"/>
          <a:lstStyle/>
          <a:p>
            <a:pPr indent="0" marL="0">
              <a:buNone/>
            </a:pPr>
            <a:r>
              <a:rPr lang="en-US" sz="1600" b="1" dirty="0">
                <a:solidFill>
                  <a:schemeClr val="accent1"/>
                </a:solidFill>
              </a:rPr>
              <a:t>3  Score and report</a:t>
            </a:r>
            <a:endParaRPr lang="en-US" sz="1600" dirty="0"/>
          </a:p>
        </p:txBody>
      </p:sp>
      <p:sp>
        <p:nvSpPr>
          <p:cNvPr id="12" name="Text 9"/>
          <p:cNvSpPr txBox="1"/>
          <p:nvPr/>
        </p:nvSpPr>
        <p:spPr>
          <a:xfrm>
            <a:off x="6309360" y="3383280"/>
            <a:ext cx="2240280" cy="1005840"/>
          </a:xfrm>
          <a:prstGeom prst="rect">
            <a:avLst/>
          </a:prstGeom>
          <a:noFill/>
          <a:ln/>
        </p:spPr>
        <p:txBody>
          <a:bodyPr wrap="square" lIns="0" tIns="0" rIns="0" bIns="0" rtlCol="0" anchor="t"/>
          <a:lstStyle/>
          <a:p>
            <a:pPr indent="0" marL="0">
              <a:buNone/>
            </a:pPr>
            <a:r>
              <a:rPr lang="en-US" sz="1400" dirty="0">
                <a:solidFill>
                  <a:schemeClr val="tx1"/>
                </a:solidFill>
              </a:rPr>
              <a:t>Findings carry severity and ATT&amp;CK; each device gets a 0 to 100 score.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9A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System architecture</a:t>
            </a:r>
            <a:endParaRPr lang="en-US" sz="3400" dirty="0"/>
          </a:p>
        </p:txBody>
      </p:sp>
      <p:pic>
        <p:nvPicPr>
          <p:cNvPr id="3" name="Image 0" descr="Architecture of the laboratory and detector">    </p:cNvPr>
          <p:cNvPicPr>
            <a:picLocks noChangeAspect="1"/>
          </p:cNvPicPr>
          <p:nvPr/>
        </p:nvPicPr>
        <p:blipFill>
          <a:blip r:embed="rId1"/>
          <a:stretch>
            <a:fillRect/>
          </a:stretch>
        </p:blipFill>
        <p:spPr>
          <a:xfrm>
            <a:off x="457200" y="1234440"/>
            <a:ext cx="5120640" cy="2325531"/>
          </a:xfrm>
          <a:prstGeom prst="rect">
            <a:avLst/>
          </a:prstGeom>
        </p:spPr>
      </p:pic>
      <p:sp>
        <p:nvSpPr>
          <p:cNvPr id="4" name="Shape 1"/>
          <p:cNvSpPr/>
          <p:nvPr/>
        </p:nvSpPr>
        <p:spPr>
          <a:xfrm>
            <a:off x="457200" y="3749040"/>
            <a:ext cx="1554480" cy="457200"/>
          </a:xfrm>
          <a:prstGeom prst="roundRect">
            <a:avLst>
              <a:gd name="adj" fmla="val 24000"/>
            </a:avLst>
          </a:prstGeom>
          <a:solidFill>
            <a:srgbClr val="12385C"/>
          </a:solidFill>
          <a:ln w="12700">
            <a:solidFill>
              <a:srgbClr val="12385C"/>
            </a:solidFill>
            <a:prstDash val="solid"/>
          </a:ln>
        </p:spPr>
      </p:sp>
      <p:sp>
        <p:nvSpPr>
          <p:cNvPr id="5" name="Text 2"/>
          <p:cNvSpPr txBox="1"/>
          <p:nvPr/>
        </p:nvSpPr>
        <p:spPr>
          <a:xfrm>
            <a:off x="457200" y="3749040"/>
            <a:ext cx="1554480" cy="457200"/>
          </a:xfrm>
          <a:prstGeom prst="rect">
            <a:avLst/>
          </a:prstGeom>
          <a:noFill/>
          <a:ln/>
        </p:spPr>
        <p:txBody>
          <a:bodyPr wrap="square" lIns="0" tIns="0" rIns="0" bIns="0" rtlCol="0" anchor="ctr"/>
          <a:lstStyle/>
          <a:p>
            <a:pPr algn="ctr" indent="0" marL="0">
              <a:buNone/>
            </a:pPr>
            <a:r>
              <a:rPr lang="en-US" sz="1200" b="1" dirty="0">
                <a:solidFill>
                  <a:schemeClr val="bg1"/>
                </a:solidFill>
              </a:rPr>
              <a:t>Docker Compose</a:t>
            </a:r>
            <a:endParaRPr lang="en-US" sz="1200" dirty="0"/>
          </a:p>
        </p:txBody>
      </p:sp>
      <p:sp>
        <p:nvSpPr>
          <p:cNvPr id="6" name="Shape 3"/>
          <p:cNvSpPr/>
          <p:nvPr/>
        </p:nvSpPr>
        <p:spPr>
          <a:xfrm>
            <a:off x="2194560" y="3749040"/>
            <a:ext cx="1554480" cy="457200"/>
          </a:xfrm>
          <a:prstGeom prst="roundRect">
            <a:avLst>
              <a:gd name="adj" fmla="val 24000"/>
            </a:avLst>
          </a:prstGeom>
          <a:solidFill>
            <a:srgbClr val="12385C"/>
          </a:solidFill>
          <a:ln w="12700">
            <a:solidFill>
              <a:srgbClr val="12385C"/>
            </a:solidFill>
            <a:prstDash val="solid"/>
          </a:ln>
        </p:spPr>
      </p:sp>
      <p:sp>
        <p:nvSpPr>
          <p:cNvPr id="7" name="Text 4"/>
          <p:cNvSpPr txBox="1"/>
          <p:nvPr/>
        </p:nvSpPr>
        <p:spPr>
          <a:xfrm>
            <a:off x="2194560" y="3749040"/>
            <a:ext cx="1554480" cy="457200"/>
          </a:xfrm>
          <a:prstGeom prst="rect">
            <a:avLst/>
          </a:prstGeom>
          <a:noFill/>
          <a:ln/>
        </p:spPr>
        <p:txBody>
          <a:bodyPr wrap="square" lIns="0" tIns="0" rIns="0" bIns="0" rtlCol="0" anchor="ctr"/>
          <a:lstStyle/>
          <a:p>
            <a:pPr algn="ctr" indent="0" marL="0">
              <a:buNone/>
            </a:pPr>
            <a:r>
              <a:rPr lang="en-US" sz="1200" b="1" dirty="0">
                <a:solidFill>
                  <a:schemeClr val="bg1"/>
                </a:solidFill>
              </a:rPr>
              <a:t>Flask + gunicorn</a:t>
            </a:r>
            <a:endParaRPr lang="en-US" sz="1200" dirty="0"/>
          </a:p>
        </p:txBody>
      </p:sp>
      <p:sp>
        <p:nvSpPr>
          <p:cNvPr id="8" name="Shape 5"/>
          <p:cNvSpPr/>
          <p:nvPr/>
        </p:nvSpPr>
        <p:spPr>
          <a:xfrm>
            <a:off x="3931920" y="3749040"/>
            <a:ext cx="1554480" cy="457200"/>
          </a:xfrm>
          <a:prstGeom prst="roundRect">
            <a:avLst>
              <a:gd name="adj" fmla="val 24000"/>
            </a:avLst>
          </a:prstGeom>
          <a:solidFill>
            <a:srgbClr val="12385C"/>
          </a:solidFill>
          <a:ln w="12700">
            <a:solidFill>
              <a:srgbClr val="12385C"/>
            </a:solidFill>
            <a:prstDash val="solid"/>
          </a:ln>
        </p:spPr>
      </p:sp>
      <p:sp>
        <p:nvSpPr>
          <p:cNvPr id="9" name="Text 6"/>
          <p:cNvSpPr txBox="1"/>
          <p:nvPr/>
        </p:nvSpPr>
        <p:spPr>
          <a:xfrm>
            <a:off x="3931920" y="3749040"/>
            <a:ext cx="1554480" cy="457200"/>
          </a:xfrm>
          <a:prstGeom prst="rect">
            <a:avLst/>
          </a:prstGeom>
          <a:noFill/>
          <a:ln/>
        </p:spPr>
        <p:txBody>
          <a:bodyPr wrap="square" lIns="0" tIns="0" rIns="0" bIns="0" rtlCol="0" anchor="ctr"/>
          <a:lstStyle/>
          <a:p>
            <a:pPr algn="ctr" indent="0" marL="0">
              <a:buNone/>
            </a:pPr>
            <a:r>
              <a:rPr lang="en-US" sz="1200" b="1" dirty="0">
                <a:solidFill>
                  <a:schemeClr val="bg1"/>
                </a:solidFill>
              </a:rPr>
              <a:t>MediaMTX + ffmpeg</a:t>
            </a:r>
            <a:endParaRPr lang="en-US" sz="1200" dirty="0"/>
          </a:p>
        </p:txBody>
      </p:sp>
      <p:sp>
        <p:nvSpPr>
          <p:cNvPr id="10" name="Text 7"/>
          <p:cNvSpPr txBox="1"/>
          <p:nvPr/>
        </p:nvSpPr>
        <p:spPr>
          <a:xfrm>
            <a:off x="5852160" y="1280160"/>
            <a:ext cx="2834640" cy="30175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The lab network is internal: no route to the internet</a:t>
            </a:r>
            <a:endParaRPr lang="en-US" sz="1500" dirty="0"/>
          </a:p>
          <a:p>
            <a:pPr marL="342900" indent="-342900">
              <a:spcAft>
                <a:spcPts val="800"/>
              </a:spcAft>
              <a:buSzPct val="100000"/>
              <a:buChar char="•"/>
            </a:pPr>
            <a:r>
              <a:rPr lang="en-US" sz="1500" dirty="0">
                <a:solidFill>
                  <a:schemeClr val="tx1"/>
                </a:solidFill>
              </a:rPr>
              <a:t>The trojan shares cam-garage's network namespace</a:t>
            </a:r>
            <a:endParaRPr lang="en-US" sz="1500" dirty="0"/>
          </a:p>
          <a:p>
            <a:pPr marL="342900" indent="-342900">
              <a:spcAft>
                <a:spcPts val="800"/>
              </a:spcAft>
              <a:buSzPct val="100000"/>
              <a:buChar char="•"/>
            </a:pPr>
            <a:r>
              <a:rPr lang="en-US" sz="1500" dirty="0">
                <a:solidFill>
                  <a:schemeClr val="tx1"/>
                </a:solidFill>
              </a:rPr>
              <a:t>A shared volume carries flows.csv and quarantine markers</a:t>
            </a:r>
            <a:endParaRPr lang="en-US" sz="1500" dirty="0"/>
          </a:p>
          <a:p>
            <a:pPr marL="342900" indent="-342900">
              <a:buSzPct val="100000"/>
              <a:buChar char="•"/>
            </a:pPr>
            <a:r>
              <a:rPr lang="en-US" sz="1500" dirty="0">
                <a:solidFill>
                  <a:schemeClr val="tx1"/>
                </a:solidFill>
              </a:rPr>
              <a:t>Harmless: EICAR test string, fake C2, no payload</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9A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Detection rules</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554480"/>
                <a:gridCol w="4206240"/>
                <a:gridCol w="1097280"/>
                <a:gridCol w="1371600"/>
              </a:tblGrid>
              <a:tr h="365760">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Rule</a:t>
                      </a:r>
                      <a:endParaRPr lang="en-US" sz="13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solidFill>
                      <a:srgbClr val="12385C"/>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Fires when</a:t>
                      </a:r>
                      <a:endParaRPr lang="en-US" sz="13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solidFill>
                      <a:srgbClr val="12385C"/>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Severity</a:t>
                      </a:r>
                      <a:endParaRPr lang="en-US" sz="13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solidFill>
                      <a:srgbClr val="12385C"/>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ATT&amp;CK</a:t>
                      </a:r>
                      <a:endParaRPr lang="en-US" sz="13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solidFill>
                      <a:srgbClr val="12385C"/>
                    </a:solidFill>
                  </a:tcPr>
                </a:tc>
              </a:tr>
              <a:tr h="365760">
                <a:tc>
                  <a:txBody>
                    <a:bodyPr/>
                    <a:lstStyle/>
                    <a:p>
                      <a:pPr indent="0" marL="0">
                        <a:buNone/>
                      </a:pPr>
                      <a:r>
                        <a:rPr lang="en-US" sz="1200" b="1" dirty="0">
                          <a:solidFill>
                            <a:srgbClr val="0B1F33"/>
                          </a:solidFill>
                          <a:latin typeface="Calibri" pitchFamily="34" charset="0"/>
                          <a:ea typeface="Calibri" pitchFamily="34" charset="-122"/>
                          <a:cs typeface="Calibri" pitchFamily="34" charset="-120"/>
                        </a:rPr>
                        <a:t>Known-bad IP</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indent="0" marL="0">
                        <a:buNone/>
                      </a:pPr>
                      <a:r>
                        <a:rPr lang="en-US" sz="1200" dirty="0">
                          <a:solidFill>
                            <a:srgbClr val="0B1F33"/>
                          </a:solidFill>
                          <a:latin typeface="Calibri" pitchFamily="34" charset="0"/>
                          <a:ea typeface="Calibri" pitchFamily="34" charset="-122"/>
                          <a:cs typeface="Calibri" pitchFamily="34" charset="-120"/>
                        </a:rPr>
                        <a:t>Contact with a threat-intelligence listed address</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200" b="1" dirty="0">
                          <a:solidFill>
                            <a:srgbClr val="E4572E"/>
                          </a:solidFill>
                          <a:latin typeface="Calibri" pitchFamily="34" charset="0"/>
                          <a:ea typeface="Calibri" pitchFamily="34" charset="-122"/>
                          <a:cs typeface="Calibri" pitchFamily="34" charset="-120"/>
                        </a:rPr>
                        <a:t>Critical</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200" dirty="0">
                          <a:solidFill>
                            <a:srgbClr val="0B1F33"/>
                          </a:solidFill>
                          <a:latin typeface="Calibri" pitchFamily="34" charset="0"/>
                          <a:ea typeface="Calibri" pitchFamily="34" charset="-122"/>
                          <a:cs typeface="Calibri" pitchFamily="34" charset="-120"/>
                        </a:rPr>
                        <a:t>T1071</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r>
              <a:tr h="365760">
                <a:tc>
                  <a:txBody>
                    <a:bodyPr/>
                    <a:lstStyle/>
                    <a:p>
                      <a:pPr indent="0" marL="0">
                        <a:buNone/>
                      </a:pPr>
                      <a:r>
                        <a:rPr lang="en-US" sz="1200" b="1" dirty="0">
                          <a:solidFill>
                            <a:srgbClr val="0B1F33"/>
                          </a:solidFill>
                          <a:latin typeface="Calibri" pitchFamily="34" charset="0"/>
                          <a:ea typeface="Calibri" pitchFamily="34" charset="-122"/>
                          <a:cs typeface="Calibri" pitchFamily="34" charset="-120"/>
                        </a:rPr>
                        <a:t>Suspicious port</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indent="0" marL="0">
                        <a:buNone/>
                      </a:pPr>
                      <a:r>
                        <a:rPr lang="en-US" sz="1200" dirty="0">
                          <a:solidFill>
                            <a:srgbClr val="0B1F33"/>
                          </a:solidFill>
                          <a:latin typeface="Calibri" pitchFamily="34" charset="0"/>
                          <a:ea typeface="Calibri" pitchFamily="34" charset="-122"/>
                          <a:cs typeface="Calibri" pitchFamily="34" charset="-120"/>
                        </a:rPr>
                        <a:t>Ports such as 23, 4444, 6667 and 31337</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200" b="1" dirty="0">
                          <a:solidFill>
                            <a:srgbClr val="E4572E"/>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200" dirty="0">
                          <a:solidFill>
                            <a:srgbClr val="0B1F33"/>
                          </a:solidFill>
                          <a:latin typeface="Calibri" pitchFamily="34" charset="0"/>
                          <a:ea typeface="Calibri" pitchFamily="34" charset="-122"/>
                          <a:cs typeface="Calibri" pitchFamily="34" charset="-120"/>
                        </a:rPr>
                        <a:t>T1571</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r>
              <a:tr h="365760">
                <a:tc>
                  <a:txBody>
                    <a:bodyPr/>
                    <a:lstStyle/>
                    <a:p>
                      <a:pPr indent="0" marL="0">
                        <a:buNone/>
                      </a:pPr>
                      <a:r>
                        <a:rPr lang="en-US" sz="1200" b="1" dirty="0">
                          <a:solidFill>
                            <a:srgbClr val="0B1F33"/>
                          </a:solidFill>
                          <a:latin typeface="Calibri" pitchFamily="34" charset="0"/>
                          <a:ea typeface="Calibri" pitchFamily="34" charset="-122"/>
                          <a:cs typeface="Calibri" pitchFamily="34" charset="-120"/>
                        </a:rPr>
                        <a:t>Unusual port</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indent="0" marL="0">
                        <a:buNone/>
                      </a:pPr>
                      <a:r>
                        <a:rPr lang="en-US" sz="1200" dirty="0">
                          <a:solidFill>
                            <a:srgbClr val="0B1F33"/>
                          </a:solidFill>
                          <a:latin typeface="Calibri" pitchFamily="34" charset="0"/>
                          <a:ea typeface="Calibri" pitchFamily="34" charset="-122"/>
                          <a:cs typeface="Calibri" pitchFamily="34" charset="-120"/>
                        </a:rPr>
                        <a:t>Port outside the baseline and camera defaults</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200" b="1" dirty="0">
                          <a:solidFill>
                            <a:srgbClr val="8A5A00"/>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200" dirty="0">
                          <a:solidFill>
                            <a:srgbClr val="0B1F33"/>
                          </a:solidFill>
                          <a:latin typeface="Calibri" pitchFamily="34" charset="0"/>
                          <a:ea typeface="Calibri" pitchFamily="34" charset="-122"/>
                          <a:cs typeface="Calibri" pitchFamily="34" charset="-120"/>
                        </a:rPr>
                        <a:t>T1571</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r>
              <a:tr h="365760">
                <a:tc>
                  <a:txBody>
                    <a:bodyPr/>
                    <a:lstStyle/>
                    <a:p>
                      <a:pPr indent="0" marL="0">
                        <a:buNone/>
                      </a:pPr>
                      <a:r>
                        <a:rPr lang="en-US" sz="1200" b="1" dirty="0">
                          <a:solidFill>
                            <a:srgbClr val="0B1F33"/>
                          </a:solidFill>
                          <a:latin typeface="Calibri" pitchFamily="34" charset="0"/>
                          <a:ea typeface="Calibri" pitchFamily="34" charset="-122"/>
                          <a:cs typeface="Calibri" pitchFamily="34" charset="-120"/>
                        </a:rPr>
                        <a:t>New external peer</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indent="0" marL="0">
                        <a:buNone/>
                      </a:pPr>
                      <a:r>
                        <a:rPr lang="en-US" sz="1200" dirty="0">
                          <a:solidFill>
                            <a:srgbClr val="0B1F33"/>
                          </a:solidFill>
                          <a:latin typeface="Calibri" pitchFamily="34" charset="0"/>
                          <a:ea typeface="Calibri" pitchFamily="34" charset="-122"/>
                          <a:cs typeface="Calibri" pitchFamily="34" charset="-120"/>
                        </a:rPr>
                        <a:t>Destination never seen in the baseline</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200" b="1" dirty="0">
                          <a:solidFill>
                            <a:srgbClr val="8A5A00"/>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200" dirty="0">
                          <a:solidFill>
                            <a:srgbClr val="0B1F33"/>
                          </a:solidFill>
                          <a:latin typeface="Calibri" pitchFamily="34" charset="0"/>
                          <a:ea typeface="Calibri" pitchFamily="34" charset="-122"/>
                          <a:cs typeface="Calibri" pitchFamily="34" charset="-120"/>
                        </a:rPr>
                        <a:t>T1071</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r>
              <a:tr h="365760">
                <a:tc>
                  <a:txBody>
                    <a:bodyPr/>
                    <a:lstStyle/>
                    <a:p>
                      <a:pPr indent="0" marL="0">
                        <a:buNone/>
                      </a:pPr>
                      <a:r>
                        <a:rPr lang="en-US" sz="1200" b="1" dirty="0">
                          <a:solidFill>
                            <a:srgbClr val="0B1F33"/>
                          </a:solidFill>
                          <a:latin typeface="Calibri" pitchFamily="34" charset="0"/>
                          <a:ea typeface="Calibri" pitchFamily="34" charset="-122"/>
                          <a:cs typeface="Calibri" pitchFamily="34" charset="-120"/>
                        </a:rPr>
                        <a:t>Beaconing</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indent="0" marL="0">
                        <a:buNone/>
                      </a:pPr>
                      <a:r>
                        <a:rPr lang="en-US" sz="1200" dirty="0">
                          <a:solidFill>
                            <a:srgbClr val="0B1F33"/>
                          </a:solidFill>
                          <a:latin typeface="Calibri" pitchFamily="34" charset="0"/>
                          <a:ea typeface="Calibri" pitchFamily="34" charset="-122"/>
                          <a:cs typeface="Calibri" pitchFamily="34" charset="-120"/>
                        </a:rPr>
                        <a:t>6+ flows, jitter CV &lt;= 0.25, peer outside baseline</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200" b="1" dirty="0">
                          <a:solidFill>
                            <a:srgbClr val="E4572E"/>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200" dirty="0">
                          <a:solidFill>
                            <a:srgbClr val="0B1F33"/>
                          </a:solidFill>
                          <a:latin typeface="Calibri" pitchFamily="34" charset="0"/>
                          <a:ea typeface="Calibri" pitchFamily="34" charset="-122"/>
                          <a:cs typeface="Calibri" pitchFamily="34" charset="-120"/>
                        </a:rPr>
                        <a:t>T1029</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r>
              <a:tr h="365760">
                <a:tc>
                  <a:txBody>
                    <a:bodyPr/>
                    <a:lstStyle/>
                    <a:p>
                      <a:pPr indent="0" marL="0">
                        <a:buNone/>
                      </a:pPr>
                      <a:r>
                        <a:rPr lang="en-US" sz="1200" b="1" dirty="0">
                          <a:solidFill>
                            <a:srgbClr val="0B1F33"/>
                          </a:solidFill>
                          <a:latin typeface="Calibri" pitchFamily="34" charset="0"/>
                          <a:ea typeface="Calibri" pitchFamily="34" charset="-122"/>
                          <a:cs typeface="Calibri" pitchFamily="34" charset="-120"/>
                        </a:rPr>
                        <a:t>Scan burst</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indent="0" marL="0">
                        <a:buNone/>
                      </a:pPr>
                      <a:r>
                        <a:rPr lang="en-US" sz="1200" dirty="0">
                          <a:solidFill>
                            <a:srgbClr val="0B1F33"/>
                          </a:solidFill>
                          <a:latin typeface="Calibri" pitchFamily="34" charset="0"/>
                          <a:ea typeface="Calibri" pitchFamily="34" charset="-122"/>
                          <a:cs typeface="Calibri" pitchFamily="34" charset="-120"/>
                        </a:rPr>
                        <a:t>10+ hosts or ports within 60 s</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200" b="1" dirty="0">
                          <a:solidFill>
                            <a:srgbClr val="E4572E"/>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200" dirty="0">
                          <a:solidFill>
                            <a:srgbClr val="0B1F33"/>
                          </a:solidFill>
                          <a:latin typeface="Calibri" pitchFamily="34" charset="0"/>
                          <a:ea typeface="Calibri" pitchFamily="34" charset="-122"/>
                          <a:cs typeface="Calibri" pitchFamily="34" charset="-120"/>
                        </a:rPr>
                        <a:t>T1018 / T1046</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r>
              <a:tr h="365760">
                <a:tc>
                  <a:txBody>
                    <a:bodyPr/>
                    <a:lstStyle/>
                    <a:p>
                      <a:pPr indent="0" marL="0">
                        <a:buNone/>
                      </a:pPr>
                      <a:r>
                        <a:rPr lang="en-US" sz="1200" b="1" dirty="0">
                          <a:solidFill>
                            <a:srgbClr val="0B1F33"/>
                          </a:solidFill>
                          <a:latin typeface="Calibri" pitchFamily="34" charset="0"/>
                          <a:ea typeface="Calibri" pitchFamily="34" charset="-122"/>
                          <a:cs typeface="Calibri" pitchFamily="34" charset="-120"/>
                        </a:rPr>
                        <a:t>Large transfer</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indent="0" marL="0">
                        <a:buNone/>
                      </a:pPr>
                      <a:r>
                        <a:rPr lang="en-US" sz="1200" dirty="0">
                          <a:solidFill>
                            <a:srgbClr val="0B1F33"/>
                          </a:solidFill>
                          <a:latin typeface="Calibri" pitchFamily="34" charset="0"/>
                          <a:ea typeface="Calibri" pitchFamily="34" charset="-122"/>
                          <a:cs typeface="Calibri" pitchFamily="34" charset="-120"/>
                        </a:rPr>
                        <a:t>5 MB or more to one external address</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200" b="1" dirty="0">
                          <a:solidFill>
                            <a:srgbClr val="E4572E"/>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200" dirty="0">
                          <a:solidFill>
                            <a:srgbClr val="0B1F33"/>
                          </a:solidFill>
                          <a:latin typeface="Calibri" pitchFamily="34" charset="0"/>
                          <a:ea typeface="Calibri" pitchFamily="34" charset="-122"/>
                          <a:cs typeface="Calibri" pitchFamily="34" charset="-120"/>
                        </a:rPr>
                        <a:t>T1041</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r>
              <a:tr h="365760">
                <a:tc>
                  <a:txBody>
                    <a:bodyPr/>
                    <a:lstStyle/>
                    <a:p>
                      <a:pPr indent="0" marL="0">
                        <a:buNone/>
                      </a:pPr>
                      <a:r>
                        <a:rPr lang="en-US" sz="1200" b="1" dirty="0">
                          <a:solidFill>
                            <a:srgbClr val="0B1F33"/>
                          </a:solidFill>
                          <a:latin typeface="Calibri" pitchFamily="34" charset="0"/>
                          <a:ea typeface="Calibri" pitchFamily="34" charset="-122"/>
                          <a:cs typeface="Calibri" pitchFamily="34" charset="-120"/>
                        </a:rPr>
                        <a:t>Size outlier</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indent="0" marL="0">
                        <a:buNone/>
                      </a:pPr>
                      <a:r>
                        <a:rPr lang="en-US" sz="1200" dirty="0">
                          <a:solidFill>
                            <a:srgbClr val="0B1F33"/>
                          </a:solidFill>
                          <a:latin typeface="Calibri" pitchFamily="34" charset="0"/>
                          <a:ea typeface="Calibri" pitchFamily="34" charset="-122"/>
                          <a:cs typeface="Calibri" pitchFamily="34" charset="-120"/>
                        </a:rPr>
                        <a:t>Flow above baseline mean + 4 sigma</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200" b="1" dirty="0">
                          <a:solidFill>
                            <a:srgbClr val="8A5A00"/>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200" dirty="0">
                          <a:solidFill>
                            <a:srgbClr val="0B1F33"/>
                          </a:solidFill>
                          <a:latin typeface="Calibri" pitchFamily="34" charset="0"/>
                          <a:ea typeface="Calibri" pitchFamily="34" charset="-122"/>
                          <a:cs typeface="Calibri" pitchFamily="34" charset="-120"/>
                        </a:rPr>
                        <a:t>T1030</a:t>
                      </a:r>
                      <a:endParaRPr lang="en-US" sz="120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9A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Scoring and baselines</a:t>
            </a:r>
            <a:endParaRPr lang="en-US" sz="3400" dirty="0"/>
          </a:p>
        </p:txBody>
      </p:sp>
      <p:graphicFrame>
        <p:nvGraphicFramePr>
          <p:cNvPr id="3" name="Chart 0" descr=""/>
          <p:cNvGraphicFramePr/>
          <p:nvPr/>
        </p:nvGraphicFramePr>
        <p:xfrm>
          <a:off x="457200" y="1188720"/>
          <a:ext cx="4114800" cy="2468880"/>
        </p:xfrm>
        <a:graphic xmlns:a="http://schemas.openxmlformats.org/drawingml/2006/main">
          <a:graphicData uri="http://schemas.openxmlformats.org/drawingml/2006/chart">
            <c:chart xmlns:c="http://schemas.openxmlformats.org/drawingml/2006/chart" r:id="rId1"/>
          </a:graphicData>
        </a:graphic>
      </p:graphicFrame>
      <p:sp>
        <p:nvSpPr>
          <p:cNvPr id="4" name="Status Clean"/>
          <p:cNvSpPr/>
          <p:nvPr/>
        </p:nvSpPr>
        <p:spPr>
          <a:xfrm>
            <a:off x="457200" y="3840480"/>
            <a:ext cx="1325880" cy="640080"/>
          </a:xfrm>
          <a:prstGeom prst="roundRect">
            <a:avLst>
              <a:gd name="adj" fmla="val 14286"/>
            </a:avLst>
          </a:prstGeom>
          <a:solidFill>
            <a:srgbClr val="2F6F4E"/>
          </a:solidFill>
          <a:ln w="12700">
            <a:solidFill>
              <a:srgbClr val="2F6F4E"/>
            </a:solidFill>
            <a:prstDash val="solid"/>
          </a:ln>
        </p:spPr>
      </p:sp>
      <p:sp>
        <p:nvSpPr>
          <p:cNvPr id="5" name="Text 2"/>
          <p:cNvSpPr txBox="1"/>
          <p:nvPr/>
        </p:nvSpPr>
        <p:spPr>
          <a:xfrm>
            <a:off x="457200" y="3840480"/>
            <a:ext cx="1325880" cy="640080"/>
          </a:xfrm>
          <a:prstGeom prst="rect">
            <a:avLst/>
          </a:prstGeom>
          <a:noFill/>
          <a:ln/>
        </p:spPr>
        <p:txBody>
          <a:bodyPr wrap="square" lIns="0" tIns="0" rIns="0" bIns="0" rtlCol="0" anchor="ctr"/>
          <a:lstStyle/>
          <a:p>
            <a:pPr algn="ctr" indent="0" marL="0">
              <a:buNone/>
            </a:pPr>
            <a:r>
              <a:rPr lang="en-US" sz="1200" b="1" dirty="0">
                <a:solidFill>
                  <a:schemeClr val="bg1"/>
                </a:solidFill>
              </a:rPr>
              <a:t>Clean</a:t>
            </a:r>
            <a:endParaRPr lang="en-US" sz="1200" dirty="0"/>
          </a:p>
          <a:p>
            <a:pPr algn="ctr" indent="0" marL="0">
              <a:buNone/>
            </a:pPr>
            <a:r>
              <a:rPr lang="en-US" sz="1200" dirty="0">
                <a:solidFill>
                  <a:schemeClr val="bg1"/>
                </a:solidFill>
              </a:rPr>
              <a:t>&lt; 10</a:t>
            </a:r>
            <a:endParaRPr lang="en-US" sz="1200" dirty="0"/>
          </a:p>
        </p:txBody>
      </p:sp>
      <p:sp>
        <p:nvSpPr>
          <p:cNvPr id="6" name="Status Suspicious"/>
          <p:cNvSpPr/>
          <p:nvPr/>
        </p:nvSpPr>
        <p:spPr>
          <a:xfrm>
            <a:off x="1874520" y="3840480"/>
            <a:ext cx="1325880" cy="640080"/>
          </a:xfrm>
          <a:prstGeom prst="roundRect">
            <a:avLst>
              <a:gd name="adj" fmla="val 14286"/>
            </a:avLst>
          </a:prstGeom>
          <a:solidFill>
            <a:srgbClr val="8A5A00"/>
          </a:solidFill>
          <a:ln w="12700">
            <a:solidFill>
              <a:srgbClr val="8A5A00"/>
            </a:solidFill>
            <a:prstDash val="solid"/>
          </a:ln>
        </p:spPr>
      </p:sp>
      <p:sp>
        <p:nvSpPr>
          <p:cNvPr id="7" name="Text 4"/>
          <p:cNvSpPr txBox="1"/>
          <p:nvPr/>
        </p:nvSpPr>
        <p:spPr>
          <a:xfrm>
            <a:off x="1874520" y="3840480"/>
            <a:ext cx="1325880" cy="640080"/>
          </a:xfrm>
          <a:prstGeom prst="rect">
            <a:avLst/>
          </a:prstGeom>
          <a:noFill/>
          <a:ln/>
        </p:spPr>
        <p:txBody>
          <a:bodyPr wrap="square" lIns="0" tIns="0" rIns="0" bIns="0" rtlCol="0" anchor="ctr"/>
          <a:lstStyle/>
          <a:p>
            <a:pPr algn="ctr" indent="0" marL="0">
              <a:buNone/>
            </a:pPr>
            <a:r>
              <a:rPr lang="en-US" sz="1200" b="1" dirty="0">
                <a:solidFill>
                  <a:schemeClr val="bg1"/>
                </a:solidFill>
              </a:rPr>
              <a:t>Suspicious</a:t>
            </a:r>
            <a:endParaRPr lang="en-US" sz="1200" dirty="0"/>
          </a:p>
          <a:p>
            <a:pPr algn="ctr" indent="0" marL="0">
              <a:buNone/>
            </a:pPr>
            <a:r>
              <a:rPr lang="en-US" sz="1200" dirty="0">
                <a:solidFill>
                  <a:schemeClr val="bg1"/>
                </a:solidFill>
              </a:rPr>
              <a:t>10 to 49</a:t>
            </a:r>
            <a:endParaRPr lang="en-US" sz="1200" dirty="0"/>
          </a:p>
        </p:txBody>
      </p:sp>
      <p:sp>
        <p:nvSpPr>
          <p:cNvPr id="8" name="Status Compromised"/>
          <p:cNvSpPr/>
          <p:nvPr/>
        </p:nvSpPr>
        <p:spPr>
          <a:xfrm>
            <a:off x="3291840" y="3840480"/>
            <a:ext cx="1325880" cy="640080"/>
          </a:xfrm>
          <a:prstGeom prst="roundRect">
            <a:avLst>
              <a:gd name="adj" fmla="val 14286"/>
            </a:avLst>
          </a:prstGeom>
          <a:solidFill>
            <a:srgbClr val="E4572E"/>
          </a:solidFill>
          <a:ln w="12700">
            <a:solidFill>
              <a:srgbClr val="E4572E"/>
            </a:solidFill>
            <a:prstDash val="solid"/>
          </a:ln>
        </p:spPr>
      </p:sp>
      <p:sp>
        <p:nvSpPr>
          <p:cNvPr id="9" name="Text 6"/>
          <p:cNvSpPr txBox="1"/>
          <p:nvPr/>
        </p:nvSpPr>
        <p:spPr>
          <a:xfrm>
            <a:off x="3291840" y="3840480"/>
            <a:ext cx="1325880" cy="640080"/>
          </a:xfrm>
          <a:prstGeom prst="rect">
            <a:avLst/>
          </a:prstGeom>
          <a:noFill/>
          <a:ln/>
        </p:spPr>
        <p:txBody>
          <a:bodyPr wrap="square" lIns="0" tIns="0" rIns="0" bIns="0" rtlCol="0" anchor="ctr"/>
          <a:lstStyle/>
          <a:p>
            <a:pPr algn="ctr" indent="0" marL="0">
              <a:buNone/>
            </a:pPr>
            <a:r>
              <a:rPr lang="en-US" sz="1200" b="1" dirty="0">
                <a:solidFill>
                  <a:schemeClr val="bg1"/>
                </a:solidFill>
              </a:rPr>
              <a:t>Compromised</a:t>
            </a:r>
            <a:endParaRPr lang="en-US" sz="1200" dirty="0"/>
          </a:p>
          <a:p>
            <a:pPr algn="ctr" indent="0" marL="0">
              <a:buNone/>
            </a:pPr>
            <a:r>
              <a:rPr lang="en-US" sz="1200" dirty="0">
                <a:solidFill>
                  <a:schemeClr val="bg1"/>
                </a:solidFill>
              </a:rPr>
              <a:t>50 +</a:t>
            </a:r>
            <a:endParaRPr lang="en-US" sz="1200" dirty="0"/>
          </a:p>
        </p:txBody>
      </p:sp>
      <p:sp>
        <p:nvSpPr>
          <p:cNvPr id="10" name="Baseline card"/>
          <p:cNvSpPr/>
          <p:nvPr/>
        </p:nvSpPr>
        <p:spPr>
          <a:xfrm>
            <a:off x="4846320" y="1188720"/>
            <a:ext cx="3840480" cy="3291840"/>
          </a:xfrm>
          <a:prstGeom prst="rect">
            <a:avLst/>
          </a:prstGeom>
          <a:solidFill>
            <a:schemeClr val="bg2"/>
          </a:solidFill>
          <a:ln w="12700">
            <a:solidFill>
              <a:schemeClr val="bg2"/>
            </a:solidFill>
            <a:prstDash val="solid"/>
          </a:ln>
        </p:spPr>
      </p:sp>
      <p:sp>
        <p:nvSpPr>
          <p:cNvPr id="11" name="Text 8"/>
          <p:cNvSpPr txBox="1"/>
          <p:nvPr/>
        </p:nvSpPr>
        <p:spPr>
          <a:xfrm>
            <a:off x="5074920" y="1325880"/>
            <a:ext cx="338328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Why a baseline?</a:t>
            </a:r>
            <a:endParaRPr lang="en-US" sz="2000" dirty="0"/>
          </a:p>
        </p:txBody>
      </p:sp>
      <p:sp>
        <p:nvSpPr>
          <p:cNvPr id="12" name="Text 9"/>
          <p:cNvSpPr txBox="1"/>
          <p:nvPr/>
        </p:nvSpPr>
        <p:spPr>
          <a:xfrm>
            <a:off x="5074920" y="1828800"/>
            <a:ext cx="3383280" cy="1920240"/>
          </a:xfrm>
          <a:prstGeom prst="rect">
            <a:avLst/>
          </a:prstGeom>
          <a:noFill/>
          <a:ln/>
        </p:spPr>
        <p:txBody>
          <a:bodyPr wrap="square" lIns="0" tIns="0" rIns="0" bIns="0" rtlCol="0" anchor="t"/>
          <a:lstStyle/>
          <a:p>
            <a:pPr indent="0" marL="0">
              <a:spcAft>
                <a:spcPts val="800"/>
              </a:spcAft>
              <a:buNone/>
            </a:pPr>
            <a:r>
              <a:rPr lang="en-US" sz="1400" dirty="0">
                <a:solidFill>
                  <a:schemeClr val="tx1"/>
                </a:solidFill>
              </a:rPr>
              <a:t>Healthy cameras are periodic too: video every ~10 s, NTP, heartbeats.</a:t>
            </a:r>
            <a:endParaRPr lang="en-US" sz="1400" dirty="0"/>
          </a:p>
          <a:p>
            <a:pPr indent="0" marL="0">
              <a:spcAft>
                <a:spcPts val="800"/>
              </a:spcAft>
              <a:buNone/>
            </a:pPr>
            <a:r>
              <a:rPr lang="en-US" sz="1400" dirty="0">
                <a:solidFill>
                  <a:schemeClr val="tx1"/>
                </a:solidFill>
              </a:rPr>
              <a:t>Beaconing counts only for peers outside a device's baseline.</a:t>
            </a:r>
            <a:endParaRPr lang="en-US" sz="1400" dirty="0"/>
          </a:p>
          <a:p>
            <a:pPr indent="0" marL="0">
              <a:buNone/>
            </a:pPr>
            <a:r>
              <a:rPr lang="en-US" sz="1400" dirty="0">
                <a:solidFill>
                  <a:schemeClr val="tx1"/>
                </a:solidFill>
              </a:rPr>
              <a:t>A 15 s beacon scores about 0.02 on jitter, far below the 0.25 limit.</a:t>
            </a:r>
            <a:endParaRPr lang="en-US" sz="1400" dirty="0"/>
          </a:p>
        </p:txBody>
      </p:sp>
      <p:sp>
        <p:nvSpPr>
          <p:cNvPr id="13" name="Text 10"/>
          <p:cNvSpPr txBox="1"/>
          <p:nvPr/>
        </p:nvSpPr>
        <p:spPr>
          <a:xfrm>
            <a:off x="5074920" y="3931920"/>
            <a:ext cx="3383280" cy="411480"/>
          </a:xfrm>
          <a:prstGeom prst="rect">
            <a:avLst/>
          </a:prstGeom>
          <a:noFill/>
          <a:ln/>
        </p:spPr>
        <p:txBody>
          <a:bodyPr wrap="square" lIns="0" tIns="0" rIns="0" bIns="0" rtlCol="0" anchor="ctr"/>
          <a:lstStyle/>
          <a:p>
            <a:pPr indent="0" marL="0">
              <a:buNone/>
            </a:pPr>
            <a:r>
              <a:rPr lang="en-US" sz="2200" b="1" dirty="0">
                <a:solidFill>
                  <a:srgbClr val="2F6F4E"/>
                </a:solidFill>
              </a:rPr>
              <a:t>0 findings</a:t>
            </a:r>
            <a:pPr indent="0" marL="0">
              <a:buNone/>
            </a:pPr>
            <a:r>
              <a:rPr lang="en-US" sz="1400" dirty="0">
                <a:solidFill>
                  <a:schemeClr val="tx1"/>
                </a:solidFill>
              </a:rPr>
              <a:t>  on the clean capture</a:t>
            </a:r>
            <a:endParaRPr lang="en-US" sz="2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9A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The detector in action</a:t>
            </a:r>
            <a:endParaRPr lang="en-US" sz="3400" dirty="0"/>
          </a:p>
        </p:txBody>
      </p:sp>
      <p:pic>
        <p:nvPicPr>
          <p:cNvPr id="3" name="Image 0" descr="Results screen: summary tiles and device table with cam-garage compromised">    </p:cNvPr>
          <p:cNvPicPr>
            <a:picLocks noChangeAspect="1"/>
          </p:cNvPicPr>
          <p:nvPr/>
        </p:nvPicPr>
        <p:blipFill>
          <a:blip r:embed="rId1"/>
          <a:stretch>
            <a:fillRect/>
          </a:stretch>
        </p:blipFill>
        <p:spPr>
          <a:xfrm>
            <a:off x="640080" y="1188720"/>
            <a:ext cx="7863840" cy="3104520"/>
          </a:xfrm>
          <a:prstGeom prst="rect">
            <a:avLst/>
          </a:prstGeom>
        </p:spPr>
      </p:pic>
      <p:sp>
        <p:nvSpPr>
          <p:cNvPr id="4" name="Text 1"/>
          <p:cNvSpPr txBox="1"/>
          <p:nvPr/>
        </p:nvSpPr>
        <p:spPr>
          <a:xfrm>
            <a:off x="640080" y="4370832"/>
            <a:ext cx="7863840" cy="274320"/>
          </a:xfrm>
          <a:prstGeom prst="rect">
            <a:avLst/>
          </a:prstGeom>
          <a:noFill/>
          <a:ln/>
        </p:spPr>
        <p:txBody>
          <a:bodyPr wrap="square" lIns="0" tIns="0" rIns="0" bIns="0" rtlCol="0" anchor="ctr"/>
          <a:lstStyle/>
          <a:p>
            <a:pPr indent="0" marL="0">
              <a:buNone/>
            </a:pPr>
            <a:r>
              <a:rPr lang="en-US" sz="1300" dirty="0">
                <a:solidFill>
                  <a:schemeClr val="tx2"/>
                </a:solidFill>
              </a:rPr>
              <a:t>Infected sample: cam-garage compromised (score 100); other cameras clean.</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9A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Findings and mobile view</a:t>
            </a:r>
            <a:endParaRPr lang="en-US" sz="3400" dirty="0"/>
          </a:p>
        </p:txBody>
      </p:sp>
      <p:pic>
        <p:nvPicPr>
          <p:cNvPr id="3" name="Image 0" descr="Findings table with severity, evidence and ATT&amp;CK technique">    </p:cNvPr>
          <p:cNvPicPr>
            <a:picLocks noChangeAspect="1"/>
          </p:cNvPicPr>
          <p:nvPr/>
        </p:nvPicPr>
        <p:blipFill>
          <a:blip r:embed="rId1"/>
          <a:stretch>
            <a:fillRect/>
          </a:stretch>
        </p:blipFill>
        <p:spPr>
          <a:xfrm>
            <a:off x="457200" y="1188720"/>
            <a:ext cx="4085930" cy="3200400"/>
          </a:xfrm>
          <a:prstGeom prst="rect">
            <a:avLst/>
          </a:prstGeom>
        </p:spPr>
      </p:pic>
      <p:pic>
        <p:nvPicPr>
          <p:cNvPr id="4" name="Image 1" descr="Mobile view of summary tiles and device table">    </p:cNvPr>
          <p:cNvPicPr>
            <a:picLocks noChangeAspect="1"/>
          </p:cNvPicPr>
          <p:nvPr/>
        </p:nvPicPr>
        <p:blipFill>
          <a:blip r:embed="rId2"/>
          <a:stretch>
            <a:fillRect/>
          </a:stretch>
        </p:blipFill>
        <p:spPr>
          <a:xfrm>
            <a:off x="4800600" y="1188720"/>
            <a:ext cx="1854615" cy="3200400"/>
          </a:xfrm>
          <a:prstGeom prst="rect">
            <a:avLst/>
          </a:prstGeom>
        </p:spPr>
      </p:pic>
      <p:sp>
        <p:nvSpPr>
          <p:cNvPr id="5" name="Text 1"/>
          <p:cNvSpPr txBox="1"/>
          <p:nvPr/>
        </p:nvSpPr>
        <p:spPr>
          <a:xfrm>
            <a:off x="6903720" y="1280160"/>
            <a:ext cx="1783080" cy="3108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Severity, evidence and ATT&amp;CK technique for every finding</a:t>
            </a:r>
            <a:endParaRPr lang="en-US" sz="1400" dirty="0"/>
          </a:p>
          <a:p>
            <a:pPr marL="342900" indent="-342900">
              <a:spcAft>
                <a:spcPts val="800"/>
              </a:spcAft>
              <a:buSzPct val="100000"/>
              <a:buChar char="•"/>
            </a:pPr>
            <a:r>
              <a:rPr lang="en-US" sz="1400" dirty="0">
                <a:solidFill>
                  <a:schemeClr val="tx1"/>
                </a:solidFill>
              </a:rPr>
              <a:t>Tables scroll inside their cards on a phone</a:t>
            </a:r>
            <a:endParaRPr lang="en-US" sz="1400" dirty="0"/>
          </a:p>
          <a:p>
            <a:pPr marL="342900" indent="-342900">
              <a:buSzPct val="100000"/>
              <a:buChar char="•"/>
            </a:pPr>
            <a:r>
              <a:rPr lang="en-US" sz="1400" dirty="0">
                <a:solidFill>
                  <a:schemeClr val="tx1"/>
                </a:solidFill>
              </a:rPr>
              <a:t>One-click Quarantine and Release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9A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Results</a:t>
            </a:r>
            <a:endParaRPr lang="en-US" sz="3400" dirty="0"/>
          </a:p>
        </p:txBody>
      </p:sp>
      <p:sp>
        <p:nvSpPr>
          <p:cNvPr id="3" name="Result stat 1"/>
          <p:cNvSpPr/>
          <p:nvPr/>
        </p:nvSpPr>
        <p:spPr>
          <a:xfrm>
            <a:off x="457200" y="1280160"/>
            <a:ext cx="1874520" cy="1737360"/>
          </a:xfrm>
          <a:prstGeom prst="rect">
            <a:avLst/>
          </a:prstGeom>
          <a:solidFill>
            <a:schemeClr val="bg2"/>
          </a:solidFill>
          <a:ln w="12700">
            <a:solidFill>
              <a:schemeClr val="bg2"/>
            </a:solidFill>
            <a:prstDash val="solid"/>
          </a:ln>
        </p:spPr>
      </p:sp>
      <p:sp>
        <p:nvSpPr>
          <p:cNvPr id="4" name="Text 2"/>
          <p:cNvSpPr txBox="1"/>
          <p:nvPr/>
        </p:nvSpPr>
        <p:spPr>
          <a:xfrm>
            <a:off x="594360" y="1371600"/>
            <a:ext cx="1600200" cy="6858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15 / 15</a:t>
            </a:r>
            <a:endParaRPr lang="en-US" sz="3200" dirty="0"/>
          </a:p>
        </p:txBody>
      </p:sp>
      <p:sp>
        <p:nvSpPr>
          <p:cNvPr id="5" name="Text 3"/>
          <p:cNvSpPr txBox="1"/>
          <p:nvPr/>
        </p:nvSpPr>
        <p:spPr>
          <a:xfrm>
            <a:off x="594360" y="2103120"/>
            <a:ext cx="1600200" cy="868680"/>
          </a:xfrm>
          <a:prstGeom prst="rect">
            <a:avLst/>
          </a:prstGeom>
          <a:noFill/>
          <a:ln/>
        </p:spPr>
        <p:txBody>
          <a:bodyPr wrap="square" lIns="0" tIns="0" rIns="0" bIns="0" rtlCol="0" anchor="t"/>
          <a:lstStyle/>
          <a:p>
            <a:pPr indent="0" marL="0">
              <a:buNone/>
            </a:pPr>
            <a:r>
              <a:rPr lang="en-US" sz="1300" dirty="0">
                <a:solidFill>
                  <a:schemeClr val="tx1"/>
                </a:solidFill>
              </a:rPr>
              <a:t>automated tests pass</a:t>
            </a:r>
            <a:endParaRPr lang="en-US" sz="1300" dirty="0"/>
          </a:p>
        </p:txBody>
      </p:sp>
      <p:sp>
        <p:nvSpPr>
          <p:cNvPr id="6" name="Result stat 2"/>
          <p:cNvSpPr/>
          <p:nvPr/>
        </p:nvSpPr>
        <p:spPr>
          <a:xfrm>
            <a:off x="2578608" y="1280160"/>
            <a:ext cx="1874520" cy="1737360"/>
          </a:xfrm>
          <a:prstGeom prst="rect">
            <a:avLst/>
          </a:prstGeom>
          <a:solidFill>
            <a:schemeClr val="bg2"/>
          </a:solidFill>
          <a:ln w="12700">
            <a:solidFill>
              <a:schemeClr val="bg2"/>
            </a:solidFill>
            <a:prstDash val="solid"/>
          </a:ln>
        </p:spPr>
      </p:sp>
      <p:sp>
        <p:nvSpPr>
          <p:cNvPr id="7" name="Text 5"/>
          <p:cNvSpPr txBox="1"/>
          <p:nvPr/>
        </p:nvSpPr>
        <p:spPr>
          <a:xfrm>
            <a:off x="2715768" y="1371600"/>
            <a:ext cx="1600200" cy="6858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22</a:t>
            </a:r>
            <a:endParaRPr lang="en-US" sz="3200" dirty="0"/>
          </a:p>
        </p:txBody>
      </p:sp>
      <p:sp>
        <p:nvSpPr>
          <p:cNvPr id="8" name="Text 6"/>
          <p:cNvSpPr txBox="1"/>
          <p:nvPr/>
        </p:nvSpPr>
        <p:spPr>
          <a:xfrm>
            <a:off x="2715768" y="2103120"/>
            <a:ext cx="1600200" cy="868680"/>
          </a:xfrm>
          <a:prstGeom prst="rect">
            <a:avLst/>
          </a:prstGeom>
          <a:noFill/>
          <a:ln/>
        </p:spPr>
        <p:txBody>
          <a:bodyPr wrap="square" lIns="0" tIns="0" rIns="0" bIns="0" rtlCol="0" anchor="t"/>
          <a:lstStyle/>
          <a:p>
            <a:pPr indent="0" marL="0">
              <a:buNone/>
            </a:pPr>
            <a:r>
              <a:rPr lang="en-US" sz="1300" dirty="0">
                <a:solidFill>
                  <a:schemeClr val="tx1"/>
                </a:solidFill>
              </a:rPr>
              <a:t>findings on the infected sample (2 critical, 7 high, 13 medium)</a:t>
            </a:r>
            <a:endParaRPr lang="en-US" sz="1300" dirty="0"/>
          </a:p>
        </p:txBody>
      </p:sp>
      <p:sp>
        <p:nvSpPr>
          <p:cNvPr id="9" name="Result stat 3"/>
          <p:cNvSpPr/>
          <p:nvPr/>
        </p:nvSpPr>
        <p:spPr>
          <a:xfrm>
            <a:off x="4700016" y="1280160"/>
            <a:ext cx="1874520" cy="1737360"/>
          </a:xfrm>
          <a:prstGeom prst="rect">
            <a:avLst/>
          </a:prstGeom>
          <a:solidFill>
            <a:schemeClr val="bg2"/>
          </a:solidFill>
          <a:ln w="12700">
            <a:solidFill>
              <a:schemeClr val="bg2"/>
            </a:solidFill>
            <a:prstDash val="solid"/>
          </a:ln>
        </p:spPr>
      </p:sp>
      <p:sp>
        <p:nvSpPr>
          <p:cNvPr id="10" name="Text 8"/>
          <p:cNvSpPr txBox="1"/>
          <p:nvPr/>
        </p:nvSpPr>
        <p:spPr>
          <a:xfrm>
            <a:off x="4837176" y="1371600"/>
            <a:ext cx="1600200" cy="6858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0</a:t>
            </a:r>
            <a:endParaRPr lang="en-US" sz="3200" dirty="0"/>
          </a:p>
        </p:txBody>
      </p:sp>
      <p:sp>
        <p:nvSpPr>
          <p:cNvPr id="11" name="Text 9"/>
          <p:cNvSpPr txBox="1"/>
          <p:nvPr/>
        </p:nvSpPr>
        <p:spPr>
          <a:xfrm>
            <a:off x="4837176" y="2103120"/>
            <a:ext cx="1600200" cy="868680"/>
          </a:xfrm>
          <a:prstGeom prst="rect">
            <a:avLst/>
          </a:prstGeom>
          <a:noFill/>
          <a:ln/>
        </p:spPr>
        <p:txBody>
          <a:bodyPr wrap="square" lIns="0" tIns="0" rIns="0" bIns="0" rtlCol="0" anchor="t"/>
          <a:lstStyle/>
          <a:p>
            <a:pPr indent="0" marL="0">
              <a:buNone/>
            </a:pPr>
            <a:r>
              <a:rPr lang="en-US" sz="1300" dirty="0">
                <a:solidFill>
                  <a:schemeClr val="tx1"/>
                </a:solidFill>
              </a:rPr>
              <a:t>findings on the clean capture</a:t>
            </a:r>
            <a:endParaRPr lang="en-US" sz="1300" dirty="0"/>
          </a:p>
        </p:txBody>
      </p:sp>
      <p:sp>
        <p:nvSpPr>
          <p:cNvPr id="12" name="Result stat 4"/>
          <p:cNvSpPr/>
          <p:nvPr/>
        </p:nvSpPr>
        <p:spPr>
          <a:xfrm>
            <a:off x="6821424" y="1280160"/>
            <a:ext cx="1874520" cy="1737360"/>
          </a:xfrm>
          <a:prstGeom prst="rect">
            <a:avLst/>
          </a:prstGeom>
          <a:solidFill>
            <a:schemeClr val="bg2"/>
          </a:solidFill>
          <a:ln w="12700">
            <a:solidFill>
              <a:schemeClr val="bg2"/>
            </a:solidFill>
            <a:prstDash val="solid"/>
          </a:ln>
        </p:spPr>
      </p:sp>
      <p:sp>
        <p:nvSpPr>
          <p:cNvPr id="13" name="Text 11"/>
          <p:cNvSpPr txBox="1"/>
          <p:nvPr/>
        </p:nvSpPr>
        <p:spPr>
          <a:xfrm>
            <a:off x="6958584" y="1371600"/>
            <a:ext cx="1600200" cy="685800"/>
          </a:xfrm>
          <a:prstGeom prst="rect">
            <a:avLst/>
          </a:prstGeom>
          <a:noFill/>
          <a:ln/>
        </p:spPr>
        <p:txBody>
          <a:bodyPr wrap="square" lIns="0" tIns="0" rIns="0" bIns="0" rtlCol="0" anchor="ctr"/>
          <a:lstStyle/>
          <a:p>
            <a:pPr indent="0" marL="0">
              <a:buNone/>
            </a:pPr>
            <a:r>
              <a:rPr lang="en-US" sz="3200" b="1" dirty="0">
                <a:solidFill>
                  <a:schemeClr val="accent2"/>
                </a:solidFill>
                <a:latin typeface="Cambria" pitchFamily="34" charset="0"/>
                <a:ea typeface="Cambria" pitchFamily="34" charset="-122"/>
                <a:cs typeface="Cambria" pitchFamily="34" charset="-120"/>
              </a:rPr>
              <a:t>100</a:t>
            </a:r>
            <a:endParaRPr lang="en-US" sz="3200" dirty="0"/>
          </a:p>
        </p:txBody>
      </p:sp>
      <p:sp>
        <p:nvSpPr>
          <p:cNvPr id="14" name="Text 12"/>
          <p:cNvSpPr txBox="1"/>
          <p:nvPr/>
        </p:nvSpPr>
        <p:spPr>
          <a:xfrm>
            <a:off x="6958584" y="2103120"/>
            <a:ext cx="1600200" cy="868680"/>
          </a:xfrm>
          <a:prstGeom prst="rect">
            <a:avLst/>
          </a:prstGeom>
          <a:noFill/>
          <a:ln/>
        </p:spPr>
        <p:txBody>
          <a:bodyPr wrap="square" lIns="0" tIns="0" rIns="0" bIns="0" rtlCol="0" anchor="t"/>
          <a:lstStyle/>
          <a:p>
            <a:pPr indent="0" marL="0">
              <a:buNone/>
            </a:pPr>
            <a:r>
              <a:rPr lang="en-US" sz="1300" dirty="0">
                <a:solidFill>
                  <a:schemeClr val="tx1"/>
                </a:solidFill>
              </a:rPr>
              <a:t>risk score of cam-garage</a:t>
            </a:r>
            <a:endParaRPr lang="en-US" sz="1300" dirty="0"/>
          </a:p>
        </p:txBody>
      </p:sp>
      <p:sp>
        <p:nvSpPr>
          <p:cNvPr id="15" name="Device cam-garage"/>
          <p:cNvSpPr/>
          <p:nvPr/>
        </p:nvSpPr>
        <p:spPr>
          <a:xfrm>
            <a:off x="457200" y="3246120"/>
            <a:ext cx="2560320" cy="822960"/>
          </a:xfrm>
          <a:prstGeom prst="roundRect">
            <a:avLst>
              <a:gd name="adj" fmla="val 13333"/>
            </a:avLst>
          </a:prstGeom>
          <a:solidFill>
            <a:srgbClr val="E4572E"/>
          </a:solidFill>
          <a:ln w="12700">
            <a:solidFill>
              <a:srgbClr val="E4572E"/>
            </a:solidFill>
            <a:prstDash val="solid"/>
          </a:ln>
        </p:spPr>
      </p:sp>
      <p:sp>
        <p:nvSpPr>
          <p:cNvPr id="16" name="Text 14"/>
          <p:cNvSpPr txBox="1"/>
          <p:nvPr/>
        </p:nvSpPr>
        <p:spPr>
          <a:xfrm>
            <a:off x="457200" y="3246120"/>
            <a:ext cx="2560320" cy="822960"/>
          </a:xfrm>
          <a:prstGeom prst="rect">
            <a:avLst/>
          </a:prstGeom>
          <a:noFill/>
          <a:ln/>
        </p:spPr>
        <p:txBody>
          <a:bodyPr wrap="square" lIns="0" tIns="0" rIns="0" bIns="0" rtlCol="0" anchor="ctr"/>
          <a:lstStyle/>
          <a:p>
            <a:pPr algn="ctr" indent="0" marL="0">
              <a:buNone/>
            </a:pPr>
            <a:r>
              <a:rPr lang="en-US" sz="1600" b="1" dirty="0">
                <a:solidFill>
                  <a:schemeClr val="bg1"/>
                </a:solidFill>
              </a:rPr>
              <a:t>cam-garage</a:t>
            </a:r>
            <a:endParaRPr lang="en-US" sz="1600" dirty="0"/>
          </a:p>
          <a:p>
            <a:pPr algn="ctr" indent="0" marL="0">
              <a:buNone/>
            </a:pPr>
            <a:r>
              <a:rPr lang="en-US" sz="1400" dirty="0">
                <a:solidFill>
                  <a:schemeClr val="bg1"/>
                </a:solidFill>
              </a:rPr>
              <a:t>compromised, score 100</a:t>
            </a:r>
            <a:endParaRPr lang="en-US" sz="1600" dirty="0"/>
          </a:p>
        </p:txBody>
      </p:sp>
      <p:sp>
        <p:nvSpPr>
          <p:cNvPr id="17" name="Device cam-lobby"/>
          <p:cNvSpPr/>
          <p:nvPr/>
        </p:nvSpPr>
        <p:spPr>
          <a:xfrm>
            <a:off x="3291840" y="3246120"/>
            <a:ext cx="2560320" cy="822960"/>
          </a:xfrm>
          <a:prstGeom prst="roundRect">
            <a:avLst>
              <a:gd name="adj" fmla="val 13333"/>
            </a:avLst>
          </a:prstGeom>
          <a:solidFill>
            <a:srgbClr val="2F6F4E"/>
          </a:solidFill>
          <a:ln w="12700">
            <a:solidFill>
              <a:srgbClr val="2F6F4E"/>
            </a:solidFill>
            <a:prstDash val="solid"/>
          </a:ln>
        </p:spPr>
      </p:sp>
      <p:sp>
        <p:nvSpPr>
          <p:cNvPr id="18" name="Text 16"/>
          <p:cNvSpPr txBox="1"/>
          <p:nvPr/>
        </p:nvSpPr>
        <p:spPr>
          <a:xfrm>
            <a:off x="3291840" y="3246120"/>
            <a:ext cx="2560320" cy="822960"/>
          </a:xfrm>
          <a:prstGeom prst="rect">
            <a:avLst/>
          </a:prstGeom>
          <a:noFill/>
          <a:ln/>
        </p:spPr>
        <p:txBody>
          <a:bodyPr wrap="square" lIns="0" tIns="0" rIns="0" bIns="0" rtlCol="0" anchor="ctr"/>
          <a:lstStyle/>
          <a:p>
            <a:pPr algn="ctr" indent="0" marL="0">
              <a:buNone/>
            </a:pPr>
            <a:r>
              <a:rPr lang="en-US" sz="1600" b="1" dirty="0">
                <a:solidFill>
                  <a:schemeClr val="bg1"/>
                </a:solidFill>
              </a:rPr>
              <a:t>cam-lobby</a:t>
            </a:r>
            <a:endParaRPr lang="en-US" sz="1600" dirty="0"/>
          </a:p>
          <a:p>
            <a:pPr algn="ctr" indent="0" marL="0">
              <a:buNone/>
            </a:pPr>
            <a:r>
              <a:rPr lang="en-US" sz="1400" dirty="0">
                <a:solidFill>
                  <a:schemeClr val="bg1"/>
                </a:solidFill>
              </a:rPr>
              <a:t>clean, score 0</a:t>
            </a:r>
            <a:endParaRPr lang="en-US" sz="1600" dirty="0"/>
          </a:p>
        </p:txBody>
      </p:sp>
      <p:sp>
        <p:nvSpPr>
          <p:cNvPr id="19" name="Device cam-office"/>
          <p:cNvSpPr/>
          <p:nvPr/>
        </p:nvSpPr>
        <p:spPr>
          <a:xfrm>
            <a:off x="6126480" y="3246120"/>
            <a:ext cx="2560320" cy="822960"/>
          </a:xfrm>
          <a:prstGeom prst="roundRect">
            <a:avLst>
              <a:gd name="adj" fmla="val 13333"/>
            </a:avLst>
          </a:prstGeom>
          <a:solidFill>
            <a:srgbClr val="2F6F4E"/>
          </a:solidFill>
          <a:ln w="12700">
            <a:solidFill>
              <a:srgbClr val="2F6F4E"/>
            </a:solidFill>
            <a:prstDash val="solid"/>
          </a:ln>
        </p:spPr>
      </p:sp>
      <p:sp>
        <p:nvSpPr>
          <p:cNvPr id="20" name="Text 18"/>
          <p:cNvSpPr txBox="1"/>
          <p:nvPr/>
        </p:nvSpPr>
        <p:spPr>
          <a:xfrm>
            <a:off x="6126480" y="3246120"/>
            <a:ext cx="2560320" cy="822960"/>
          </a:xfrm>
          <a:prstGeom prst="rect">
            <a:avLst/>
          </a:prstGeom>
          <a:noFill/>
          <a:ln/>
        </p:spPr>
        <p:txBody>
          <a:bodyPr wrap="square" lIns="0" tIns="0" rIns="0" bIns="0" rtlCol="0" anchor="ctr"/>
          <a:lstStyle/>
          <a:p>
            <a:pPr algn="ctr" indent="0" marL="0">
              <a:buNone/>
            </a:pPr>
            <a:r>
              <a:rPr lang="en-US" sz="1600" b="1" dirty="0">
                <a:solidFill>
                  <a:schemeClr val="bg1"/>
                </a:solidFill>
              </a:rPr>
              <a:t>cam-office</a:t>
            </a:r>
            <a:endParaRPr lang="en-US" sz="1600" dirty="0"/>
          </a:p>
          <a:p>
            <a:pPr algn="ctr" indent="0" marL="0">
              <a:buNone/>
            </a:pPr>
            <a:r>
              <a:rPr lang="en-US" sz="1400" dirty="0">
                <a:solidFill>
                  <a:schemeClr val="bg1"/>
                </a:solidFill>
              </a:rPr>
              <a:t>clean, score 0</a:t>
            </a:r>
            <a:endParaRPr lang="en-US" sz="1600" dirty="0"/>
          </a:p>
        </p:txBody>
      </p:sp>
      <p:sp>
        <p:nvSpPr>
          <p:cNvPr id="21" name="Text 19"/>
          <p:cNvSpPr txBox="1"/>
          <p:nvPr/>
        </p:nvSpPr>
        <p:spPr>
          <a:xfrm>
            <a:off x="457200" y="4251960"/>
            <a:ext cx="8229600" cy="320040"/>
          </a:xfrm>
          <a:prstGeom prst="rect">
            <a:avLst/>
          </a:prstGeom>
          <a:noFill/>
          <a:ln/>
        </p:spPr>
        <p:txBody>
          <a:bodyPr wrap="square" lIns="0" tIns="0" rIns="0" bIns="0" rtlCol="0" anchor="ctr"/>
          <a:lstStyle/>
          <a:p>
            <a:pPr indent="0" marL="0">
              <a:buNone/>
            </a:pPr>
            <a:r>
              <a:rPr lang="en-US" sz="1300" dirty="0">
                <a:solidFill>
                  <a:schemeClr val="tx2"/>
                </a:solidFill>
              </a:rPr>
              <a:t>Infected sample: 1,353 flows from 3 cameras.  Clean sample: 1,190 flows.</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9A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Defects and lessons</a:t>
            </a:r>
            <a:endParaRPr lang="en-US" sz="3400" dirty="0"/>
          </a:p>
        </p:txBody>
      </p:sp>
      <p:sp>
        <p:nvSpPr>
          <p:cNvPr id="3" name="Defect card 1"/>
          <p:cNvSpPr/>
          <p:nvPr/>
        </p:nvSpPr>
        <p:spPr>
          <a:xfrm>
            <a:off x="457200" y="1280160"/>
            <a:ext cx="2560320" cy="3200400"/>
          </a:xfrm>
          <a:prstGeom prst="rect">
            <a:avLst/>
          </a:prstGeom>
          <a:solidFill>
            <a:schemeClr val="bg2"/>
          </a:solidFill>
          <a:ln w="12700">
            <a:solidFill>
              <a:schemeClr val="bg2"/>
            </a:solidFill>
            <a:prstDash val="solid"/>
          </a:ln>
        </p:spPr>
      </p:sp>
      <p:sp>
        <p:nvSpPr>
          <p:cNvPr id="4" name="Text 2"/>
          <p:cNvSpPr txBox="1"/>
          <p:nvPr/>
        </p:nvSpPr>
        <p:spPr>
          <a:xfrm>
            <a:off x="640080" y="1417320"/>
            <a:ext cx="2194560" cy="594360"/>
          </a:xfrm>
          <a:prstGeom prst="rect">
            <a:avLst/>
          </a:prstGeom>
          <a:noFill/>
          <a:ln/>
        </p:spPr>
        <p:txBody>
          <a:bodyPr wrap="square" lIns="0" tIns="0" rIns="0" bIns="0" rtlCol="0" anchor="t"/>
          <a:lstStyle/>
          <a:p>
            <a:pPr indent="0" marL="0">
              <a:buNone/>
            </a:pPr>
            <a:r>
              <a:rPr lang="en-US" sz="1600" b="1" dirty="0">
                <a:solidFill>
                  <a:schemeClr val="tx1"/>
                </a:solidFill>
              </a:rPr>
              <a:t>False alarms on healthy traffic</a:t>
            </a:r>
            <a:endParaRPr lang="en-US" sz="1600" dirty="0"/>
          </a:p>
        </p:txBody>
      </p:sp>
      <p:sp>
        <p:nvSpPr>
          <p:cNvPr id="5" name="Text 3"/>
          <p:cNvSpPr txBox="1"/>
          <p:nvPr/>
        </p:nvSpPr>
        <p:spPr>
          <a:xfrm>
            <a:off x="640080" y="2057400"/>
            <a:ext cx="2194560" cy="914400"/>
          </a:xfrm>
          <a:prstGeom prst="rect">
            <a:avLst/>
          </a:prstGeom>
          <a:noFill/>
          <a:ln/>
        </p:spPr>
        <p:txBody>
          <a:bodyPr wrap="square" lIns="0" tIns="0" rIns="0" bIns="0" rtlCol="0" anchor="t"/>
          <a:lstStyle/>
          <a:p>
            <a:pPr indent="0" marL="0">
              <a:buNone/>
            </a:pPr>
            <a:r>
              <a:rPr lang="en-US" sz="1400" dirty="0">
                <a:solidFill>
                  <a:schemeClr val="tx2"/>
                </a:solidFill>
              </a:rPr>
              <a:t>Video, NTP and heartbeats looked like beacons.</a:t>
            </a:r>
            <a:endParaRPr lang="en-US" sz="1400" dirty="0"/>
          </a:p>
        </p:txBody>
      </p:sp>
      <p:sp>
        <p:nvSpPr>
          <p:cNvPr id="6" name="Text 4"/>
          <p:cNvSpPr txBox="1"/>
          <p:nvPr/>
        </p:nvSpPr>
        <p:spPr>
          <a:xfrm>
            <a:off x="640080" y="2971800"/>
            <a:ext cx="2194560" cy="731520"/>
          </a:xfrm>
          <a:prstGeom prst="rect">
            <a:avLst/>
          </a:prstGeom>
          <a:noFill/>
          <a:ln/>
        </p:spPr>
        <p:txBody>
          <a:bodyPr wrap="square" lIns="0" tIns="0" rIns="0" bIns="0" rtlCol="0" anchor="t"/>
          <a:lstStyle/>
          <a:p>
            <a:pPr indent="0" marL="0">
              <a:buNone/>
            </a:pPr>
            <a:r>
              <a:rPr lang="en-US" sz="1400" dirty="0">
                <a:solidFill>
                  <a:schemeClr val="tx1"/>
                </a:solidFill>
              </a:rPr>
              <a:t>Beaconing is now judged against a per-device baseline.</a:t>
            </a:r>
            <a:endParaRPr lang="en-US" sz="1400" dirty="0"/>
          </a:p>
        </p:txBody>
      </p:sp>
      <p:sp>
        <p:nvSpPr>
          <p:cNvPr id="7" name="Status Fixed 1"/>
          <p:cNvSpPr/>
          <p:nvPr/>
        </p:nvSpPr>
        <p:spPr>
          <a:xfrm>
            <a:off x="640080" y="3840480"/>
            <a:ext cx="914400" cy="365760"/>
          </a:xfrm>
          <a:prstGeom prst="roundRect">
            <a:avLst>
              <a:gd name="adj" fmla="val 25000"/>
            </a:avLst>
          </a:prstGeom>
          <a:solidFill>
            <a:srgbClr val="2F6F4E"/>
          </a:solidFill>
          <a:ln w="12700">
            <a:solidFill>
              <a:srgbClr val="2F6F4E"/>
            </a:solidFill>
            <a:prstDash val="solid"/>
          </a:ln>
        </p:spPr>
      </p:sp>
      <p:sp>
        <p:nvSpPr>
          <p:cNvPr id="8" name="Text 6"/>
          <p:cNvSpPr txBox="1"/>
          <p:nvPr/>
        </p:nvSpPr>
        <p:spPr>
          <a:xfrm>
            <a:off x="640080" y="3840480"/>
            <a:ext cx="914400" cy="365760"/>
          </a:xfrm>
          <a:prstGeom prst="rect">
            <a:avLst/>
          </a:prstGeom>
          <a:noFill/>
          <a:ln/>
        </p:spPr>
        <p:txBody>
          <a:bodyPr wrap="square" lIns="0" tIns="0" rIns="0" bIns="0" rtlCol="0" anchor="ctr"/>
          <a:lstStyle/>
          <a:p>
            <a:pPr algn="ctr" indent="0" marL="0">
              <a:buNone/>
            </a:pPr>
            <a:r>
              <a:rPr lang="en-US" sz="1400" b="1" dirty="0">
                <a:solidFill>
                  <a:schemeClr val="bg1"/>
                </a:solidFill>
              </a:rPr>
              <a:t>Fixed</a:t>
            </a:r>
            <a:endParaRPr lang="en-US" sz="1400" dirty="0"/>
          </a:p>
        </p:txBody>
      </p:sp>
      <p:sp>
        <p:nvSpPr>
          <p:cNvPr id="9" name="Defect card 2"/>
          <p:cNvSpPr/>
          <p:nvPr/>
        </p:nvSpPr>
        <p:spPr>
          <a:xfrm>
            <a:off x="3291840" y="1280160"/>
            <a:ext cx="2560320" cy="3200400"/>
          </a:xfrm>
          <a:prstGeom prst="rect">
            <a:avLst/>
          </a:prstGeom>
          <a:solidFill>
            <a:schemeClr val="bg2"/>
          </a:solidFill>
          <a:ln w="12700">
            <a:solidFill>
              <a:schemeClr val="bg2"/>
            </a:solidFill>
            <a:prstDash val="solid"/>
          </a:ln>
        </p:spPr>
      </p:sp>
      <p:sp>
        <p:nvSpPr>
          <p:cNvPr id="10" name="Text 8"/>
          <p:cNvSpPr txBox="1"/>
          <p:nvPr/>
        </p:nvSpPr>
        <p:spPr>
          <a:xfrm>
            <a:off x="3474720" y="1417320"/>
            <a:ext cx="2194560" cy="594360"/>
          </a:xfrm>
          <a:prstGeom prst="rect">
            <a:avLst/>
          </a:prstGeom>
          <a:noFill/>
          <a:ln/>
        </p:spPr>
        <p:txBody>
          <a:bodyPr wrap="square" lIns="0" tIns="0" rIns="0" bIns="0" rtlCol="0" anchor="t"/>
          <a:lstStyle/>
          <a:p>
            <a:pPr indent="0" marL="0">
              <a:buNone/>
            </a:pPr>
            <a:r>
              <a:rPr lang="en-US" sz="1600" b="1" dirty="0">
                <a:solidFill>
                  <a:schemeClr val="tx1"/>
                </a:solidFill>
              </a:rPr>
              <a:t>Lab hosts seen as private</a:t>
            </a:r>
            <a:endParaRPr lang="en-US" sz="1600" dirty="0"/>
          </a:p>
        </p:txBody>
      </p:sp>
      <p:sp>
        <p:nvSpPr>
          <p:cNvPr id="11" name="Text 9"/>
          <p:cNvSpPr txBox="1"/>
          <p:nvPr/>
        </p:nvSpPr>
        <p:spPr>
          <a:xfrm>
            <a:off x="3474720" y="2057400"/>
            <a:ext cx="2194560" cy="914400"/>
          </a:xfrm>
          <a:prstGeom prst="rect">
            <a:avLst/>
          </a:prstGeom>
          <a:noFill/>
          <a:ln/>
        </p:spPr>
        <p:txBody>
          <a:bodyPr wrap="square" lIns="0" tIns="0" rIns="0" bIns="0" rtlCol="0" anchor="t"/>
          <a:lstStyle/>
          <a:p>
            <a:pPr indent="0" marL="0">
              <a:buNone/>
            </a:pPr>
            <a:r>
              <a:rPr lang="en-US" sz="1400" dirty="0">
                <a:solidFill>
                  <a:schemeClr val="tx2"/>
                </a:solidFill>
              </a:rPr>
              <a:t>Python's is_private also covers documentation ranges, so the 8.5 MB upload was ignored.</a:t>
            </a:r>
            <a:endParaRPr lang="en-US" sz="1400" dirty="0"/>
          </a:p>
        </p:txBody>
      </p:sp>
      <p:sp>
        <p:nvSpPr>
          <p:cNvPr id="12" name="Text 10"/>
          <p:cNvSpPr txBox="1"/>
          <p:nvPr/>
        </p:nvSpPr>
        <p:spPr>
          <a:xfrm>
            <a:off x="3474720" y="2971800"/>
            <a:ext cx="2194560" cy="731520"/>
          </a:xfrm>
          <a:prstGeom prst="rect">
            <a:avLst/>
          </a:prstGeom>
          <a:noFill/>
          <a:ln/>
        </p:spPr>
        <p:txBody>
          <a:bodyPr wrap="square" lIns="0" tIns="0" rIns="0" bIns="0" rtlCol="0" anchor="t"/>
          <a:lstStyle/>
          <a:p>
            <a:pPr indent="0" marL="0">
              <a:buNone/>
            </a:pPr>
            <a:r>
              <a:rPr lang="en-US" sz="1400" dirty="0">
                <a:solidFill>
                  <a:schemeClr val="tx1"/>
                </a:solidFill>
              </a:rPr>
              <a:t>LAN ranges are listed explicitly.</a:t>
            </a:r>
            <a:endParaRPr lang="en-US" sz="1400" dirty="0"/>
          </a:p>
        </p:txBody>
      </p:sp>
      <p:sp>
        <p:nvSpPr>
          <p:cNvPr id="13" name="Status Fixed 2"/>
          <p:cNvSpPr/>
          <p:nvPr/>
        </p:nvSpPr>
        <p:spPr>
          <a:xfrm>
            <a:off x="3474720" y="3840480"/>
            <a:ext cx="914400" cy="365760"/>
          </a:xfrm>
          <a:prstGeom prst="roundRect">
            <a:avLst>
              <a:gd name="adj" fmla="val 25000"/>
            </a:avLst>
          </a:prstGeom>
          <a:solidFill>
            <a:srgbClr val="2F6F4E"/>
          </a:solidFill>
          <a:ln w="12700">
            <a:solidFill>
              <a:srgbClr val="2F6F4E"/>
            </a:solidFill>
            <a:prstDash val="solid"/>
          </a:ln>
        </p:spPr>
      </p:sp>
      <p:sp>
        <p:nvSpPr>
          <p:cNvPr id="14" name="Text 12"/>
          <p:cNvSpPr txBox="1"/>
          <p:nvPr/>
        </p:nvSpPr>
        <p:spPr>
          <a:xfrm>
            <a:off x="3474720" y="3840480"/>
            <a:ext cx="914400" cy="365760"/>
          </a:xfrm>
          <a:prstGeom prst="rect">
            <a:avLst/>
          </a:prstGeom>
          <a:noFill/>
          <a:ln/>
        </p:spPr>
        <p:txBody>
          <a:bodyPr wrap="square" lIns="0" tIns="0" rIns="0" bIns="0" rtlCol="0" anchor="ctr"/>
          <a:lstStyle/>
          <a:p>
            <a:pPr algn="ctr" indent="0" marL="0">
              <a:buNone/>
            </a:pPr>
            <a:r>
              <a:rPr lang="en-US" sz="1400" b="1" dirty="0">
                <a:solidFill>
                  <a:schemeClr val="bg1"/>
                </a:solidFill>
              </a:rPr>
              <a:t>Fixed</a:t>
            </a:r>
            <a:endParaRPr lang="en-US" sz="1400" dirty="0"/>
          </a:p>
        </p:txBody>
      </p:sp>
      <p:sp>
        <p:nvSpPr>
          <p:cNvPr id="15" name="Defect card 3"/>
          <p:cNvSpPr/>
          <p:nvPr/>
        </p:nvSpPr>
        <p:spPr>
          <a:xfrm>
            <a:off x="6126480" y="1280160"/>
            <a:ext cx="2560320" cy="3200400"/>
          </a:xfrm>
          <a:prstGeom prst="rect">
            <a:avLst/>
          </a:prstGeom>
          <a:solidFill>
            <a:schemeClr val="bg2"/>
          </a:solidFill>
          <a:ln w="12700">
            <a:solidFill>
              <a:schemeClr val="bg2"/>
            </a:solidFill>
            <a:prstDash val="solid"/>
          </a:ln>
        </p:spPr>
      </p:sp>
      <p:sp>
        <p:nvSpPr>
          <p:cNvPr id="16" name="Text 14"/>
          <p:cNvSpPr txBox="1"/>
          <p:nvPr/>
        </p:nvSpPr>
        <p:spPr>
          <a:xfrm>
            <a:off x="6309360" y="1417320"/>
            <a:ext cx="2194560" cy="594360"/>
          </a:xfrm>
          <a:prstGeom prst="rect">
            <a:avLst/>
          </a:prstGeom>
          <a:noFill/>
          <a:ln/>
        </p:spPr>
        <p:txBody>
          <a:bodyPr wrap="square" lIns="0" tIns="0" rIns="0" bIns="0" rtlCol="0" anchor="t"/>
          <a:lstStyle/>
          <a:p>
            <a:pPr indent="0" marL="0">
              <a:buNone/>
            </a:pPr>
            <a:r>
              <a:rPr lang="en-US" sz="1600" b="1" dirty="0">
                <a:solidFill>
                  <a:schemeClr val="tx1"/>
                </a:solidFill>
              </a:rPr>
              <a:t>Baseline kept in memory</a:t>
            </a:r>
            <a:endParaRPr lang="en-US" sz="1600" dirty="0"/>
          </a:p>
        </p:txBody>
      </p:sp>
      <p:sp>
        <p:nvSpPr>
          <p:cNvPr id="17" name="Text 15"/>
          <p:cNvSpPr txBox="1"/>
          <p:nvPr/>
        </p:nvSpPr>
        <p:spPr>
          <a:xfrm>
            <a:off x="6309360" y="2057400"/>
            <a:ext cx="2194560" cy="914400"/>
          </a:xfrm>
          <a:prstGeom prst="rect">
            <a:avLst/>
          </a:prstGeom>
          <a:noFill/>
          <a:ln/>
        </p:spPr>
        <p:txBody>
          <a:bodyPr wrap="square" lIns="0" tIns="0" rIns="0" bIns="0" rtlCol="0" anchor="t"/>
          <a:lstStyle/>
          <a:p>
            <a:pPr indent="0" marL="0">
              <a:buNone/>
            </a:pPr>
            <a:r>
              <a:rPr lang="en-US" sz="1400" dirty="0">
                <a:solidFill>
                  <a:schemeClr val="tx2"/>
                </a:solidFill>
              </a:rPr>
              <a:t>Lost on restart and may not be shared between workers.</a:t>
            </a:r>
            <a:endParaRPr lang="en-US" sz="1400" dirty="0"/>
          </a:p>
        </p:txBody>
      </p:sp>
      <p:sp>
        <p:nvSpPr>
          <p:cNvPr id="18" name="Text 16"/>
          <p:cNvSpPr txBox="1"/>
          <p:nvPr/>
        </p:nvSpPr>
        <p:spPr>
          <a:xfrm>
            <a:off x="6309360" y="2971800"/>
            <a:ext cx="2194560" cy="731520"/>
          </a:xfrm>
          <a:prstGeom prst="rect">
            <a:avLst/>
          </a:prstGeom>
          <a:noFill/>
          <a:ln/>
        </p:spPr>
        <p:txBody>
          <a:bodyPr wrap="square" lIns="0" tIns="0" rIns="0" bIns="0" rtlCol="0" anchor="t"/>
          <a:lstStyle/>
          <a:p>
            <a:pPr indent="0" marL="0">
              <a:buNone/>
            </a:pPr>
            <a:r>
              <a:rPr lang="en-US" sz="1400" dirty="0">
                <a:solidFill>
                  <a:schemeClr val="tx1"/>
                </a:solidFill>
              </a:rPr>
              <a:t>Documented; use one worker or shared storage.</a:t>
            </a:r>
            <a:endParaRPr lang="en-US" sz="1400" dirty="0"/>
          </a:p>
        </p:txBody>
      </p:sp>
      <p:sp>
        <p:nvSpPr>
          <p:cNvPr id="19" name="Status Open 3"/>
          <p:cNvSpPr/>
          <p:nvPr/>
        </p:nvSpPr>
        <p:spPr>
          <a:xfrm>
            <a:off x="6309360" y="3840480"/>
            <a:ext cx="914400" cy="365760"/>
          </a:xfrm>
          <a:prstGeom prst="roundRect">
            <a:avLst>
              <a:gd name="adj" fmla="val 25000"/>
            </a:avLst>
          </a:prstGeom>
          <a:solidFill>
            <a:srgbClr val="E4572E"/>
          </a:solidFill>
          <a:ln w="12700">
            <a:solidFill>
              <a:srgbClr val="E4572E"/>
            </a:solidFill>
            <a:prstDash val="solid"/>
          </a:ln>
        </p:spPr>
      </p:sp>
      <p:sp>
        <p:nvSpPr>
          <p:cNvPr id="20" name="Text 18"/>
          <p:cNvSpPr txBox="1"/>
          <p:nvPr/>
        </p:nvSpPr>
        <p:spPr>
          <a:xfrm>
            <a:off x="6309360" y="3840480"/>
            <a:ext cx="914400" cy="365760"/>
          </a:xfrm>
          <a:prstGeom prst="rect">
            <a:avLst/>
          </a:prstGeom>
          <a:noFill/>
          <a:ln/>
        </p:spPr>
        <p:txBody>
          <a:bodyPr wrap="square" lIns="0" tIns="0" rIns="0" bIns="0" rtlCol="0" anchor="ctr"/>
          <a:lstStyle/>
          <a:p>
            <a:pPr algn="ctr" indent="0" marL="0">
              <a:buNone/>
            </a:pPr>
            <a:r>
              <a:rPr lang="en-US" sz="1400" b="1" dirty="0">
                <a:solidFill>
                  <a:schemeClr val="bg1"/>
                </a:solidFill>
              </a:rPr>
              <a:t>Open</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9A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Limits and next steps</a:t>
            </a:r>
            <a:endParaRPr lang="en-US" sz="3400" dirty="0"/>
          </a:p>
        </p:txBody>
      </p:sp>
      <p:sp>
        <p:nvSpPr>
          <p:cNvPr id="3" name="Limitations card"/>
          <p:cNvSpPr/>
          <p:nvPr/>
        </p:nvSpPr>
        <p:spPr>
          <a:xfrm>
            <a:off x="457200" y="1280160"/>
            <a:ext cx="4023360" cy="3200400"/>
          </a:xfrm>
          <a:prstGeom prst="rect">
            <a:avLst/>
          </a:prstGeom>
          <a:solidFill>
            <a:schemeClr val="bg2"/>
          </a:solidFill>
          <a:ln w="12700">
            <a:solidFill>
              <a:schemeClr val="bg2"/>
            </a:solidFill>
            <a:prstDash val="solid"/>
          </a:ln>
        </p:spPr>
      </p:sp>
      <p:sp>
        <p:nvSpPr>
          <p:cNvPr id="4" name="Text 2"/>
          <p:cNvSpPr txBox="1"/>
          <p:nvPr/>
        </p:nvSpPr>
        <p:spPr>
          <a:xfrm>
            <a:off x="685800" y="1417320"/>
            <a:ext cx="356616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Limitations</a:t>
            </a:r>
            <a:endParaRPr lang="en-US" sz="2000" dirty="0"/>
          </a:p>
        </p:txBody>
      </p:sp>
      <p:sp>
        <p:nvSpPr>
          <p:cNvPr id="5" name="Text 3"/>
          <p:cNvSpPr txBox="1"/>
          <p:nvPr/>
        </p:nvSpPr>
        <p:spPr>
          <a:xfrm>
            <a:off x="685800" y="1920240"/>
            <a:ext cx="356616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Heuristic rules, tested on simulated data</a:t>
            </a:r>
            <a:endParaRPr lang="en-US" sz="1500" dirty="0"/>
          </a:p>
          <a:p>
            <a:pPr marL="342900" indent="-342900">
              <a:spcAft>
                <a:spcPts val="800"/>
              </a:spcAft>
              <a:buSzPct val="100000"/>
              <a:buChar char="•"/>
            </a:pPr>
            <a:r>
              <a:rPr lang="en-US" sz="1500" dirty="0">
                <a:solidFill>
                  <a:schemeClr val="tx1"/>
                </a:solidFill>
              </a:rPr>
              <a:t>Encrypted payloads cannot be inspected</a:t>
            </a:r>
            <a:endParaRPr lang="en-US" sz="1500" dirty="0"/>
          </a:p>
          <a:p>
            <a:pPr marL="342900" indent="-342900">
              <a:spcAft>
                <a:spcPts val="800"/>
              </a:spcAft>
              <a:buSzPct val="100000"/>
              <a:buChar char="•"/>
            </a:pPr>
            <a:r>
              <a:rPr lang="en-US" sz="1500" dirty="0">
                <a:solidFill>
                  <a:schemeClr val="tx1"/>
                </a:solidFill>
              </a:rPr>
              <a:t>No built-in authentication</a:t>
            </a:r>
            <a:endParaRPr lang="en-US" sz="1500" dirty="0"/>
          </a:p>
          <a:p>
            <a:pPr marL="342900" indent="-342900">
              <a:spcAft>
                <a:spcPts val="800"/>
              </a:spcAft>
              <a:buSzPct val="100000"/>
              <a:buChar char="•"/>
            </a:pPr>
            <a:r>
              <a:rPr lang="en-US" sz="1500" dirty="0">
                <a:solidFill>
                  <a:schemeClr val="tx1"/>
                </a:solidFill>
              </a:rPr>
              <a:t>Docker layer not yet run end to end</a:t>
            </a:r>
            <a:endParaRPr lang="en-US" sz="1500" dirty="0"/>
          </a:p>
        </p:txBody>
      </p:sp>
      <p:sp>
        <p:nvSpPr>
          <p:cNvPr id="6" name="Next steps card"/>
          <p:cNvSpPr/>
          <p:nvPr/>
        </p:nvSpPr>
        <p:spPr>
          <a:xfrm>
            <a:off x="4663440" y="1280160"/>
            <a:ext cx="4023360" cy="3200400"/>
          </a:xfrm>
          <a:prstGeom prst="rect">
            <a:avLst/>
          </a:prstGeom>
          <a:solidFill>
            <a:schemeClr val="accent1"/>
          </a:solidFill>
          <a:ln w="12700">
            <a:solidFill>
              <a:schemeClr val="accent1"/>
            </a:solidFill>
            <a:prstDash val="solid"/>
          </a:ln>
        </p:spPr>
      </p:sp>
      <p:sp>
        <p:nvSpPr>
          <p:cNvPr id="7" name="Text 5"/>
          <p:cNvSpPr txBox="1"/>
          <p:nvPr/>
        </p:nvSpPr>
        <p:spPr>
          <a:xfrm>
            <a:off x="4892040" y="1417320"/>
            <a:ext cx="3566160" cy="411480"/>
          </a:xfrm>
          <a:prstGeom prst="rect">
            <a:avLst/>
          </a:prstGeom>
          <a:noFill/>
          <a:ln/>
        </p:spPr>
        <p:txBody>
          <a:bodyPr wrap="square" lIns="0" tIns="0" rIns="0" bIns="0" rtlCol="0" anchor="ctr"/>
          <a:lstStyle/>
          <a:p>
            <a:pPr indent="0" marL="0">
              <a:buNone/>
            </a:pPr>
            <a:r>
              <a:rPr lang="en-US" sz="2000" b="1" dirty="0">
                <a:solidFill>
                  <a:schemeClr val="bg1"/>
                </a:solidFill>
                <a:latin typeface="Cambria" pitchFamily="34" charset="0"/>
                <a:ea typeface="Cambria" pitchFamily="34" charset="-122"/>
                <a:cs typeface="Cambria" pitchFamily="34" charset="-120"/>
              </a:rPr>
              <a:t>Next steps</a:t>
            </a:r>
            <a:endParaRPr lang="en-US" sz="2000" dirty="0"/>
          </a:p>
        </p:txBody>
      </p:sp>
      <p:sp>
        <p:nvSpPr>
          <p:cNvPr id="8" name="Text 6"/>
          <p:cNvSpPr txBox="1"/>
          <p:nvPr/>
        </p:nvSpPr>
        <p:spPr>
          <a:xfrm>
            <a:off x="4892040" y="1920240"/>
            <a:ext cx="356616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bg1"/>
                </a:solidFill>
              </a:rPr>
              <a:t>Ingest Zeek, Suricata or NetFlow data</a:t>
            </a:r>
            <a:endParaRPr lang="en-US" sz="1500" dirty="0"/>
          </a:p>
          <a:p>
            <a:pPr marL="342900" indent="-342900">
              <a:spcAft>
                <a:spcPts val="800"/>
              </a:spcAft>
              <a:buSzPct val="100000"/>
              <a:buChar char="•"/>
            </a:pPr>
            <a:r>
              <a:rPr lang="en-US" sz="1500" dirty="0">
                <a:solidFill>
                  <a:schemeClr val="bg1"/>
                </a:solidFill>
              </a:rPr>
              <a:t>Persistent, shared baselines</a:t>
            </a:r>
            <a:endParaRPr lang="en-US" sz="1500" dirty="0"/>
          </a:p>
          <a:p>
            <a:pPr marL="342900" indent="-342900">
              <a:spcAft>
                <a:spcPts val="800"/>
              </a:spcAft>
              <a:buSzPct val="100000"/>
              <a:buChar char="•"/>
            </a:pPr>
            <a:r>
              <a:rPr lang="en-US" sz="1500" dirty="0">
                <a:solidFill>
                  <a:schemeClr val="bg1"/>
                </a:solidFill>
              </a:rPr>
              <a:t>Connect quarantine to a firewall or NAC</a:t>
            </a:r>
            <a:endParaRPr lang="en-US" sz="1500" dirty="0"/>
          </a:p>
          <a:p>
            <a:pPr marL="342900" indent="-342900">
              <a:spcAft>
                <a:spcPts val="800"/>
              </a:spcAft>
              <a:buSzPct val="100000"/>
              <a:buChar char="•"/>
            </a:pPr>
            <a:r>
              <a:rPr lang="en-US" sz="1500" dirty="0">
                <a:solidFill>
                  <a:schemeClr val="bg1"/>
                </a:solidFill>
              </a:rPr>
              <a:t>Tune thresholds on real traffic</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9A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bg1"/>
                </a:solidFill>
              </a:rPr>
              <a:t>Conclusion</a:t>
            </a:r>
            <a:endParaRPr lang="en-US" sz="3400" dirty="0"/>
          </a:p>
        </p:txBody>
      </p:sp>
      <p:sp>
        <p:nvSpPr>
          <p:cNvPr id="3" name="Achievements card"/>
          <p:cNvSpPr/>
          <p:nvPr/>
        </p:nvSpPr>
        <p:spPr>
          <a:xfrm>
            <a:off x="457200" y="1280160"/>
            <a:ext cx="4023360" cy="3200400"/>
          </a:xfrm>
          <a:prstGeom prst="rect">
            <a:avLst/>
          </a:prstGeom>
          <a:solidFill>
            <a:schemeClr val="tx2"/>
          </a:solidFill>
          <a:ln w="12700">
            <a:solidFill>
              <a:schemeClr val="tx2"/>
            </a:solidFill>
            <a:prstDash val="solid"/>
          </a:ln>
        </p:spPr>
      </p:sp>
      <p:sp>
        <p:nvSpPr>
          <p:cNvPr id="4" name="Text 2"/>
          <p:cNvSpPr txBox="1"/>
          <p:nvPr/>
        </p:nvSpPr>
        <p:spPr>
          <a:xfrm>
            <a:off x="685800" y="1417320"/>
            <a:ext cx="3566160" cy="411480"/>
          </a:xfrm>
          <a:prstGeom prst="rect">
            <a:avLst/>
          </a:prstGeom>
          <a:noFill/>
          <a:ln/>
        </p:spPr>
        <p:txBody>
          <a:bodyPr wrap="square" lIns="0" tIns="0" rIns="0" bIns="0" rtlCol="0" anchor="ctr"/>
          <a:lstStyle/>
          <a:p>
            <a:pPr indent="0" marL="0">
              <a:buNone/>
            </a:pPr>
            <a:r>
              <a:rPr lang="en-US" sz="2000" b="1" dirty="0">
                <a:solidFill>
                  <a:schemeClr val="bg1"/>
                </a:solidFill>
                <a:latin typeface="Cambria" pitchFamily="34" charset="0"/>
                <a:ea typeface="Cambria" pitchFamily="34" charset="-122"/>
                <a:cs typeface="Cambria" pitchFamily="34" charset="-120"/>
              </a:rPr>
              <a:t>What I achieved</a:t>
            </a:r>
            <a:endParaRPr lang="en-US" sz="2000" dirty="0"/>
          </a:p>
        </p:txBody>
      </p:sp>
      <p:sp>
        <p:nvSpPr>
          <p:cNvPr id="5" name="Text 3"/>
          <p:cNvSpPr txBox="1"/>
          <p:nvPr/>
        </p:nvSpPr>
        <p:spPr>
          <a:xfrm>
            <a:off x="685800" y="1920240"/>
            <a:ext cx="356616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bg1"/>
                </a:solidFill>
              </a:rPr>
              <a:t>A working, tested Trojan detector for IoT flows</a:t>
            </a:r>
            <a:endParaRPr lang="en-US" sz="1500" dirty="0"/>
          </a:p>
          <a:p>
            <a:pPr marL="342900" indent="-342900">
              <a:spcAft>
                <a:spcPts val="800"/>
              </a:spcAft>
              <a:buSzPct val="100000"/>
              <a:buChar char="•"/>
            </a:pPr>
            <a:r>
              <a:rPr lang="en-US" sz="1500" dirty="0">
                <a:solidFill>
                  <a:schemeClr val="bg1"/>
                </a:solidFill>
              </a:rPr>
              <a:t>A safe, repeatable camera laboratory</a:t>
            </a:r>
            <a:endParaRPr lang="en-US" sz="1500" dirty="0"/>
          </a:p>
          <a:p>
            <a:pPr marL="342900" indent="-342900">
              <a:spcAft>
                <a:spcPts val="800"/>
              </a:spcAft>
              <a:buSzPct val="100000"/>
              <a:buChar char="•"/>
            </a:pPr>
            <a:r>
              <a:rPr lang="en-US" sz="1500" dirty="0">
                <a:solidFill>
                  <a:schemeClr val="bg1"/>
                </a:solidFill>
              </a:rPr>
              <a:t>Practical skills in security, containers, Python and documentation</a:t>
            </a:r>
            <a:endParaRPr lang="en-US" sz="1500" dirty="0"/>
          </a:p>
        </p:txBody>
      </p:sp>
      <p:sp>
        <p:nvSpPr>
          <p:cNvPr id="6" name="Recommendations card"/>
          <p:cNvSpPr/>
          <p:nvPr/>
        </p:nvSpPr>
        <p:spPr>
          <a:xfrm>
            <a:off x="4663440" y="1280160"/>
            <a:ext cx="4023360" cy="3200400"/>
          </a:xfrm>
          <a:prstGeom prst="rect">
            <a:avLst/>
          </a:prstGeom>
          <a:solidFill>
            <a:schemeClr val="accent1"/>
          </a:solidFill>
          <a:ln w="12700">
            <a:solidFill>
              <a:schemeClr val="accent1"/>
            </a:solidFill>
            <a:prstDash val="solid"/>
          </a:ln>
        </p:spPr>
      </p:sp>
      <p:sp>
        <p:nvSpPr>
          <p:cNvPr id="7" name="Text 5"/>
          <p:cNvSpPr txBox="1"/>
          <p:nvPr/>
        </p:nvSpPr>
        <p:spPr>
          <a:xfrm>
            <a:off x="4892040" y="1417320"/>
            <a:ext cx="3566160" cy="411480"/>
          </a:xfrm>
          <a:prstGeom prst="rect">
            <a:avLst/>
          </a:prstGeom>
          <a:noFill/>
          <a:ln/>
        </p:spPr>
        <p:txBody>
          <a:bodyPr wrap="square" lIns="0" tIns="0" rIns="0" bIns="0" rtlCol="0" anchor="ctr"/>
          <a:lstStyle/>
          <a:p>
            <a:pPr indent="0" marL="0">
              <a:buNone/>
            </a:pPr>
            <a:r>
              <a:rPr lang="en-US" sz="2000" b="1" dirty="0">
                <a:solidFill>
                  <a:schemeClr val="bg1"/>
                </a:solidFill>
                <a:latin typeface="Cambria" pitchFamily="34" charset="0"/>
                <a:ea typeface="Cambria" pitchFamily="34" charset="-122"/>
                <a:cs typeface="Cambria" pitchFamily="34" charset="-120"/>
              </a:rPr>
              <a:t>Recommendations</a:t>
            </a:r>
            <a:endParaRPr lang="en-US" sz="2000" dirty="0"/>
          </a:p>
        </p:txBody>
      </p:sp>
      <p:sp>
        <p:nvSpPr>
          <p:cNvPr id="8" name="Text 6"/>
          <p:cNvSpPr txBox="1"/>
          <p:nvPr/>
        </p:nvSpPr>
        <p:spPr>
          <a:xfrm>
            <a:off x="4892040" y="1920240"/>
            <a:ext cx="3566160" cy="2377440"/>
          </a:xfrm>
          <a:prstGeom prst="rect">
            <a:avLst/>
          </a:prstGeom>
          <a:noFill/>
          <a:ln/>
        </p:spPr>
        <p:txBody>
          <a:bodyPr wrap="square" lIns="0" tIns="0" rIns="0" bIns="0" rtlCol="0" anchor="t"/>
          <a:lstStyle/>
          <a:p>
            <a:pPr marL="342900" indent="-342900">
              <a:buSzPct val="100000"/>
              <a:buChar char="•"/>
            </a:pPr>
            <a:r>
              <a:rPr lang="en-US" sz="1500" b="1" dirty="0">
                <a:solidFill>
                  <a:schemeClr val="bg1"/>
                </a:solidFill>
              </a:rPr>
              <a:t>HiiT: </a:t>
            </a:r>
            <a:pPr indent="0" marL="0">
              <a:spcAft>
                <a:spcPts val="1000"/>
              </a:spcAft>
              <a:buNone/>
            </a:pPr>
            <a:r>
              <a:rPr lang="en-US" sz="1500" dirty="0">
                <a:solidFill>
                  <a:schemeClr val="bg1"/>
                </a:solidFill>
              </a:rPr>
              <a:t>a written task schedule and a named reviewer for each intern</a:t>
            </a:r>
            <a:endParaRPr lang="en-US" sz="1500" dirty="0"/>
          </a:p>
          <a:p>
            <a:pPr marL="342900" indent="-342900">
              <a:buSzPct val="100000"/>
              <a:buChar char="•"/>
            </a:pPr>
            <a:r>
              <a:rPr lang="en-US" sz="1500" b="1" dirty="0">
                <a:solidFill>
                  <a:schemeClr val="bg1"/>
                </a:solidFill>
              </a:rPr>
              <a:t>University: </a:t>
            </a:r>
            <a:pPr indent="0" marL="0">
              <a:spcAft>
                <a:spcPts val="1000"/>
              </a:spcAft>
              <a:buNone/>
            </a:pPr>
            <a:r>
              <a:rPr lang="en-US" sz="1500" dirty="0">
                <a:solidFill>
                  <a:schemeClr val="bg1"/>
                </a:solidFill>
              </a:rPr>
              <a:t>earlier security and DevOps content, more supervisory visits</a:t>
            </a:r>
            <a:endParaRPr lang="en-US" sz="1500" dirty="0"/>
          </a:p>
          <a:p>
            <a:pPr marL="342900" indent="-342900">
              <a:buSzPct val="100000"/>
              <a:buChar char="•"/>
            </a:pPr>
            <a:r>
              <a:rPr lang="en-US" sz="1500" b="1" dirty="0">
                <a:solidFill>
                  <a:schemeClr val="bg1"/>
                </a:solidFill>
              </a:rPr>
              <a:t>ITF: </a:t>
            </a:r>
            <a:pPr indent="0" marL="0">
              <a:spcAft>
                <a:spcPts val="1000"/>
              </a:spcAft>
              <a:buNone/>
            </a:pPr>
            <a:r>
              <a:rPr lang="en-US" sz="1500" dirty="0">
                <a:solidFill>
                  <a:schemeClr val="bg1"/>
                </a:solidFill>
              </a:rPr>
              <a:t>prompt allowances and closer placement monitoring</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9A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640080" y="1097280"/>
            <a:ext cx="5394960" cy="1737360"/>
          </a:xfrm>
          <a:prstGeom prst="rect">
            <a:avLst/>
          </a:prstGeom>
          <a:noFill/>
          <a:ln/>
        </p:spPr>
        <p:txBody>
          <a:bodyPr wrap="square" lIns="0" tIns="0" rIns="0" bIns="0" rtlCol="0" anchor="b"/>
          <a:lstStyle/>
          <a:p>
            <a:pPr algn="l" indent="0" marL="0">
              <a:buNone/>
            </a:pPr>
            <a:r>
              <a:rPr lang="en-US" sz="3800" b="1" dirty="0">
                <a:solidFill>
                  <a:schemeClr val="bg1"/>
                </a:solidFill>
              </a:rPr>
              <a:t>Thank you</a:t>
            </a:r>
            <a:endParaRPr lang="en-US" sz="3800" dirty="0"/>
          </a:p>
        </p:txBody>
      </p:sp>
      <p:sp>
        <p:nvSpPr>
          <p:cNvPr id="3" name="Text 1"/>
          <p:cNvSpPr/>
          <p:nvPr>
            <p:ph idx="102" type="body" hasCustomPrompt="1"/>
          </p:nvPr>
        </p:nvSpPr>
        <p:spPr>
          <a:xfrm>
            <a:off x="640080" y="3017520"/>
            <a:ext cx="5394960" cy="822960"/>
          </a:xfrm>
          <a:prstGeom prst="rect">
            <a:avLst/>
          </a:prstGeom>
          <a:noFill/>
          <a:ln/>
        </p:spPr>
        <p:txBody>
          <a:bodyPr wrap="square" lIns="0" tIns="0" rIns="0" bIns="0" rtlCol="0" anchor="t"/>
          <a:lstStyle/>
          <a:p>
            <a:pPr algn="l" indent="0" marL="0">
              <a:buNone/>
            </a:pPr>
            <a:r>
              <a:rPr lang="en-US" sz="1800" dirty="0">
                <a:solidFill>
                  <a:schemeClr val="bg2"/>
                </a:solidFill>
              </a:rPr>
              <a:t>Questions?</a:t>
            </a:r>
            <a:endParaRPr lang="en-US" sz="1800" dirty="0"/>
          </a:p>
        </p:txBody>
      </p:sp>
      <p:sp>
        <p:nvSpPr>
          <p:cNvPr id="4" name="Text 2"/>
          <p:cNvSpPr txBox="1"/>
          <p:nvPr/>
        </p:nvSpPr>
        <p:spPr>
          <a:xfrm>
            <a:off x="640080" y="4206240"/>
            <a:ext cx="7863840" cy="365760"/>
          </a:xfrm>
          <a:prstGeom prst="rect">
            <a:avLst/>
          </a:prstGeom>
          <a:noFill/>
          <a:ln/>
        </p:spPr>
        <p:txBody>
          <a:bodyPr wrap="square" lIns="0" tIns="0" rIns="0" bIns="0" rtlCol="0" anchor="ctr"/>
          <a:lstStyle/>
          <a:p>
            <a:pPr indent="0" marL="0">
              <a:buNone/>
            </a:pPr>
            <a:r>
              <a:rPr lang="en-US" sz="1400" dirty="0">
                <a:solidFill>
                  <a:schemeClr val="bg2"/>
                </a:solidFill>
              </a:rPr>
              <a:t>Code, tests and documentation: github.com/emmanuelekopimo/build-with-ai</a:t>
            </a:r>
            <a:endParaRPr lang="en-US" sz="1400" dirty="0"/>
          </a:p>
        </p:txBody>
      </p:sp>
      <p:sp>
        <p:nvSpPr>
          <p:cNvPr id="5" name="Shape 3"/>
          <p:cNvSpPr/>
          <p:nvPr/>
        </p:nvSpPr>
        <p:spPr>
          <a:xfrm>
            <a:off x="6400800" y="1371600"/>
            <a:ext cx="2103120" cy="2103120"/>
          </a:xfrm>
          <a:prstGeom prst="ellipse">
            <a:avLst/>
          </a:prstGeom>
          <a:solidFill>
            <a:schemeClr val="accent1"/>
          </a:solidFill>
          <a:ln w="12700">
            <a:solidFill>
              <a:schemeClr val="accent1"/>
            </a:solidFill>
            <a:prstDash val="solid"/>
          </a:ln>
        </p:spPr>
      </p:sp>
      <p:pic>
        <p:nvPicPr>
          <p:cNvPr id="6" name="Image 0" descr="Shield icon">    </p:cNvPr>
          <p:cNvPicPr>
            <a:picLocks noChangeAspect="1"/>
          </p:cNvPicPr>
          <p:nvPr/>
        </p:nvPicPr>
        <p:blipFill>
          <a:blip r:embed="rId1"/>
          <a:stretch>
            <a:fillRect/>
          </a:stretch>
        </p:blipFill>
        <p:spPr>
          <a:xfrm>
            <a:off x="6949440" y="1920240"/>
            <a:ext cx="1005840" cy="1005840"/>
          </a:xfrm>
          <a:prstGeom prst="rect">
            <a:avLst/>
          </a:prstGeom>
        </p:spPr>
      </p:pic>
    </p:spTree>
  </p:cSld>
  <p:clrMapOvr>
    <a:masterClrMapping/>
  </p:clrMapOvr>
</p:sld>
</file>

<file path=ppt/theme/theme1.xml><?xml version="1.0" encoding="utf-8"?>
<a:theme xmlns:a="http://schemas.openxmlformats.org/drawingml/2006/main" name="Cyber Lab">
  <a:themeElements>
    <a:clrScheme name="Cyber Lab">
      <a:dk1>
        <a:srgbClr val="0B1F33"/>
      </a:dk1>
      <a:lt1>
        <a:srgbClr val="FFFFFF"/>
      </a:lt1>
      <a:dk2>
        <a:srgbClr val="12385C"/>
      </a:dk2>
      <a:lt2>
        <a:srgbClr val="EAF0F6"/>
      </a:lt2>
      <a:accent1>
        <a:srgbClr val="0E7C86"/>
      </a:accent1>
      <a:accent2>
        <a:srgbClr val="E4572E"/>
      </a:accent2>
      <a:accent3>
        <a:srgbClr val="F2A541"/>
      </a:accent3>
      <a:accent4>
        <a:srgbClr val="3A6EA5"/>
      </a:accent4>
      <a:accent5>
        <a:srgbClr val="2F6F4E"/>
      </a:accent5>
      <a:accent6>
        <a:srgbClr val="8A99A8"/>
      </a:accent6>
      <a:hlink>
        <a:srgbClr val="0E7C86"/>
      </a:hlink>
      <a:folHlink>
        <a:srgbClr val="8A99A8"/>
      </a:folHlink>
    </a:clrScheme>
    <a:fontScheme name="Cyber Lab">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SIWES Report: HiiT Plc, Network-Flow-Based Trojan Horse Detection for IoT Devices</dc:title>
  <dc:subject>PptxGenJS Presentation</dc:subject>
  <dc:creator>PptxGenJS</dc:creator>
  <cp:lastModifiedBy>PptxGenJS</cp:lastModifiedBy>
  <cp:revision>1</cp:revision>
  <dcterms:created xsi:type="dcterms:W3CDTF">2026-10-05T13:37:41Z</dcterms:created>
  <dcterms:modified xsi:type="dcterms:W3CDTF">2026-10-05T13:37:41Z</dcterms:modified>
</cp:coreProperties>
</file>